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4D8E"/>
            </a:gs>
            <a:gs pos="100000">
              <a:srgbClr val="2E7BD6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00000"/>
            <a:ext cx="800000" cy="3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50000"/>
            <a:ext cx="82296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小橘几·家庭料理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0000"/>
            <a:ext cx="82296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数字化经营解决方案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00000"/>
            <a:ext cx="2400000" cy="550000"/>
          </a:xfrm>
          <a:prstGeom prst="rect">
            <a:avLst/>
          </a:prstGeom>
          <a:solidFill>
            <a:srgbClr val="153E75"/>
          </a:solidFill>
          <a:ln w="12700">
            <a:solidFill>
              <a:srgbClr val="3A8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200" y="3680000"/>
            <a:ext cx="2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📍 杭州·彭埠·东方御府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200" y="3910000"/>
            <a:ext cx="2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9CCFF"/>
                </a:solidFill>
                <a:latin typeface="Microsoft YaHei"/>
                <a:ea typeface="Microsoft YaHei"/>
                <a:cs typeface="Microsoft YaHei"/>
              </a:rPr>
              <a:t>凤起东路×御道路 社区精品日料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7200" y="3600000"/>
            <a:ext cx="2400000" cy="550000"/>
          </a:xfrm>
          <a:prstGeom prst="rect">
            <a:avLst/>
          </a:prstGeom>
          <a:solidFill>
            <a:srgbClr val="153E75"/>
          </a:solidFill>
          <a:ln w="12700">
            <a:solidFill>
              <a:srgbClr val="3A8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57200" y="3680000"/>
            <a:ext cx="2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🍽️ 人均¥80 | 100㎡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7200" y="3910000"/>
            <a:ext cx="2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9CCFF"/>
                </a:solidFill>
                <a:latin typeface="Microsoft YaHei"/>
                <a:ea typeface="Microsoft YaHei"/>
                <a:cs typeface="Microsoft YaHei"/>
              </a:rPr>
              <a:t>家庭料理·手作温度感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7200" y="3600000"/>
            <a:ext cx="2400000" cy="550000"/>
          </a:xfrm>
          <a:prstGeom prst="rect">
            <a:avLst/>
          </a:prstGeom>
          <a:solidFill>
            <a:srgbClr val="153E75"/>
          </a:solidFill>
          <a:ln w="12700">
            <a:solidFill>
              <a:srgbClr val="3A8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57200" y="3680000"/>
            <a:ext cx="2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 急救+增长双线方案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7200" y="3910000"/>
            <a:ext cx="2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99CCFF"/>
                </a:solidFill>
                <a:latin typeface="Microsoft YaHei"/>
                <a:ea typeface="Microsoft YaHei"/>
                <a:cs typeface="Microsoft YaHei"/>
              </a:rPr>
              <a:t>美团餐饮SaaS运营策划团队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88BBEE"/>
                </a:solidFill>
                <a:latin typeface="Microsoft YaHei"/>
                <a:ea typeface="Microsoft YaHei"/>
                <a:cs typeface="Microsoft YaHei"/>
              </a:rP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00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🔍 门店诊断：日均＜¥1,000 + 平台转化率0%——必须立刻止血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0000"/>
            <a:ext cx="8229600" cy="480000"/>
          </a:xfrm>
          <a:prstGeom prst="rect">
            <a:avLst/>
          </a:prstGeom>
          <a:solidFill>
            <a:srgbClr val="FFF3E0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200" y="570000"/>
            <a:ext cx="8029600" cy="4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📊 数据基石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日均流水＜¥1,000 → 月流水约¥25,000-30,000（⚠️假设日均¥900）| 客单¥80 → 日均仅11人次 | 100㎡翻台率0.3次/天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大众点评4.2分 / 83条评价 / 1,489次收藏 → 有声量但平台881次访问0成交（转化率0%——核心危机）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已营业约1个月，已签收银POS+扫码点餐+会员旗舰版+外卖中心 → 工具齐全但大概率没用起来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30000"/>
            <a:ext cx="3950000" cy="3700000"/>
          </a:xfrm>
          <a:prstGeom prst="rect">
            <a:avLst/>
          </a:prstGeom>
          <a:solidFill>
            <a:srgbClr val="FFEBEE"/>
          </a:solidFill>
          <a:ln w="1270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7200" y="1170000"/>
            <a:ext cx="3790000" cy="3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83E3E"/>
                </a:solidFill>
                <a:latin typeface="Microsoft YaHei"/>
                <a:ea typeface="Microsoft YaHei"/>
                <a:cs typeface="Microsoft YaHei"/>
              </a:rPr>
              <a:t>⚠️ 致命痛点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❶ 转化率=0%：881次访问全部流失，说明大众点评门店页有严重缺陷——最大可能是无团购套餐+菜品图片不全+品类标签错（消费者搜"日料"搜不到你）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❷ 日均流水＜¥1,000：月流水约2.5万，100㎡月租按¥6,000-8,000算，房租占比24%-32%（红线15%），严重亏损中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❸ 仅营业1个月但已现"60天未触达"标签：BD跟进断档，老板对扫码点餐/会员系统大概率还没启用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❹ 品类定位模糊："家庭料理"偏日式风格，但平台归为"西式简餐"→消费者搜"日料""家庭聚餐"都找不到你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❺ ¥80人均夹在中间：比快餐定食(¥40-55)贵，比居酒屋(¥120+)便宜，客群窄（年轻女性+小家庭），需用套餐拉低体验门槛</a:t>
            </a:r>
          </a:p>
        </p:txBody>
      </p:sp>
      <p:sp>
        <p:nvSpPr>
          <p:cNvPr id="8" name="Rectangle 7"/>
          <p:cNvSpPr/>
          <p:nvPr/>
        </p:nvSpPr>
        <p:spPr>
          <a:xfrm>
            <a:off x="4607200" y="1130000"/>
            <a:ext cx="3950000" cy="3700000"/>
          </a:xfrm>
          <a:prstGeom prst="rect">
            <a:avLst/>
          </a:prstGeom>
          <a:solidFill>
            <a:srgbClr val="E8F5E9"/>
          </a:solidFill>
          <a:ln w="12700">
            <a:solidFill>
              <a:srgbClr val="0D9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7200" y="1170000"/>
            <a:ext cx="3790000" cy="3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🔥 逆袭机会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❶ 1,489次收藏=品牌有吸引力。消费者"想来但没下单"，修好转化漏斗立刻见效（这是成本最低的增长）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❷ 彭埠/东方御府是城东新兴居住区，社区人口密集且持续增长，家庭聚餐+周末轻食需求强劲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❸ "家庭料理"调性天然适合私域——社区妈妈/年轻家庭复购黏性极高，一旦锁住就是长期稳定客源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❹ 工具已齐全（旗舰版会员含团购会员卡+潜客营销+6大特有活动+扫码+外卖中心），差的只是"用起来"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❺ 同商圈无直接竞品"家庭料理"：村上一屋/米仓走量工业化路线，你的壁垒是"有温度的手作感"——这个品牌调性年轻女性愿意溢价买单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🏪 商圈竞争格局：凤起东路 3公里真实竞品逐一拆解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70000"/>
            <a:ext cx="2600000" cy="22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7200" y="620000"/>
            <a:ext cx="244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🏢 村上一屋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7200" y="840000"/>
            <a:ext cx="244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~2km | ¥75-85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200" y="1010000"/>
            <a:ext cx="244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连锁日料，SKU多性价比标签强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200" y="1290000"/>
            <a:ext cx="244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E83E3E"/>
                </a:solidFill>
                <a:latin typeface="Microsoft YaHei"/>
                <a:ea typeface="Microsoft YaHei"/>
                <a:cs typeface="Microsoft YaHei"/>
              </a:rPr>
              <a:t>弱点：出品工业感重、环境嘈杂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切入：手作温度感+安静家庭氛围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7200" y="570000"/>
            <a:ext cx="2600000" cy="22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7200" y="620000"/>
            <a:ext cx="244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🍱 米仓日料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7200" y="840000"/>
            <a:ext cx="244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~2km | ¥60-70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7200" y="1010000"/>
            <a:ext cx="244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走量型定食，翻台快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87200" y="1290000"/>
            <a:ext cx="244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E83E3E"/>
                </a:solidFill>
                <a:latin typeface="Microsoft YaHei"/>
                <a:ea typeface="Microsoft YaHei"/>
                <a:cs typeface="Microsoft YaHei"/>
              </a:rPr>
              <a:t>弱点：品质一般，体验感差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切入：品质升级客群，愿多付¥20吃好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57200" y="570000"/>
            <a:ext cx="2600000" cy="22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7200" y="620000"/>
            <a:ext cx="244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🥖 L'AIR西餐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7200" y="840000"/>
            <a:ext cx="244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745m | ¥100+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7200" y="1010000"/>
            <a:ext cx="244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最近竞品，西餐定位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7200" y="1290000"/>
            <a:ext cx="244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E83E3E"/>
                </a:solidFill>
                <a:latin typeface="Microsoft YaHei"/>
                <a:ea typeface="Microsoft YaHei"/>
                <a:cs typeface="Microsoft YaHei"/>
              </a:rPr>
              <a:t>弱点：客单偏高，日常门槛高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切入：¥80更亲民的家庭轻聚首选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20000"/>
            <a:ext cx="2600000" cy="22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200" y="2970000"/>
            <a:ext cx="244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🍜 杭帮家常菜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200" y="3190000"/>
            <a:ext cx="244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~3km | ¥60-90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200" y="3360000"/>
            <a:ext cx="244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外婆家/弄堂里等，家庭聚餐场景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00" y="3640000"/>
            <a:ext cx="244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E83E3E"/>
                </a:solidFill>
                <a:latin typeface="Microsoft YaHei"/>
                <a:ea typeface="Microsoft YaHei"/>
                <a:cs typeface="Microsoft YaHei"/>
              </a:rPr>
              <a:t>弱点：同质化严重，排队久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切入："家庭料理"差异化小众治愈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7200" y="2920000"/>
            <a:ext cx="2600000" cy="22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87200" y="2970000"/>
            <a:ext cx="244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🍕 咕鹿流心披萨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87200" y="3190000"/>
            <a:ext cx="244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2.4km | ¥50-70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87200" y="3360000"/>
            <a:ext cx="244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披萨专门店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87200" y="3640000"/>
            <a:ext cx="244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E83E3E"/>
                </a:solidFill>
                <a:latin typeface="Microsoft YaHei"/>
                <a:ea typeface="Microsoft YaHei"/>
                <a:cs typeface="Microsoft YaHei"/>
              </a:rPr>
              <a:t>弱点：品类单一，正餐感不足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切入：菜品丰富+家庭套餐组合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00000"/>
            <a:ext cx="82296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8B4B00"/>
                </a:solidFill>
                <a:latin typeface="Microsoft YaHei"/>
                <a:ea typeface="Microsoft YaHei"/>
                <a:cs typeface="Microsoft YaHei"/>
              </a:rPr>
              <a:t>💡 核心结论：同商圈没有第二家"家庭料理"，差异化天然存在。修好平台漏斗+锁住社区复购=突围路径。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00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🚨 策略一：72小时急救——修好大众点评转化漏斗（0%→15%）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0000"/>
            <a:ext cx="8229600" cy="300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7200" y="570000"/>
            <a:ext cx="80696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E83E3E"/>
                </a:solidFill>
                <a:latin typeface="Microsoft YaHei"/>
                <a:ea typeface="Microsoft YaHei"/>
                <a:cs typeface="Microsoft YaHei"/>
              </a:rPr>
              <a:t>🔴 881次有效访问→0成交，不是流量问题是漏斗问题。修好这3件事，现有流量立刻变现，零额外投入。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20000"/>
            <a:ext cx="8229600" cy="13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20000"/>
            <a:ext cx="250000" cy="2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200" y="950000"/>
            <a:ext cx="23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步骤1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200" y="940000"/>
            <a:ext cx="78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Day1·老板+店长：上架3款团购套餐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200" y="1160000"/>
            <a:ext cx="7989600" cy="10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大众点评商家后台→「营销中心→团购」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 引流款·单人定食 ¥58（原价¥80）：含1主菜+1小食+1饮品，标题"一个人也要好好吃饭"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② 主推款·双人套餐 ¥148（原价¥190）：2主菜+2小菜+1甜品+2饮品，标题"小橘几の两人食"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③ 家庭款·3-4人套餐 ¥238（原价¥320）：3主菜+凉菜拼盘+甜品+饮品，标题"周末一家人的饭桌"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零成本：只是把现有菜品打包组合，给消费者"一键下单"入口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20000"/>
            <a:ext cx="8229600" cy="13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20000"/>
            <a:ext cx="250000" cy="2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00" y="2350000"/>
            <a:ext cx="23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步骤2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200" y="2340000"/>
            <a:ext cx="78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Day1-2·老板：补全门店页面信息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200" y="2560000"/>
            <a:ext cx="7989600" cy="10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大众点评商家后台→「门店管理→门店信息」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 头图换成暖光全景照（食物+餐桌+温馨氛围，手机拍即可）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② 上传≥15道菜品实拍图（自然光+俯拍45°+木质餐具，禁白底抠图）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③ 申请改品类标签为"日式料理/家庭料理"（当前"西式简餐"导致搜索错位）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客人说"图片少看不出啥"→ 就是这881人流失的原因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20000"/>
            <a:ext cx="8229600" cy="13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20000"/>
            <a:ext cx="250000" cy="2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00" y="3750000"/>
            <a:ext cx="23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步骤3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200" y="3740000"/>
            <a:ext cx="78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Day2-3·店长：开启「免费试」攒首批评价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200" y="3960000"/>
            <a:ext cx="7989600" cy="10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大众点评商家后台→「营销中心→免费试」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 每周5-10个名额（成本约¥400-800/周），选拍照好看的招牌菜品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② 严禁要求好评——免费试是让真实顾客体验并自发分享（合规官方工具）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③ 目标：30天新增30条自然评价，评分4.2→4.4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⚠️ 2025年10月新规：高强度促评=新评价不产生星级收益。免费试是唯一合规路径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🔐 策略二：私域锁客——把路过的邻居变成"每周来一次"的常客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0000"/>
            <a:ext cx="8229600" cy="32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7200" y="575000"/>
            <a:ext cx="8069600" cy="29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📊 日均11人次×¥80=日流水约¥900。社区店命脉是复购——1个周客比10个路人更有价值。你已有会员旗舰版（团购会员卡+潜客营销+6大活动），用起来就是钱。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40000"/>
            <a:ext cx="2600000" cy="3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40000"/>
            <a:ext cx="2600000" cy="2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200" y="960000"/>
            <a:ext cx="248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🎫 会员入会体系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200" y="1280000"/>
            <a:ext cx="248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扫码点餐自动弹窗入会（🔧会员后台→入会设置）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首次入会礼：赠1道招牌小食（成本¥3-5）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会员价体系：所有菜品会员享9.5折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生日特权：生日当天主菜免费1份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谁做：服务员上菜时说"扫码点餐自动就是会员了，今天送您一份XX小食"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客人嫌麻烦："不用注册，扫码下单自动就是了"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目标：首月入会200人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7200" y="940000"/>
            <a:ext cx="2600000" cy="3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7200" y="940000"/>
            <a:ext cx="2600000" cy="28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7200" y="960000"/>
            <a:ext cx="248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💳 轻储值锁定复购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7200" y="1280000"/>
            <a:ext cx="248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储值档位设计（🔧会员后台→储值设置）：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体验档：充¥200送¥25（3次消费用完，门槛低）</a:t>
            </a:r>
          </a:p>
          <a:p>
            <a:pPr>
              <a:spcAft>
                <a:spcPts val="300"/>
              </a:spcAft>
            </a:pPr>
            <a:r>
              <a:rPr sz="800" b="1" i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⭐主推档：充¥400送¥60（5次用完，折扣约8.7折）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尊享档：充¥800送¥150（家庭客/老客专属，约8.4折）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话术："您今天消费¥160，充¥400刚好够吃5次，还多送¥60，下次直接刷就行"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不想充？"没关系，先扫码入会，下次来自动9.5折"（退一步保会员）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目标：首月储值入账¥8,000（20人×¥400）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57200" y="940000"/>
            <a:ext cx="2600000" cy="3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57200" y="940000"/>
            <a:ext cx="2600000" cy="280000"/>
          </a:xfrm>
          <a:prstGeom prst="rect">
            <a:avLst/>
          </a:prstGeom>
          <a:solidFill>
            <a:srgbClr val="0D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7200" y="960000"/>
            <a:ext cx="248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 社群+触达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7200" y="1280000"/>
            <a:ext cx="248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建"小橘几の邻居群"企微社群（🔧企微→客户群）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每周四发"本周新菜预告"（制造期待感）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每月1号"会员日"：会员到店享指定菜品半价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30天未到店自动push唤醒券¥15（🔧会员后台→智能营销→沉睡唤醒）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谁做：店长每周四拍1张新菜照片发群，固定5分钟搞定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群没人聊天？不用聊天，群的价值是"每周提醒你来吃饭"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目标：首月群人数100人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📣 策略三：公域引流——大众点评+小红书双轨联动拉新客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0000"/>
            <a:ext cx="8229600" cy="28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7200" y="575000"/>
            <a:ext cx="80696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📊 当前83条评价/4.2分/1489次收藏。¥80人均+家庭料理调性+年轻女性客群=小红书天然种草品类。公域拉新→到店入会→私域锁客，形成完整闭环。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0000"/>
            <a:ext cx="3950000" cy="3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0000"/>
            <a:ext cx="3950000" cy="2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200" y="930000"/>
            <a:ext cx="383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📋 大众点评运营（主战场）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200" y="1250000"/>
            <a:ext cx="383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"/>
              </a:spcAft>
            </a:pPr>
            <a:r>
              <a:rPr sz="8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【阶段判断】新店成长期（&lt;100条评价）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路径：修好基础信息 → 免费试攒评价 → 冲新店榜 → 热门榜前10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100"/>
              </a:spcAft>
            </a:pPr>
            <a:r>
              <a:rPr sz="8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评价目标：30天内达到120条评价 / 评分4.4+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 免费试（已在72h急救中启动）：每周5-10名额，选颜值高的菜品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⚠️ 严禁促评/邀评，免费试本身就是合规获评路径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② 免费菜（🔧营销中心→免费菜）：到店消费送1道新品试吃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目的不是"换好评"，是让顾客多体验一道菜，增加分享欲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③ 打造"分享动机"而非"促评话术"：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· 出品有仪式感（日式定食摆盘+木质托盘+手写菜单卡）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· 甜品/饮品做颜值爆款（拍照发圈自然发生）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· 在餐桌放小卡片"如果觉得好吃，欢迎记录这顿饭"（不说"好评"二字）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④ 新店榜→热门榜路径：评价量破100+评分4.4以上可冲新店榜，进榜后曝光翻3-5倍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谁盯：店长每天看后台评价数+评分，差评2小时内回复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57200" y="910000"/>
            <a:ext cx="3950000" cy="3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57200" y="910000"/>
            <a:ext cx="3950000" cy="2800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7200" y="930000"/>
            <a:ext cx="383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📕 小红书种草（第二增长引擎）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7200" y="1250000"/>
            <a:ext cx="383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"/>
              </a:spcAft>
            </a:pPr>
            <a:r>
              <a:rPr sz="800" b="1" i="0">
                <a:solidFill>
                  <a:srgbClr val="E83E3E"/>
                </a:solidFill>
                <a:latin typeface="Microsoft YaHei"/>
                <a:ea typeface="Microsoft YaHei"/>
                <a:cs typeface="Microsoft YaHei"/>
              </a:rPr>
              <a:t>【为什么必须做小红书】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¥80家庭料理+日式摆盘+治愈调性=小红书天然种草品类。彭埠周边独居租房年轻人多，搜"杭州一人食""家庭料理"精准触达。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100"/>
              </a:spcAft>
            </a:pPr>
            <a:r>
              <a:rPr sz="800" b="1" i="0">
                <a:solidFill>
                  <a:srgbClr val="E83E3E"/>
                </a:solidFill>
                <a:latin typeface="Microsoft YaHei"/>
                <a:ea typeface="Microsoft YaHei"/>
                <a:cs typeface="Microsoft YaHei"/>
              </a:rPr>
              <a:t>🎯 目标：每月发4篇笔记，3个月后搜索词引流占新客20%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 内容方向（选2-3个固定栏目）：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· "独居女生的治愈晚餐"系列（一人食定食¥58-68）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· "小橘几の周末家庭餐桌"系列（家庭套餐开箱）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· "今天厨房做了什么"系列（后厨备菜过程，突出手作感）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② 拍摄要点：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· 自然光+暖色调+俯拍/45°角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· 突出木质餐具、手写菜单、绿植细节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· 视频15-30秒最佳（餐厅环境+上菜过程+第一口表情）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③ 谁来做：老板/店长每周拍1组照片（3-5张），写50字真实文案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不会写？模板："下班回来路过小橘几，点了一份XX定食，¥XX。[菜品描述1-2句]。一个人吃饭也可以很幸福。📍杭州彭埠"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④ 标签固定组合：#杭州美食 #杭州一人食 #家庭料理 #彭埠美食 #治愈系餐厅</a:t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免费，只花时间。3个月后小红书搜索"彭埠美食""杭州家庭料理"能看到你=长期免费流量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🔄 公私域闭环：从"陌生人看到你"到"邻居每周来"的完整链路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0000"/>
            <a:ext cx="1900000" cy="14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00000"/>
            <a:ext cx="1900000" cy="3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7200" y="840000"/>
            <a:ext cx="1820000" cy="2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📣 公域曝光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7200" y="1150000"/>
            <a:ext cx="178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大众点评搜索
小红书种草
外卖中心展示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7200" y="130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7200" y="800000"/>
            <a:ext cx="1900000" cy="14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7200" y="800000"/>
            <a:ext cx="1900000" cy="30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7200" y="840000"/>
            <a:ext cx="1820000" cy="2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🛒 到店转化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200" y="1150000"/>
            <a:ext cx="178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团购套餐一键下单
扫码点餐自动入会
首次到店送小食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200" y="130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7200" y="800000"/>
            <a:ext cx="1900000" cy="14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7200" y="800000"/>
            <a:ext cx="1900000" cy="300000"/>
          </a:xfrm>
          <a:prstGeom prst="rect">
            <a:avLst/>
          </a:prstGeom>
          <a:solidFill>
            <a:srgbClr val="0D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7200" y="840000"/>
            <a:ext cx="1820000" cy="2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🔐 私域锁定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7200" y="1150000"/>
            <a:ext cx="178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会员9.5折锁定
储值¥400送¥60
企微社群每周触达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200" y="130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7200" y="800000"/>
            <a:ext cx="1900000" cy="14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7200" y="800000"/>
            <a:ext cx="1900000" cy="300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7200" y="840000"/>
            <a:ext cx="1820000" cy="23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🔁 复购循环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200" y="1150000"/>
            <a:ext cx="178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会员日半价引回
沉睡唤醒券¥15
生日免费主菜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00000"/>
            <a:ext cx="8229600" cy="30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200" y="2450000"/>
            <a:ext cx="80696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💡 闭环逻辑：公域每带来1个新客 → 60%扫码入会 → 20%首次储值 → 私域每月触达4次 → 月均到店1.5次 → LTV从¥80提升到¥960/年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850000"/>
            <a:ext cx="82296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📅 7-9月营销节奏（结合当季节点）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50000"/>
            <a:ext cx="2600000" cy="18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150000"/>
            <a:ext cx="2600000" cy="3500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7200" y="3170000"/>
            <a:ext cx="252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7月下旬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200" y="3320000"/>
            <a:ext cx="252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🚨 急救期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200" y="3510000"/>
            <a:ext cx="252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E83E3E"/>
                </a:solidFill>
                <a:latin typeface="Microsoft YaHei"/>
                <a:ea typeface="Microsoft YaHei"/>
                <a:cs typeface="Microsoft YaHei"/>
              </a:rPr>
              <a:t>🏷️ 大暑消暑套餐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7200" y="3670000"/>
            <a:ext cx="2520000" cy="1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72h修好点评漏斗（团购+图片+标签）
• 开启免费试攒评价
• 上架暑期"消暑定食"引流款¥58
• 大暑周推"赠冰饮"活动
• 建企微邻居群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7200" y="3150000"/>
            <a:ext cx="2600000" cy="18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7200" y="3150000"/>
            <a:ext cx="2600000" cy="35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7200" y="3170000"/>
            <a:ext cx="252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7200" y="3320000"/>
            <a:ext cx="252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蓄水期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7200" y="3510000"/>
            <a:ext cx="252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🏷️ 七夕+立秋双节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7200" y="3670000"/>
            <a:ext cx="2520000" cy="1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七夕双人套餐¥168（含甜品+花）
• 立秋"贴秋膘"限定菜单上新
• 小红书每周1篇持续种草
• 储值活动正式启动
• 冲评价数100条+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57200" y="3150000"/>
            <a:ext cx="2600000" cy="18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57200" y="3150000"/>
            <a:ext cx="2600000" cy="350000"/>
          </a:xfrm>
          <a:prstGeom prst="rect">
            <a:avLst/>
          </a:prstGeom>
          <a:solidFill>
            <a:srgbClr val="0D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7200" y="3170000"/>
            <a:ext cx="252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97200" y="3320000"/>
            <a:ext cx="252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爆发期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97200" y="3510000"/>
            <a:ext cx="252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🏷️ 中秋+桂花季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97200" y="3670000"/>
            <a:ext cx="2520000" cy="1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中秋"小橘几の团圆家宴"套餐
• 桂花限定菜品（桂花酒酿圆子等）
• 冲新店榜/热门榜
• 会员数破300，储值入账破¥2万
• 复购率盯25%以上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 点评口碑专项：从4.2分→4.5分的合规路径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0000"/>
            <a:ext cx="8229600" cy="3200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7200" y="575000"/>
            <a:ext cx="8069600" cy="29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📊 现状：4.2分/83条评价/已营业约1个月 → 新店成长期，评价基数不足，每条新评价对星级影响大（杠杆期）。1,489次收藏说明品牌有吸引力但转化断裂。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50000"/>
            <a:ext cx="8229600" cy="970000"/>
          </a:xfrm>
          <a:prstGeom prst="rect">
            <a:avLst/>
          </a:prstGeom>
          <a:solidFill>
            <a:srgbClr val="FAFAFA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7200" y="970000"/>
            <a:ext cx="806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🛑 第一步：止血：停止所有无效动作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200" y="1170000"/>
            <a:ext cx="80696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如果之前有"好评返现""好评送菜"等促评行为——立刻停止（2025.10新规后高强度促评=新评价不产生星级收益）
• 差评2小时内回复，回复模板："感谢反馈，已安排店长XX跟进改善，欢迎下次再来检验"
• 服务员禁止在餐中/餐后口头要求客人"给个好评"（被投诉=更严重）
→ 谁做：店长每天早晚各查一次后台评价（🔧商家后台→评价管理）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0000"/>
            <a:ext cx="8229600" cy="970000"/>
          </a:xfrm>
          <a:prstGeom prst="rect">
            <a:avLst/>
          </a:prstGeom>
          <a:solidFill>
            <a:srgbClr val="FAFAFA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200" y="1990000"/>
            <a:ext cx="806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✅ 第二步：合规工具：用好平台官方获评通道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200" y="2190000"/>
            <a:ext cx="80696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免费试（已启动）：每周5-10名额，选颜值最高的菜品，自然获评
• 免费菜：到店消费满¥100赠1道新品试吃（🔧营销中心→免费菜），不附加任何评价条件
• 团购核销自动引导：团购券核销后平台会自动推送评价邀请，这是最自然的获评路径
→ 目标：每周新增8-10条评价，30天累计30条+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90000"/>
            <a:ext cx="8229600" cy="970000"/>
          </a:xfrm>
          <a:prstGeom prst="rect">
            <a:avLst/>
          </a:prstGeom>
          <a:solidFill>
            <a:srgbClr val="FAFAFA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200" y="3010000"/>
            <a:ext cx="806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💡 第三步：打造分享动机：让顾客"想拍""想说"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200" y="3210000"/>
            <a:ext cx="80696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出品仪式感：日式定食用木质托盘+小碟分装+手写当日菜单卡（成本¥0.3/张）
• 甜品做颜值爆款：每月出1款"拍照甜品"（如抹茶提拉米苏/焦糖布丁），投入成本约¥5-8/份
• 餐桌放卡片"如果觉得好吃，欢迎记录这顿饭"（不含"好评"二字，引导自然分享）
→ 本质：让产品自己说话，评价是结果不是目的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10000"/>
            <a:ext cx="8229600" cy="970000"/>
          </a:xfrm>
          <a:prstGeom prst="rect">
            <a:avLst/>
          </a:prstGeom>
          <a:solidFill>
            <a:srgbClr val="FAFAFA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200" y="4030000"/>
            <a:ext cx="806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📈 第四步：冲榜路径：新店榜→热门榜→好评榜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200" y="4230000"/>
            <a:ext cx="80696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评价破100条+评分4.4以上：冲新店榜（新店榜曝光翻3-5倍）
• 评价破200条+评分4.5以上：冲热门榜前10（同商圈"家庭料理"竞品少，门槛低）
• 季度目标：评分4.5、评价200条、进入热门榜
→ 谁盯：店长每周一查评价数/评分/排名（🔧商家后台→经营分析），有波动立即排查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🔧 已签SaaS产品激活：你已有的工具，用起来就是钱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0000"/>
            <a:ext cx="8229600" cy="25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7200" y="575000"/>
            <a:ext cx="80696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📊 你已签约：收银POS + 扫码点餐 + 会员旗舰版 + 外卖中心。不需要额外花钱，只需要"用起来"。以下是每个工具的具体激活方法和预期收益。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70000"/>
            <a:ext cx="8229600" cy="137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870000"/>
            <a:ext cx="8229600" cy="2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200" y="890000"/>
            <a:ext cx="8109600" cy="1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 扫码点餐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200" y="1020000"/>
            <a:ext cx="81096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DDEEFF"/>
                </a:solidFill>
                <a:latin typeface="Microsoft YaHei"/>
                <a:ea typeface="Microsoft YaHei"/>
                <a:cs typeface="Microsoft YaHei"/>
              </a:rPr>
              <a:t>省人力+自动入会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00" y="1180000"/>
            <a:ext cx="8069600" cy="10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激活方法：🔧收银后台→扫码点餐→桌贴管理→打印桌贴二维码
① 每桌放桌贴，客人扫码自助点餐（省1名服务员人力，月省¥3,000-4,000）
② 设置"扫码即入会"（🔧会员后台→入会设置→扫码入会），无感采集会员
③ 扫码后弹窗展示当日推荐/套餐/会员价（🔧扫码点餐→弹窗设置）
→ 客人不愿扫码？"您可以扫码看菜单图片再选，不用喊服务员，还自动享会员价"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90000"/>
            <a:ext cx="8229600" cy="137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90000"/>
            <a:ext cx="8229600" cy="28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200" y="2310000"/>
            <a:ext cx="8109600" cy="1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 会员旗舰版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200" y="2440000"/>
            <a:ext cx="81096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DDEEFF"/>
                </a:solidFill>
                <a:latin typeface="Microsoft YaHei"/>
                <a:ea typeface="Microsoft YaHei"/>
                <a:cs typeface="Microsoft YaHei"/>
              </a:rPr>
              <a:t>团购会员卡+潜客营销+6大活动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00" y="2600000"/>
            <a:ext cx="8069600" cy="10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旗舰版独有功能（已购，必须用起来）：
① 团购会员卡：大众点评团购页面展示"买XX元套餐送会员卡"→公域直接导会员
② 潜客营销：对收藏未消费的1,489人定向推送优惠券（🔧会员后台→智能营销→潜客）
③ 6大特有活动：裂变拉新/消费返券/集章有礼/储值加赠/满减/折扣——按月轮换
→ 当前最紧迫：先用"潜客营销"把1,489个收藏用户转化为首次到店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10000"/>
            <a:ext cx="8229600" cy="137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10000"/>
            <a:ext cx="8229600" cy="280000"/>
          </a:xfrm>
          <a:prstGeom prst="rect">
            <a:avLst/>
          </a:prstGeom>
          <a:solidFill>
            <a:srgbClr val="0D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200" y="3730000"/>
            <a:ext cx="8109600" cy="1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🛵 外卖中心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200" y="3860000"/>
            <a:ext cx="81096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DDEEFF"/>
                </a:solidFill>
                <a:latin typeface="Microsoft YaHei"/>
                <a:ea typeface="Microsoft YaHei"/>
                <a:cs typeface="Microsoft YaHei"/>
              </a:rPr>
              <a:t>工作日午市+晚市第二场景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200" y="4020000"/>
            <a:ext cx="8069600" cy="10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激活方法：🔧外卖中心→门店管理→营业时间+菜单
① 上线外卖菜单：精选15-20个SKU（出餐快、打包不变形的菜品优先）
② 定价策略：外卖价在堂食基础上+10-15%（覆盖平台抽佣）
③ 设置"满65减8"活动引流（🔧外卖中心→营销→满减）
④ 重点时段：工作日午市11:00-13:00（彭埠写字楼白领刚需）
→ 外卖月增预期：日均5单×¥65=月增¥9,750（纯增量，不挤堂食）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量化OKR目标 + 投资回报测算：每一分钱都算得过来账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0000"/>
            <a:ext cx="82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90天OKR目标（7月中旬→10月中旬）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0000"/>
            <a:ext cx="1300000" cy="26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200" y="850000"/>
            <a:ext cx="12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7200" y="800000"/>
            <a:ext cx="1100000" cy="26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7200" y="850000"/>
            <a:ext cx="10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现状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200" y="800000"/>
            <a:ext cx="250000" cy="26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7200" y="850000"/>
            <a:ext cx="19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7200" y="800000"/>
            <a:ext cx="1800000" cy="26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7200" y="850000"/>
            <a:ext cx="17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90天目标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07200" y="800000"/>
            <a:ext cx="3700000" cy="26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200" y="850000"/>
            <a:ext cx="364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拆解逻辑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060000"/>
            <a:ext cx="130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200" y="1110000"/>
            <a:ext cx="12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月营收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57200" y="1060000"/>
            <a:ext cx="110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7200" y="1110000"/>
            <a:ext cx="10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约¥2.5万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7200" y="1060000"/>
            <a:ext cx="25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77200" y="1110000"/>
            <a:ext cx="21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¥6.5万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7200" y="1060000"/>
            <a:ext cx="180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00" y="1110000"/>
            <a:ext cx="17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+¥4万/月（+160%）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320000"/>
            <a:ext cx="1300000" cy="2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200" y="1370000"/>
            <a:ext cx="12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4285F4"/>
                </a:solidFill>
                <a:latin typeface="Microsoft YaHei"/>
                <a:ea typeface="Microsoft YaHei"/>
                <a:cs typeface="Microsoft YaHei"/>
              </a:rPr>
              <a:t>日均人次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57200" y="1320000"/>
            <a:ext cx="1100000" cy="2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77200" y="1370000"/>
            <a:ext cx="10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~11人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7200" y="1320000"/>
            <a:ext cx="250000" cy="2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77200" y="1370000"/>
            <a:ext cx="21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30人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7200" y="1320000"/>
            <a:ext cx="1800000" cy="2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27200" y="1370000"/>
            <a:ext cx="17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翻台率0.3→0.75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580000"/>
            <a:ext cx="130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200" y="1630000"/>
            <a:ext cx="12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大众点评评分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57200" y="1580000"/>
            <a:ext cx="110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77200" y="1630000"/>
            <a:ext cx="10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4.2分/83条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57200" y="1580000"/>
            <a:ext cx="25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77200" y="1630000"/>
            <a:ext cx="21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4.5分/200条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7200" y="1580000"/>
            <a:ext cx="180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27200" y="1630000"/>
            <a:ext cx="17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冲新店榜→热门榜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1840000"/>
            <a:ext cx="1300000" cy="2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7200" y="1890000"/>
            <a:ext cx="12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会员数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7200" y="1840000"/>
            <a:ext cx="1100000" cy="2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77200" y="1890000"/>
            <a:ext cx="10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57200" y="1840000"/>
            <a:ext cx="250000" cy="2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77200" y="1890000"/>
            <a:ext cx="21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300人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07200" y="1840000"/>
            <a:ext cx="1800000" cy="2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27200" y="1890000"/>
            <a:ext cx="17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扫码入会+团购导入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100000"/>
            <a:ext cx="130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7200" y="2150000"/>
            <a:ext cx="12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储值入账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57200" y="2100000"/>
            <a:ext cx="110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77200" y="2150000"/>
            <a:ext cx="10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¥0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57200" y="2100000"/>
            <a:ext cx="25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77200" y="2150000"/>
            <a:ext cx="21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¥2万/月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07200" y="2100000"/>
            <a:ext cx="180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27200" y="2150000"/>
            <a:ext cx="17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主推¥400档×50人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2360000"/>
            <a:ext cx="1300000" cy="2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7200" y="2410000"/>
            <a:ext cx="12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外卖日均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57200" y="2360000"/>
            <a:ext cx="1100000" cy="2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77200" y="2410000"/>
            <a:ext cx="10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0单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57200" y="2360000"/>
            <a:ext cx="250000" cy="2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77200" y="2410000"/>
            <a:ext cx="21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5-8单/天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07200" y="2360000"/>
            <a:ext cx="1800000" cy="26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27200" y="2410000"/>
            <a:ext cx="17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月增¥9,000-15,000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2620000"/>
            <a:ext cx="130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7200" y="2670000"/>
            <a:ext cx="12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7B1FA2"/>
                </a:solidFill>
                <a:latin typeface="Microsoft YaHei"/>
                <a:ea typeface="Microsoft YaHei"/>
                <a:cs typeface="Microsoft YaHei"/>
              </a:rPr>
              <a:t>复购率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757200" y="2620000"/>
            <a:ext cx="110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77200" y="2670000"/>
            <a:ext cx="10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未知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57200" y="2620000"/>
            <a:ext cx="25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77200" y="2670000"/>
            <a:ext cx="21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25%+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07200" y="2620000"/>
            <a:ext cx="1800000" cy="2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27200" y="2670000"/>
            <a:ext cx="176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会员+储值+社群触达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2720000"/>
            <a:ext cx="82296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💰 月增收测算（达成OKR后）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2970000"/>
            <a:ext cx="3500000" cy="300000"/>
          </a:xfrm>
          <a:prstGeom prst="rect">
            <a:avLst/>
          </a:prstGeom>
          <a:solidFill>
            <a:srgbClr val="E8F5E9"/>
          </a:solidFill>
          <a:ln w="9525">
            <a:solidFill>
              <a:srgbClr val="0D9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7200" y="2990000"/>
            <a:ext cx="11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堂食增量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57200" y="2990000"/>
            <a:ext cx="22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日增19人次×¥80 = +¥45,600/月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57200" y="3010000"/>
            <a:ext cx="46296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团购引流+口碑提升+复购拉动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3300000"/>
            <a:ext cx="3500000" cy="300000"/>
          </a:xfrm>
          <a:prstGeom prst="rect">
            <a:avLst/>
          </a:prstGeom>
          <a:solidFill>
            <a:srgbClr val="E8F5E9"/>
          </a:solidFill>
          <a:ln w="9525">
            <a:solidFill>
              <a:srgbClr val="0D9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7200" y="3320000"/>
            <a:ext cx="11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外卖增量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57200" y="3320000"/>
            <a:ext cx="22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日均5单×¥65 = +¥9,750/月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57200" y="3340000"/>
            <a:ext cx="46296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外卖中心激活，工作日午市覆盖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630000"/>
            <a:ext cx="3500000" cy="300000"/>
          </a:xfrm>
          <a:prstGeom prst="rect">
            <a:avLst/>
          </a:prstGeom>
          <a:solidFill>
            <a:srgbClr val="E8F5E9"/>
          </a:solidFill>
          <a:ln w="9525">
            <a:solidFill>
              <a:srgbClr val="0D9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7200" y="3650000"/>
            <a:ext cx="11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储值沉淀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57200" y="3650000"/>
            <a:ext cx="22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月入账¥20,000（预收款现金流）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57200" y="3670000"/>
            <a:ext cx="46296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主推¥400档，锁定未来5次消费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3960000"/>
            <a:ext cx="3500000" cy="300000"/>
          </a:xfrm>
          <a:prstGeom prst="rect">
            <a:avLst/>
          </a:prstGeom>
          <a:solidFill>
            <a:srgbClr val="E8F5E9"/>
          </a:solidFill>
          <a:ln w="9525">
            <a:solidFill>
              <a:srgbClr val="0D9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7200" y="3980000"/>
            <a:ext cx="11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人力节省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57200" y="3980000"/>
            <a:ext cx="22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扫码点餐省1人 = ¥3,500/月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57200" y="4000000"/>
            <a:ext cx="46296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高峰期不用加人，服务质量不降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4340000"/>
            <a:ext cx="8229600" cy="35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7200" y="4370000"/>
            <a:ext cx="806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月增收合计：+¥58,850/月（堂食+外卖+人力节省）  |  SaaS年费已含（旗舰版¥4,888/年），无额外投入  |  💡 回本周期：当月即正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📋 30天执行路线图：谁做/什么时候做/在哪操作/做完检查什么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0000"/>
            <a:ext cx="2000000" cy="44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60000"/>
            <a:ext cx="2000000" cy="4000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200" y="580000"/>
            <a:ext cx="194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第1周（7.14-7.20）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200" y="760000"/>
            <a:ext cx="194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🚨 急救期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200" y="1000000"/>
            <a:ext cx="1920000" cy="39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Day1：上架3款团购套餐（老板+店长做）🔧营销中心→团购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Day1-2：补全门店信息+15张菜品图（老板做）🔧门店管理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Day2：申请修改品类标签为"日式料理/家庭料理"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Day3：开启免费试5名额/周 🔧营销中心→免费试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Day3：建企微社群"小橘几の邻居群"，邀现有客人入群</a:t>
            </a:r>
          </a:p>
          <a:p>
            <a:pPr>
              <a:spcAft>
                <a:spcPts val="400"/>
              </a:spcAft>
            </a:pPr>
            <a:r>
              <a:rPr sz="7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✅ 检查：团购页能搜到+菜品图≥15张+免费试已上线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7200" y="560000"/>
            <a:ext cx="2000000" cy="44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7200" y="560000"/>
            <a:ext cx="2000000" cy="40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7200" y="580000"/>
            <a:ext cx="194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第2周（7.21-7.27）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200" y="760000"/>
            <a:ext cx="194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激活期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7200" y="1000000"/>
            <a:ext cx="1920000" cy="39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Day8：扫码点餐全桌上线，打印桌贴 🔧扫码点餐→桌贴管理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Day8：设置扫码即入会+首次赠小食 🔧会员后台→入会设置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Day9：大暑消暑活动——到店赠冰饮+消暑定食¥58上架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Day10：外卖中心上线15个SKU 🔧外卖中心→菜单管理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Day10：发第1篇小红书"独居女生的治愈晚餐"</a:t>
            </a:r>
          </a:p>
          <a:p>
            <a:pPr>
              <a:spcAft>
                <a:spcPts val="400"/>
              </a:spcAft>
            </a:pPr>
            <a:r>
              <a:rPr sz="7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✅ 检查：扫码入会通路→储值弹窗→外卖可下单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57200" y="560000"/>
            <a:ext cx="2000000" cy="44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57200" y="560000"/>
            <a:ext cx="2000000" cy="400000"/>
          </a:xfrm>
          <a:prstGeom prst="rect">
            <a:avLst/>
          </a:prstGeom>
          <a:solidFill>
            <a:srgbClr val="0D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7200" y="580000"/>
            <a:ext cx="194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第3周（7.28-8.3）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7200" y="760000"/>
            <a:ext cx="194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💳 储值启动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7200" y="1000000"/>
            <a:ext cx="1920000" cy="39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Day15：储值活动上线（¥200/¥400/¥800三档）🔧会员后台→储值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Day15：员工话术培训（买单时必提储值，话术见上文）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Day16：潜客营销推送1,489个收藏用户 🔧智能营销→潜客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Day17：社群发"本周新菜预告"+会员日预告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Day20：盘点首周数据：评价新增数/入会数/储值笔数</a:t>
            </a:r>
          </a:p>
          <a:p>
            <a:pPr>
              <a:spcAft>
                <a:spcPts val="400"/>
              </a:spcAft>
            </a:pPr>
            <a:r>
              <a:rPr sz="7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✅ 检查：储值目标5笔/周+入会50人/周+评价+8条/周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57200" y="560000"/>
            <a:ext cx="2000000" cy="44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57200" y="560000"/>
            <a:ext cx="2000000" cy="4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7200" y="580000"/>
            <a:ext cx="194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第4周（8.4-8.10）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7200" y="760000"/>
            <a:ext cx="194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稳定期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7200" y="1000000"/>
            <a:ext cx="1920000" cy="39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Day22：七夕双人套餐上架（¥168含甜品+花）🔧团购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Day23：立秋"贴秋膘"限定菜单上新（酱鸭/炖排骨等）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Day25：第一次月度复盘——对照OKR调整策略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Day25：评价目标核查，不足则加大免费试名额</a:t>
            </a:r>
          </a:p>
          <a:p>
            <a:pPr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Day28：第2-3篇小红书发出，社群满50人检查</a:t>
            </a:r>
          </a:p>
          <a:p>
            <a:pPr>
              <a:spcAft>
                <a:spcPts val="400"/>
              </a:spcAft>
            </a:pPr>
            <a:r>
              <a:rPr sz="700" b="1" i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✅ 检查：月流水是否突破¥4万+评分是否到4.3+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4D8E"/>
            </a:gs>
            <a:gs pos="100000">
              <a:srgbClr val="2E7BD6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00000"/>
            <a:ext cx="82296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小橘几·家庭料理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00000"/>
            <a:ext cx="82296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× 美团收银 数字化经营解决方案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00000"/>
            <a:ext cx="1500000" cy="700000"/>
          </a:xfrm>
          <a:prstGeom prst="rect">
            <a:avLst/>
          </a:prstGeom>
          <a:solidFill>
            <a:srgbClr val="153E75"/>
          </a:solidFill>
          <a:ln w="12700">
            <a:solidFill>
              <a:srgbClr val="3A8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7200" y="2730000"/>
            <a:ext cx="142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🚨 72h急救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200" y="2970000"/>
            <a:ext cx="142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99CCFF"/>
                </a:solidFill>
                <a:latin typeface="Microsoft YaHei"/>
                <a:ea typeface="Microsoft YaHei"/>
                <a:cs typeface="Microsoft YaHei"/>
              </a:rPr>
              <a:t>修好转化漏斗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7200" y="2700000"/>
            <a:ext cx="1500000" cy="700000"/>
          </a:xfrm>
          <a:prstGeom prst="rect">
            <a:avLst/>
          </a:prstGeom>
          <a:solidFill>
            <a:srgbClr val="153E75"/>
          </a:solidFill>
          <a:ln w="12700">
            <a:solidFill>
              <a:srgbClr val="3A8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7200" y="2730000"/>
            <a:ext cx="142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🔐 私域锁客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7200" y="2970000"/>
            <a:ext cx="142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99CCFF"/>
                </a:solidFill>
                <a:latin typeface="Microsoft YaHei"/>
                <a:ea typeface="Microsoft YaHei"/>
                <a:cs typeface="Microsoft YaHei"/>
              </a:rPr>
              <a:t>会员+储值+社群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7200" y="2700000"/>
            <a:ext cx="1500000" cy="700000"/>
          </a:xfrm>
          <a:prstGeom prst="rect">
            <a:avLst/>
          </a:prstGeom>
          <a:solidFill>
            <a:srgbClr val="153E75"/>
          </a:solidFill>
          <a:ln w="12700">
            <a:solidFill>
              <a:srgbClr val="3A8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7200" y="2730000"/>
            <a:ext cx="142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📣 公域引流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7200" y="2970000"/>
            <a:ext cx="142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99CCFF"/>
                </a:solidFill>
                <a:latin typeface="Microsoft YaHei"/>
                <a:ea typeface="Microsoft YaHei"/>
                <a:cs typeface="Microsoft YaHei"/>
              </a:rPr>
              <a:t>点评+小红书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7200" y="2700000"/>
            <a:ext cx="1500000" cy="700000"/>
          </a:xfrm>
          <a:prstGeom prst="rect">
            <a:avLst/>
          </a:prstGeom>
          <a:solidFill>
            <a:srgbClr val="153E75"/>
          </a:solidFill>
          <a:ln w="12700">
            <a:solidFill>
              <a:srgbClr val="3A8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7200" y="2730000"/>
            <a:ext cx="142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 口碑提升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7200" y="2970000"/>
            <a:ext cx="142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99CCFF"/>
                </a:solidFill>
                <a:latin typeface="Microsoft YaHei"/>
                <a:ea typeface="Microsoft YaHei"/>
                <a:cs typeface="Microsoft YaHei"/>
              </a:rPr>
              <a:t>4.2→4.5分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7200" y="2700000"/>
            <a:ext cx="1500000" cy="700000"/>
          </a:xfrm>
          <a:prstGeom prst="rect">
            <a:avLst/>
          </a:prstGeom>
          <a:solidFill>
            <a:srgbClr val="153E75"/>
          </a:solidFill>
          <a:ln w="12700">
            <a:solidFill>
              <a:srgbClr val="3A8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97200" y="2730000"/>
            <a:ext cx="142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营收翻番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7200" y="2970000"/>
            <a:ext cx="142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99CCFF"/>
                </a:solidFill>
                <a:latin typeface="Microsoft YaHei"/>
                <a:ea typeface="Microsoft YaHei"/>
                <a:cs typeface="Microsoft YaHei"/>
              </a:rPr>
              <a:t>¥2.5万→¥6.5万/月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00000"/>
            <a:ext cx="82296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1">
                <a:solidFill>
                  <a:srgbClr val="DDEEFF"/>
                </a:solidFill>
                <a:latin typeface="Microsoft YaHei"/>
                <a:ea typeface="Microsoft YaHei"/>
                <a:cs typeface="Microsoft YaHei"/>
              </a:rPr>
              <a:t>"让每一位邻居，都能在小橘几找到家的味道"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88BBEE"/>
                </a:solidFill>
                <a:latin typeface="Microsoft YaHei"/>
                <a:ea typeface="Microsoft YaHei"/>
                <a:cs typeface="Microsoft YaHei"/>
              </a:rPr>
              <a:t>美团餐饮SaaS运营策划团队  |  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