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699320"/>
            <a:ext cx="762000" cy="38100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1927920"/>
            <a:ext cx="4439984" cy="400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全引牛杂煲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41732" y="2442270"/>
            <a:ext cx="8860536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900"/>
              </a:spcBef>
              <a:buNone/>
            </a:pPr>
            <a:r>
              <a:rPr lang="en-US" sz="13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 字 化 经 营 解 决 方 案</a:t>
            </a:r>
            <a:endParaRPr lang="en-US" sz="1350" dirty="0"/>
          </a:p>
        </p:txBody>
      </p:sp>
      <p:pic>
        <p:nvPicPr>
          <p:cNvPr id="5" name="Image 0" descr="/tmp/rasterized-gradient-c317a9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215580"/>
            <a:ext cx="1143000" cy="9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99428" y="3606105"/>
            <a:ext cx="1744995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美团收银 | 快餐数字化运营方案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699428" y="3855541"/>
            <a:ext cx="1744995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2026年4月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08813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品牌理解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90650" y="268635"/>
            <a:ext cx="16322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牛杂煲+海南清补凉 双业态的机遇与挑战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374725"/>
            <a:ext cx="4206180" cy="377130"/>
          </a:xfrm>
          <a:prstGeom prst="roundRect">
            <a:avLst>
              <a:gd name="adj" fmla="val 15154"/>
            </a:avLst>
          </a:prstGeom>
          <a:solidFill>
            <a:srgbClr val="2A152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04788" y="1374725"/>
            <a:ext cx="0" cy="37713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33375" y="1469975"/>
            <a:ext cx="402798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⚠️ 新店挑战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0500" y="1828056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800" y="1923306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零客源零口碑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111871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开业前30天是生死线，决定门店存亡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0500" y="2429917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4800" y="2525167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双业态运营复杂度高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2713732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牛杂煲+清补凉双线需差异化打法，避免顾客定位模糊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90500" y="3031778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800" y="3127028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品类多管理复杂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315593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牛排+牛杂煲+清补凉三条产品线，菜单/备料/出品管理复杂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90500" y="3633639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4800" y="3728889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午高峰人效压力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3917454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80-100平快餐，收银点餐效率低=排队流失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549080" y="1374725"/>
            <a:ext cx="4206180" cy="377130"/>
          </a:xfrm>
          <a:prstGeom prst="roundRect">
            <a:avLst>
              <a:gd name="adj" fmla="val 15154"/>
            </a:avLst>
          </a:prstGeom>
          <a:solidFill>
            <a:srgbClr val="1A2A1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563368" y="1374725"/>
            <a:ext cx="0" cy="37713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691955" y="1469975"/>
            <a:ext cx="402798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🔥 赛道机遇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49080" y="1828056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3380" y="1923306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双业态天然互补引流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380" y="2111871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牛杂煲刚需高复购+清补凉高毛利引流，1+1&gt;2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549080" y="2429917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63380" y="2525167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全时段覆盖坪效最大化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380" y="2713732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午餐牛杂饭→下午茶清补凉→晚餐牛杂煲→夜宵串串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549080" y="3031778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3380" y="3127028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写字楼午餐外卖需求旺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380" y="3315593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盈丰街道产业园密集，外卖午餐是刚需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549080" y="3633639"/>
            <a:ext cx="4206180" cy="525661"/>
          </a:xfrm>
          <a:prstGeom prst="roundRect">
            <a:avLst>
              <a:gd name="adj" fmla="val 10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3380" y="3728889"/>
            <a:ext cx="405713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清补凉夏季引爆+交叉导流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380" y="3917454"/>
            <a:ext cx="405713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5-9月清补凉日均引流30+人，反哺牛杂煲复购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088136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门店画像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90650" y="268635"/>
            <a:ext cx="120912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全引牛杂煲 · 盈丰街道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94805"/>
            <a:ext cx="3874740" cy="1990130"/>
          </a:xfrm>
          <a:prstGeom prst="roundRect">
            <a:avLst>
              <a:gd name="adj" fmla="val 3829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428155"/>
            <a:ext cx="368020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📍 基本信息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23850" y="1677591"/>
            <a:ext cx="36802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地址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3850" y="1843236"/>
            <a:ext cx="36802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盈新路与鸿宁路交叉口东105米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850" y="2060377"/>
            <a:ext cx="36802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面积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23850" y="2226022"/>
            <a:ext cx="36802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80-100平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3850" y="2443163"/>
            <a:ext cx="36802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品类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3850" y="2608808"/>
            <a:ext cx="36802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复合快餐（牛排+牛杂煲+海南清补凉）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3850" y="2825948"/>
            <a:ext cx="36802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预估客单价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23850" y="2991594"/>
            <a:ext cx="3680201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堂食¥25-30 / 外卖¥22-28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0500" y="3380184"/>
            <a:ext cx="3874740" cy="859036"/>
          </a:xfrm>
          <a:prstGeom prst="roundRect">
            <a:avLst>
              <a:gd name="adj" fmla="val 8870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3850" y="3513534"/>
            <a:ext cx="3680201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🎯 核心策略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23850" y="3762970"/>
            <a:ext cx="3680201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牛杂煲品质做口碑 → 清补凉引流拉新 → 外卖快速起量 → 双业态交叉复购驱动增长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17640" y="1531888"/>
            <a:ext cx="4735860" cy="1245543"/>
          </a:xfrm>
          <a:prstGeom prst="roundRect">
            <a:avLst>
              <a:gd name="adj" fmla="val 6118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50990" y="1665238"/>
            <a:ext cx="455854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👥 客群画像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350990" y="1914674"/>
            <a:ext cx="1438870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33757" y="1990874"/>
            <a:ext cx="1273338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433757" y="2268885"/>
            <a:ext cx="12733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写字楼白领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433757" y="2434530"/>
            <a:ext cx="127333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午餐主力军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66061" y="1914674"/>
            <a:ext cx="1439019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8825" y="1990874"/>
            <a:ext cx="1273490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948825" y="2268885"/>
            <a:ext cx="127349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产业园员工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948825" y="2434530"/>
            <a:ext cx="127349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外卖+清补凉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81280" y="1914674"/>
            <a:ext cx="1438870" cy="729407"/>
          </a:xfrm>
          <a:prstGeom prst="roundRect">
            <a:avLst>
              <a:gd name="adj" fmla="val 7835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64046" y="1990874"/>
            <a:ext cx="1273338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🏠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64046" y="2268885"/>
            <a:ext cx="12733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周边居民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464046" y="2434530"/>
            <a:ext cx="127333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晚餐牛杂煲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217640" y="2872680"/>
            <a:ext cx="4735860" cy="1129457"/>
          </a:xfrm>
          <a:prstGeom prst="roundRect">
            <a:avLst>
              <a:gd name="adj" fmla="val 6747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350990" y="3006030"/>
            <a:ext cx="455854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⏰ 全时段运营</a:t>
            </a:r>
            <a:endParaRPr lang="en-US" sz="975" dirty="0"/>
          </a:p>
        </p:txBody>
      </p:sp>
      <p:pic>
        <p:nvPicPr>
          <p:cNvPr id="34" name="Image 0" descr="/tmp/rasterized-gradient-02b00e7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0990" y="3255466"/>
            <a:ext cx="1074390" cy="613321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417970" y="3331666"/>
            <a:ext cx="94043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午餐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417970" y="35068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11:00-13:30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417970" y="36592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牛杂饭+盖饭</a:t>
            </a:r>
            <a:endParaRPr lang="en-US" sz="750" dirty="0"/>
          </a:p>
        </p:txBody>
      </p:sp>
      <p:pic>
        <p:nvPicPr>
          <p:cNvPr id="38" name="Image 1" descr="/tmp/rasterized-gradient-94c636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530" y="3255466"/>
            <a:ext cx="1074539" cy="613321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549509" y="3331666"/>
            <a:ext cx="94058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下午茶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5549509" y="3506837"/>
            <a:ext cx="94058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14:00-17:00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549509" y="3659237"/>
            <a:ext cx="94058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清补凉+冰沙</a:t>
            </a:r>
            <a:endParaRPr lang="en-US" sz="750" dirty="0"/>
          </a:p>
        </p:txBody>
      </p:sp>
      <p:pic>
        <p:nvPicPr>
          <p:cNvPr id="42" name="Image 2" descr="/tmp/rasterized-gradient-df7cb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220" y="3255466"/>
            <a:ext cx="1074390" cy="61332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681200" y="3331666"/>
            <a:ext cx="94043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E57C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晚餐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6681200" y="35068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17:30-20:00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6681200" y="36592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牛杂煲+牛排</a:t>
            </a:r>
            <a:endParaRPr lang="en-US" sz="750" dirty="0"/>
          </a:p>
        </p:txBody>
      </p:sp>
      <p:pic>
        <p:nvPicPr>
          <p:cNvPr id="46" name="Image 3" descr="/tmp/rasterized-gradient-55cc1f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60" y="3255466"/>
            <a:ext cx="1074390" cy="61332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7812740" y="3331666"/>
            <a:ext cx="94043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夜宵</a:t>
            </a:r>
            <a:endParaRPr lang="en-US" sz="825" dirty="0"/>
          </a:p>
        </p:txBody>
      </p:sp>
      <p:sp>
        <p:nvSpPr>
          <p:cNvPr id="48" name="Text 42"/>
          <p:cNvSpPr/>
          <p:nvPr/>
        </p:nvSpPr>
        <p:spPr>
          <a:xfrm>
            <a:off x="7812740" y="35068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20:00-22:00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7812740" y="3659237"/>
            <a:ext cx="9404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牛杂粉面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收银系统方案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2161243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智能点餐收银一体化 · 专为快餐设计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0500" y="1307902"/>
            <a:ext cx="2119313" cy="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85893" y="1436489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5893" y="1661220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扫码点餐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1891605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顾客扫码40秒完成下单，后厨同步出票。午高峰接待能力翻倍，省1个服务员。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05063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05063" y="1307902"/>
            <a:ext cx="2119313" cy="0"/>
          </a:xfrm>
          <a:prstGeom prst="line">
            <a:avLst/>
          </a:prstGeom>
          <a:noFill/>
          <a:ln w="28575">
            <a:solidFill>
              <a:srgbClr val="D4A57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00455" y="1436489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🖥️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00455" y="1661220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智能收银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519363" y="1891605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支持微信/支付宝/银联/美团/点评/抖音团购核销，断网也能收银。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19625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19625" y="1307902"/>
            <a:ext cx="2119312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15018" y="1436489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5018" y="1661220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后厨出票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33925" y="1891605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堂食+外卖订单统一出票，牛排/牛杂/清补凉分区打印，杜绝漏单。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34188" y="1293614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34188" y="1307902"/>
            <a:ext cx="2119312" cy="0"/>
          </a:xfrm>
          <a:prstGeom prst="line">
            <a:avLst/>
          </a:prstGeom>
          <a:noFill/>
          <a:ln w="28575">
            <a:solidFill>
              <a:srgbClr val="7E57C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29580" y="1436489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29580" y="1661220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经营数据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948488" y="1891605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日结报表+管家App实时看数据，各品类销量/外卖占比一目了然。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90500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90500" y="2382143"/>
            <a:ext cx="2119313" cy="0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85893" y="2510730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🔗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5893" y="2735461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万能码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304800" y="2965847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一码通扫：点餐+入会+领券。新客扫码自动注册会员+领新客券+进入菜单。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05063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405063" y="2382143"/>
            <a:ext cx="2119313" cy="0"/>
          </a:xfrm>
          <a:prstGeom prst="line">
            <a:avLst/>
          </a:prstGeom>
          <a:noFill/>
          <a:ln w="28575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500455" y="2510730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00455" y="2735461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外卖接单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519363" y="2965847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美团外卖自动接单，菜品售罄自动下架，财务对账一键完成。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19625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19625" y="2382143"/>
            <a:ext cx="2119312" cy="0"/>
          </a:xfrm>
          <a:prstGeom prst="line">
            <a:avLst/>
          </a:prstGeom>
          <a:noFill/>
          <a:ln w="28575">
            <a:solidFill>
              <a:srgbClr val="E91E6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15018" y="2510730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5018" y="2735461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AI经营助手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33925" y="2965847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外卖评价自动回复，菜品活动AI建议，常用食材比价省采购成本。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34188" y="2367855"/>
            <a:ext cx="2119313" cy="978991"/>
          </a:xfrm>
          <a:prstGeom prst="roundRect">
            <a:avLst>
              <a:gd name="adj" fmla="val 7784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834188" y="2382143"/>
            <a:ext cx="2119312" cy="0"/>
          </a:xfrm>
          <a:prstGeom prst="line">
            <a:avLst/>
          </a:prstGeom>
          <a:noFill/>
          <a:ln w="28575">
            <a:solidFill>
              <a:srgbClr val="00BCD4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929580" y="2510730"/>
            <a:ext cx="192852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29580" y="2735461"/>
            <a:ext cx="1928527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管家App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6948488" y="2965847"/>
            <a:ext cx="1928527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手机随时看流水/订单/异常提醒，老板不用守在店里也能掌控全局。</a:t>
            </a:r>
            <a:endParaRPr lang="en-US" sz="750" dirty="0"/>
          </a:p>
        </p:txBody>
      </p:sp>
      <p:pic>
        <p:nvPicPr>
          <p:cNvPr id="45" name="Image 0" descr="/tmp/rasterized-gradient-9fa1357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3442097"/>
            <a:ext cx="2857500" cy="779115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259080" y="3537347"/>
            <a:ext cx="2720340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省1人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259080" y="3849737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扫码点餐省服务员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59080" y="3992612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≈年省¥3-4万</a:t>
            </a:r>
            <a:endParaRPr lang="en-US" sz="750" dirty="0"/>
          </a:p>
        </p:txBody>
      </p:sp>
      <p:pic>
        <p:nvPicPr>
          <p:cNvPr id="49" name="Image 1" descr="/tmp/rasterized-gradient-67a246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3442097"/>
            <a:ext cx="2857500" cy="779115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3211830" y="3537347"/>
            <a:ext cx="2720340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+100%</a:t>
            </a:r>
            <a:endParaRPr lang="en-US" sz="1650" dirty="0"/>
          </a:p>
        </p:txBody>
      </p:sp>
      <p:sp>
        <p:nvSpPr>
          <p:cNvPr id="51" name="Text 47"/>
          <p:cNvSpPr/>
          <p:nvPr/>
        </p:nvSpPr>
        <p:spPr>
          <a:xfrm>
            <a:off x="3211830" y="3849737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午高峰接待能力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3211830" y="3992612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从排队到扫码即点</a:t>
            </a:r>
            <a:endParaRPr lang="en-US" sz="750" dirty="0"/>
          </a:p>
        </p:txBody>
      </p:sp>
      <p:pic>
        <p:nvPicPr>
          <p:cNvPr id="53" name="Image 2" descr="/tmp/rasterized-gradient-68c64d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42097"/>
            <a:ext cx="2857500" cy="779115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164580" y="3537347"/>
            <a:ext cx="2720340" cy="293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E57C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40秒</a:t>
            </a:r>
            <a:endParaRPr lang="en-US" sz="1650" dirty="0"/>
          </a:p>
        </p:txBody>
      </p:sp>
      <p:sp>
        <p:nvSpPr>
          <p:cNvPr id="55" name="Text 50"/>
          <p:cNvSpPr/>
          <p:nvPr/>
        </p:nvSpPr>
        <p:spPr>
          <a:xfrm>
            <a:off x="6164580" y="3849737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顾客点餐用时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6164580" y="3992612"/>
            <a:ext cx="272034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传统2-3分钟→40秒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外卖运营方案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87402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快速起量 · 精准定价 · 评价管理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030039"/>
            <a:ext cx="4314825" cy="2493169"/>
          </a:xfrm>
          <a:prstGeom prst="roundRect">
            <a:avLst>
              <a:gd name="adj" fmla="val 3056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1144339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🔥 外卖菜品结构（做减法）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393775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469975"/>
            <a:ext cx="40125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引流爆品（低价走量）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1645146"/>
            <a:ext cx="401250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招牌牛杂盖饭¥14.9 | 招牌椰奶清补凉¥9.9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4800" y="1911846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1988046"/>
            <a:ext cx="40125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利润主力（5-6款）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163217"/>
            <a:ext cx="401250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牛杂煲（中）¥98 | 菲力牛排¥26 | 椰奶芋泥大满贯¥15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4800" y="2429917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1000" y="2506117"/>
            <a:ext cx="40125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凑单小食+饮品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2681288"/>
            <a:ext cx="401250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串串¥3-6 | 清补凉小杯¥10 | 冰沙¥10-18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4800" y="2947988"/>
            <a:ext cx="4086225" cy="460921"/>
          </a:xfrm>
          <a:prstGeom prst="roundRect">
            <a:avLst>
              <a:gd name="adj" fmla="val 12399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1000" y="3024188"/>
            <a:ext cx="401250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套餐组合（主推）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199358"/>
            <a:ext cx="401250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牛杂饭+清补凉¥24.9 | 牛排+清补凉¥32.9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0500" y="3599408"/>
            <a:ext cx="4314825" cy="885527"/>
          </a:xfrm>
          <a:prstGeom prst="roundRect">
            <a:avLst>
              <a:gd name="adj" fmla="val 860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4800" y="3713708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 满减设计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04800" y="3944094"/>
            <a:ext cx="2014538" cy="426541"/>
          </a:xfrm>
          <a:prstGeom prst="roundRect">
            <a:avLst>
              <a:gd name="adj" fmla="val 1339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2948" y="4001244"/>
            <a:ext cx="1938242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满25减5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42948" y="4193530"/>
            <a:ext cx="1938242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基础档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376488" y="3944094"/>
            <a:ext cx="2014538" cy="426541"/>
          </a:xfrm>
          <a:prstGeom prst="roundRect">
            <a:avLst>
              <a:gd name="adj" fmla="val 1339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14635" y="4001244"/>
            <a:ext cx="1938242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满40减8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414635" y="4193530"/>
            <a:ext cx="1938242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凑单档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638675" y="882551"/>
            <a:ext cx="4314825" cy="961727"/>
          </a:xfrm>
          <a:prstGeom prst="roundRect">
            <a:avLst>
              <a:gd name="adj" fmla="val 7923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2975" y="996851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🚀 冲量策略（开业前7天）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752975" y="1227237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全场8折 + 清补凉第二杯半价 + 满减叠加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752975" y="1411932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目标：</a:t>
            </a: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日均50单以上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，快速积累评价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52975" y="1596628"/>
            <a:ext cx="41679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第8天起恢复正常满减，转为利润导向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8675" y="1920478"/>
            <a:ext cx="4314825" cy="974973"/>
          </a:xfrm>
          <a:prstGeom prst="roundRect">
            <a:avLst>
              <a:gd name="adj" fmla="val 7816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2975" y="2034778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⭐ 评价管理——外卖命根子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52975" y="2265164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每单附小卡片「好评截图送串串券」(¥1/张)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52975" y="2449860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差评24h内回复（AI自动+人工补充）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52975" y="2634555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目标：首月50+好评，评分4.7+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638675" y="2971651"/>
            <a:ext cx="4314825" cy="974973"/>
          </a:xfrm>
          <a:prstGeom prst="roundRect">
            <a:avLst>
              <a:gd name="adj" fmla="val 7816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2975" y="3085951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📦 配送与包装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4752975" y="3316337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牛杂煲/牛排饭用铝箔保温盒（保温30分钟）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52975" y="3501033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清补凉用密封杯防洒漏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752975" y="3685729"/>
            <a:ext cx="416795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配送范围：初期3km → 稳定后扩5km</a:t>
            </a:r>
            <a:endParaRPr lang="en-US" sz="825" dirty="0"/>
          </a:p>
        </p:txBody>
      </p:sp>
      <p:pic>
        <p:nvPicPr>
          <p:cNvPr id="42" name="Image 0" descr="/tmp/rasterized-gradient-c137c55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4022824"/>
            <a:ext cx="4314825" cy="609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4714065" y="4118074"/>
            <a:ext cx="202568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100单/日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4714065" y="4403824"/>
            <a:ext cx="202568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稳定期外卖目标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852428" y="4118074"/>
            <a:ext cx="2025682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¥28+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6852428" y="4403824"/>
            <a:ext cx="202568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外卖目标客单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会员体系设计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2146063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低门槛入会 · 频次驱动 · 自动化复购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88877"/>
            <a:ext cx="4763479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三级等级会员 · 扫码即会员零门槛</a:t>
            </a:r>
            <a:endParaRPr lang="en-US" sz="900" dirty="0"/>
          </a:p>
        </p:txBody>
      </p:sp>
      <p:pic>
        <p:nvPicPr>
          <p:cNvPr id="6" name="Image 0" descr="/tmp/rasterized-gradient-c5523ad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806029"/>
            <a:ext cx="1531293" cy="10019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2342" y="1929854"/>
            <a:ext cx="136760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D7F3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🥉 牛友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272342" y="2160240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扫码即得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85750" y="2355503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85750" y="2417415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专享价便宜¥1-2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85750" y="2579340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生日送清补凉小杯</a:t>
            </a:r>
            <a:endParaRPr lang="en-US" sz="750" dirty="0"/>
          </a:p>
        </p:txBody>
      </p:sp>
      <p:pic>
        <p:nvPicPr>
          <p:cNvPr id="12" name="Image 1" descr="/tmp/rasterized-gradient-5d5fd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93" y="1806029"/>
            <a:ext cx="1531293" cy="10019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9835" y="1929854"/>
            <a:ext cx="136760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0C0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🥈 铁粉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1879835" y="2160240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累计消费¥200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1893243" y="2355503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893243" y="2417415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专享价便宜¥2-3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893243" y="2579340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每月1张¥5券+清补凉券</a:t>
            </a:r>
            <a:endParaRPr lang="en-US" sz="750" dirty="0"/>
          </a:p>
        </p:txBody>
      </p:sp>
      <p:pic>
        <p:nvPicPr>
          <p:cNvPr id="18" name="Image 2" descr="/tmp/rasterized-gradient-98870a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485" y="1725067"/>
            <a:ext cx="1531293" cy="11638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87327" y="1848892"/>
            <a:ext cx="136760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🥇 VIP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487327" y="2079278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累计消费¥500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3500735" y="2274540"/>
            <a:ext cx="1340793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3500735" y="2336453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全场9折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500735" y="2498378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每月2张¥5+清补凉免费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3500735" y="2660303"/>
            <a:ext cx="136760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新品免费尝鲜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90500" y="2965103"/>
            <a:ext cx="4746278" cy="1060996"/>
          </a:xfrm>
          <a:prstGeom prst="roundRect">
            <a:avLst>
              <a:gd name="adj" fmla="val 718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285750" y="3060353"/>
            <a:ext cx="464689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💳 储值方案（第4周启动）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85750" y="3277493"/>
            <a:ext cx="2249239" cy="653355"/>
          </a:xfrm>
          <a:prstGeom prst="roundRect">
            <a:avLst>
              <a:gd name="adj" fmla="val 8747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40982" y="3353693"/>
            <a:ext cx="213877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充100送15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40982" y="3568898"/>
            <a:ext cx="21387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3-4次用完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40982" y="3721298"/>
            <a:ext cx="213877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⭐ 主推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2592139" y="3277493"/>
            <a:ext cx="2249388" cy="653355"/>
          </a:xfrm>
          <a:prstGeom prst="roundRect">
            <a:avLst>
              <a:gd name="adj" fmla="val 8747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2647370" y="3353693"/>
            <a:ext cx="2138928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充200送35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2647370" y="3568898"/>
            <a:ext cx="213892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7-8次用完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2647370" y="3721298"/>
            <a:ext cx="213892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忠实客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5070128" y="905173"/>
            <a:ext cx="3883372" cy="1563886"/>
          </a:xfrm>
          <a:prstGeom prst="roundRect">
            <a:avLst>
              <a:gd name="adj" fmla="val 487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184428" y="1019473"/>
            <a:ext cx="372786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自动化复购触达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5184428" y="126890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298377" y="1316534"/>
            <a:ext cx="248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第2天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5717540" y="1310005"/>
            <a:ext cx="1133475" cy="146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欢迎入会+清补凉¥3券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5184428" y="155465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298377" y="1602284"/>
            <a:ext cx="24835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第7天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5717540" y="1595755"/>
            <a:ext cx="1051560" cy="146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想你了+牛杂饭¥5券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5184428" y="184040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D4A574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5271355" y="1888034"/>
            <a:ext cx="30239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1A1A2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第14天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5717540" y="1881505"/>
            <a:ext cx="1442720" cy="146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老朋友+牛杂煲¥8满68券</a:t>
            </a:r>
            <a:endParaRPr lang="en-US" sz="825" dirty="0"/>
          </a:p>
        </p:txBody>
      </p:sp>
      <p:sp>
        <p:nvSpPr>
          <p:cNvPr id="46" name="Text 41"/>
          <p:cNvSpPr/>
          <p:nvPr/>
        </p:nvSpPr>
        <p:spPr>
          <a:xfrm>
            <a:off x="5184428" y="2126159"/>
            <a:ext cx="476250" cy="228600"/>
          </a:xfrm>
          <a:prstGeom prst="roundRect">
            <a:avLst>
              <a:gd name="adj" fmla="val 16667"/>
            </a:avLst>
          </a:prstGeom>
          <a:solidFill>
            <a:srgbClr val="7E57C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5271355" y="2173784"/>
            <a:ext cx="30239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第30天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5717828" y="2167086"/>
            <a:ext cx="1131249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沉睡唤醒+清补凉免费券</a:t>
            </a:r>
            <a:endParaRPr lang="en-US" sz="825" dirty="0"/>
          </a:p>
        </p:txBody>
      </p:sp>
      <p:sp>
        <p:nvSpPr>
          <p:cNvPr id="49" name="Text 44"/>
          <p:cNvSpPr/>
          <p:nvPr/>
        </p:nvSpPr>
        <p:spPr>
          <a:xfrm>
            <a:off x="5070128" y="2545259"/>
            <a:ext cx="3883372" cy="1159669"/>
          </a:xfrm>
          <a:prstGeom prst="roundRect">
            <a:avLst>
              <a:gd name="adj" fmla="val 6571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5184428" y="2659559"/>
            <a:ext cx="3727868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196F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门店执行清单</a:t>
            </a:r>
            <a:endParaRPr lang="en-US" sz="975" dirty="0"/>
          </a:p>
        </p:txBody>
      </p:sp>
      <p:sp>
        <p:nvSpPr>
          <p:cNvPr id="51" name="Text 46"/>
          <p:cNvSpPr/>
          <p:nvPr/>
        </p:nvSpPr>
        <p:spPr>
          <a:xfrm>
            <a:off x="5184428" y="2889945"/>
            <a:ext cx="372786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每桌贴万能码（扫码=入会+点餐）</a:t>
            </a:r>
            <a:endParaRPr lang="en-US" sz="825" dirty="0"/>
          </a:p>
        </p:txBody>
      </p:sp>
      <p:sp>
        <p:nvSpPr>
          <p:cNvPr id="52" name="Text 47"/>
          <p:cNvSpPr/>
          <p:nvPr/>
        </p:nvSpPr>
        <p:spPr>
          <a:xfrm>
            <a:off x="5184428" y="3074640"/>
            <a:ext cx="372786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收银台立牌展示储值方案</a:t>
            </a:r>
            <a:endParaRPr lang="en-US" sz="825" dirty="0"/>
          </a:p>
        </p:txBody>
      </p:sp>
      <p:sp>
        <p:nvSpPr>
          <p:cNvPr id="53" name="Text 48"/>
          <p:cNvSpPr/>
          <p:nvPr/>
        </p:nvSpPr>
        <p:spPr>
          <a:xfrm>
            <a:off x="5184428" y="3259336"/>
            <a:ext cx="372786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系统自动触达，店员无需操作</a:t>
            </a:r>
            <a:endParaRPr lang="en-US" sz="825" dirty="0"/>
          </a:p>
        </p:txBody>
      </p:sp>
      <p:sp>
        <p:nvSpPr>
          <p:cNvPr id="54" name="Text 49"/>
          <p:cNvSpPr/>
          <p:nvPr/>
        </p:nvSpPr>
        <p:spPr>
          <a:xfrm>
            <a:off x="5184428" y="3444032"/>
            <a:ext cx="372786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首月入会目标：300人</a:t>
            </a:r>
            <a:endParaRPr lang="en-US" sz="825" dirty="0"/>
          </a:p>
        </p:txBody>
      </p:sp>
      <p:pic>
        <p:nvPicPr>
          <p:cNvPr id="55" name="Image 3" descr="/tmp/rasterized-gradient-5b492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128" y="3781127"/>
            <a:ext cx="3883372" cy="828526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5128449" y="3876377"/>
            <a:ext cx="376673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复购率目标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5128449" y="4042023"/>
            <a:ext cx="3766730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35%+</a:t>
            </a:r>
            <a:endParaRPr lang="en-US" sz="1800" dirty="0"/>
          </a:p>
        </p:txBody>
      </p:sp>
      <p:sp>
        <p:nvSpPr>
          <p:cNvPr id="58" name="Text 52"/>
          <p:cNvSpPr/>
          <p:nvPr/>
        </p:nvSpPr>
        <p:spPr>
          <a:xfrm>
            <a:off x="5128449" y="4381054"/>
            <a:ext cx="376673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3个月内实现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221437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小程序 + 线上能力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494806" y="268635"/>
            <a:ext cx="201004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品牌专属入口 · 预点餐 · 外带自提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43310"/>
            <a:ext cx="4305300" cy="1921669"/>
          </a:xfrm>
          <a:prstGeom prst="roundRect">
            <a:avLst>
              <a:gd name="adj" fmla="val 396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376660"/>
            <a:ext cx="411937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 全引牛杂煲专属小程序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3850" y="1639491"/>
            <a:ext cx="411937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微信/支付宝/抖音多平台覆盖，品牌专属线上门店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3850" y="1894731"/>
            <a:ext cx="4038600" cy="1136898"/>
          </a:xfrm>
          <a:prstGeom prst="roundRect">
            <a:avLst>
              <a:gd name="adj" fmla="val 5027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9100" y="1989981"/>
            <a:ext cx="3925062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核心场景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9100" y="2207121"/>
            <a:ext cx="392506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🏢 </a:t>
            </a: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写字楼预点餐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电梯里下单，到店直接取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19100" y="2401342"/>
            <a:ext cx="392506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🏃 </a:t>
            </a: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午休外带自提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手机下单，到店免排队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9100" y="2595563"/>
            <a:ext cx="392506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🎁 </a:t>
            </a: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会员中心入口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储值/积分/券包一站式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9100" y="2789783"/>
            <a:ext cx="392506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75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📢 </a:t>
            </a: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新品推送渠道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推送触达已关注用户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90500" y="3260229"/>
            <a:ext cx="4305300" cy="1030486"/>
          </a:xfrm>
          <a:prstGeom prst="roundRect">
            <a:avLst>
              <a:gd name="adj" fmla="val 739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3393579"/>
            <a:ext cx="411937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🔗 写字楼场景闭环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3850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049" y="3732609"/>
            <a:ext cx="71408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049" y="3947815"/>
            <a:ext cx="7140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手机下单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214438" y="3813572"/>
            <a:ext cx="13601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85888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55087" y="3732609"/>
            <a:ext cx="71408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55087" y="3947815"/>
            <a:ext cx="7140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后厨制作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76475" y="3813572"/>
            <a:ext cx="13601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47925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17124" y="3732609"/>
            <a:ext cx="71408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17124" y="3947815"/>
            <a:ext cx="7140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完成通知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8513" y="3813572"/>
            <a:ext cx="13601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09963" y="3656409"/>
            <a:ext cx="852488" cy="500955"/>
          </a:xfrm>
          <a:prstGeom prst="roundRect">
            <a:avLst>
              <a:gd name="adj" fmla="val 11408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79162" y="3732609"/>
            <a:ext cx="714089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🏃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79162" y="3947815"/>
            <a:ext cx="71408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到店自提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48200" y="1692622"/>
            <a:ext cx="4305300" cy="2148780"/>
          </a:xfrm>
          <a:prstGeom prst="roundRect">
            <a:avLst>
              <a:gd name="adj" fmla="val 3546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1550" y="1825972"/>
            <a:ext cx="411937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小程序价值</a:t>
            </a:r>
            <a:endParaRPr lang="en-US" sz="1050" dirty="0"/>
          </a:p>
        </p:txBody>
      </p:sp>
      <p:pic>
        <p:nvPicPr>
          <p:cNvPr id="33" name="Image 0" descr="/tmp/rasterized-gradient-459da27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1550" y="2107853"/>
            <a:ext cx="342900" cy="3429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857899" y="2172593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⏰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00650" y="2123033"/>
            <a:ext cx="189998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减少等待时间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200650" y="2302073"/>
            <a:ext cx="18999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提前下单，到店即取，午餐时间压缩到5分钟</a:t>
            </a:r>
            <a:endParaRPr lang="en-US" sz="750" dirty="0"/>
          </a:p>
        </p:txBody>
      </p:sp>
      <p:pic>
        <p:nvPicPr>
          <p:cNvPr id="37" name="Image 1" descr="/tmp/rasterized-gradient-17dec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2526953"/>
            <a:ext cx="342900" cy="3429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57899" y="2591693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5200650" y="2542133"/>
            <a:ext cx="136017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提升翻台率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5200650" y="2721173"/>
            <a:ext cx="136017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预点餐分流午高峰，堂食不排队</a:t>
            </a:r>
            <a:endParaRPr lang="en-US" sz="750" dirty="0"/>
          </a:p>
        </p:txBody>
      </p:sp>
      <p:pic>
        <p:nvPicPr>
          <p:cNvPr id="41" name="Image 2" descr="/tmp/rasterized-gradient-3e737e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2946053"/>
            <a:ext cx="342900" cy="34290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4857899" y="3010793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👥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5200650" y="2961233"/>
            <a:ext cx="170841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沉淀私域用户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5200650" y="3140273"/>
            <a:ext cx="170841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关注小程序=永久触达渠道，不依赖平台</a:t>
            </a:r>
            <a:endParaRPr lang="en-US" sz="750" dirty="0"/>
          </a:p>
        </p:txBody>
      </p:sp>
      <p:pic>
        <p:nvPicPr>
          <p:cNvPr id="45" name="Image 3" descr="/tmp/rasterized-gradient-b0d591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3365153"/>
            <a:ext cx="342900" cy="34290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857899" y="3429893"/>
            <a:ext cx="19400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200650" y="3380333"/>
            <a:ext cx="1792206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零佣金自有渠道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200650" y="3559373"/>
            <a:ext cx="1792206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小程序订单不抽佣，比外卖平台省15-20%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开业营销节奏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904390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四阶段冷启动 · 新店30天生存战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/tmp/rasterized-gradient-fcfb4bf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140321"/>
            <a:ext cx="4343400" cy="1097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" y="1254621"/>
            <a:ext cx="415823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🔧 第一阶段 · 基建（开业前3天）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42900" y="1504057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收银系统上线+菜品录入（7大品类）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2900" y="1665982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扫码点餐+万能码部署（每桌贴码）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42900" y="1827907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外卖平台入驻配置（精选菜品上线）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2900" y="1989832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会员系统初始化（扫码零门槛入会）</a:t>
            </a:r>
            <a:endParaRPr lang="en-US" sz="750" dirty="0"/>
          </a:p>
        </p:txBody>
      </p:sp>
      <p:pic>
        <p:nvPicPr>
          <p:cNvPr id="11" name="Image 1" descr="/tmp/rasterized-gradient-2581fa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1140321"/>
            <a:ext cx="4343400" cy="1097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500" y="1254621"/>
            <a:ext cx="415823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🚀 第二阶段 · 冲量（第1-2周）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4762500" y="1504057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外卖全场8折+新客立减（冲日均50单）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4762500" y="1665982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门口展架：牛杂盖饭¥14.9·清补凉¥9.9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762500" y="1827907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扫码入会送小食（成本¥1，入会率80%+）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762500" y="1989832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好评卡随单附赠（冲首月50+好评）</a:t>
            </a:r>
            <a:endParaRPr lang="en-US" sz="750" dirty="0"/>
          </a:p>
        </p:txBody>
      </p:sp>
      <p:pic>
        <p:nvPicPr>
          <p:cNvPr id="17" name="Image 2" descr="/tmp/rasterized-gradient-b2e845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313682"/>
            <a:ext cx="4343400" cy="12590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2900" y="2427982"/>
            <a:ext cx="415823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第三阶段 · 养成（第3-6周）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342900" y="267741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恢复正常满减（满25减5），转利润导向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342900" y="2839343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推新品「牛杂煲套餐¥98」+「榴莲清补凉¥20」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342900" y="300126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开通外卖会员红包（复购客专享）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342900" y="3163193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启动储值：充100送15（第4周开始）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42900" y="332511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周四「牛杂日」+ 周五「清补凉日」培养习惯</a:t>
            </a:r>
            <a:endParaRPr lang="en-US" sz="750" dirty="0"/>
          </a:p>
        </p:txBody>
      </p:sp>
      <p:pic>
        <p:nvPicPr>
          <p:cNvPr id="24" name="Image 3" descr="/tmp/rasterized-gradient-5015a6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100" y="2313682"/>
            <a:ext cx="4343400" cy="12590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62500" y="2427982"/>
            <a:ext cx="415823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E57C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第四阶段 · 稳增（第7周起）</a:t>
            </a:r>
            <a:endParaRPr lang="en-US" sz="975" dirty="0"/>
          </a:p>
        </p:txBody>
      </p:sp>
      <p:sp>
        <p:nvSpPr>
          <p:cNvPr id="26" name="Text 20"/>
          <p:cNvSpPr/>
          <p:nvPr/>
        </p:nvSpPr>
        <p:spPr>
          <a:xfrm>
            <a:off x="4762500" y="267741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清补凉夏季攻势（招牌¥10起·榴莲冰沙¥28）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4762500" y="2839343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下午茶套餐：椰奶芋泥大满贯+串串¥18.9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4762500" y="300126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每月1-2个新品/新套餐保持活跃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4762500" y="3163193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会员系统自动巡航（沉睡唤醒持续运转）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4762500" y="3325118"/>
            <a:ext cx="415823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每周复盘外卖数据（曝光→进店→下单）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1905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266319" y="3744218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第1月目标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266319" y="3896618"/>
            <a:ext cx="198196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日均¥3,000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266319" y="4146054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外卖50单+会员200人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24003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2476119" y="3744218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第2月目标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2476119" y="3896618"/>
            <a:ext cx="198196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日均¥5,000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2476119" y="4146054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外卖80单+会员500人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46101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685919" y="3744218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第3月目标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4685919" y="3896618"/>
            <a:ext cx="198196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日均¥6,000+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4685919" y="4146054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外卖100单+会员800人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819900" y="3648968"/>
            <a:ext cx="2133600" cy="725686"/>
          </a:xfrm>
          <a:prstGeom prst="roundRect">
            <a:avLst>
              <a:gd name="adj" fmla="val 10500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895719" y="3744218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稳定期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895719" y="3896618"/>
            <a:ext cx="1981962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¥6-8K/日</a:t>
            </a:r>
            <a:endParaRPr lang="en-US" sz="1350" dirty="0"/>
          </a:p>
        </p:txBody>
      </p:sp>
      <p:sp>
        <p:nvSpPr>
          <p:cNvPr id="46" name="Text 40"/>
          <p:cNvSpPr/>
          <p:nvPr/>
        </p:nvSpPr>
        <p:spPr>
          <a:xfrm>
            <a:off x="6895719" y="4146054"/>
            <a:ext cx="198196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外卖120单+会员1000+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顾客体验设计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481158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峰终定律 · 让顾客记住你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18009"/>
            <a:ext cx="8763000" cy="337096"/>
          </a:xfrm>
          <a:prstGeom prst="roundRect">
            <a:avLst>
              <a:gd name="adj" fmla="val 2260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313259"/>
            <a:ext cx="866622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</a:t>
            </a: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峰终定律</a:t>
            </a: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（诺贝尔经济学奖得主卡尼曼提出）：人们对一段经历的记忆，主要由"最强烈时刻"和"结束时感受"决定。不用每个环节做到极致，把资源集中在两个点上，ROI最高。</a:t>
            </a:r>
            <a:endParaRPr lang="en-US" sz="825" dirty="0"/>
          </a:p>
        </p:txBody>
      </p:sp>
      <p:pic>
        <p:nvPicPr>
          <p:cNvPr id="7" name="Image 0" descr="/tmp/rasterized-gradient-0c08de5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1669405"/>
            <a:ext cx="4314825" cy="22333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425" y="1831330"/>
            <a:ext cx="407079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🔺 峰值体验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425" y="2082701"/>
            <a:ext cx="407079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铁板牛排滋滋 + 牛杂煲咕噜咕噜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52425" y="2351187"/>
            <a:ext cx="3990975" cy="776288"/>
          </a:xfrm>
          <a:prstGeom prst="roundRect">
            <a:avLst>
              <a:gd name="adj" fmla="val 7362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7675" y="2446437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铁板牛排冒烟滋滋响+牛杂煲翻滚咕噜——双重感官峰值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47675" y="2660749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扫码点餐标签：🔥「铁板现煎·牛杂现煲」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47675" y="2875062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包装印：「铁板余温+煲仔热气=现做的证据」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52425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0575" y="3298924"/>
            <a:ext cx="184108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0575" y="3531245"/>
            <a:ext cx="18410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额外成本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386013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444163" y="3298924"/>
            <a:ext cx="184108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+30%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444163" y="3531245"/>
            <a:ext cx="18410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拍照分享率</a:t>
            </a:r>
            <a:endParaRPr lang="en-US" sz="750" dirty="0"/>
          </a:p>
        </p:txBody>
      </p:sp>
      <p:pic>
        <p:nvPicPr>
          <p:cNvPr id="20" name="Image 1" descr="/tmp/rasterized-gradient-3cf8c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1669405"/>
            <a:ext cx="4314825" cy="22333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0600" y="1831330"/>
            <a:ext cx="4070794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🔚 终值体验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2082701"/>
            <a:ext cx="4070794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省钱反馈 + 清补凉试饮交叉体验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4800600" y="2351187"/>
            <a:ext cx="3990975" cy="776288"/>
          </a:xfrm>
          <a:prstGeom prst="roundRect">
            <a:avLst>
              <a:gd name="adj" fmla="val 7362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4895850" y="2446437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结账POS显示「本单省¥X」+ 牛杂客送清补凉试饮杯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4895850" y="2660749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收银台清补凉试饮（50ml），吃完牛杂来一口冰爽解腻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4895850" y="2875062"/>
            <a:ext cx="3876485" cy="1571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"赚到了+好清爽"双重好感，下次专门来买清补凉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4800600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58750" y="3298924"/>
            <a:ext cx="184108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¥25/天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58750" y="3531245"/>
            <a:ext cx="18410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试饮成本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834188" y="3222724"/>
            <a:ext cx="1957388" cy="518071"/>
          </a:xfrm>
          <a:prstGeom prst="roundRect">
            <a:avLst>
              <a:gd name="adj" fmla="val 11031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892338" y="3298924"/>
            <a:ext cx="1841087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+20%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892338" y="3531245"/>
            <a:ext cx="18410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清补凉加购率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90500" y="4017020"/>
            <a:ext cx="8763000" cy="298996"/>
          </a:xfrm>
          <a:prstGeom prst="roundRect">
            <a:avLst>
              <a:gd name="adj" fmla="val 2548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23850" y="4093220"/>
            <a:ext cx="1688979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⏱️ 落地难度：</a:t>
            </a:r>
            <a:r>
              <a:rPr lang="en-US" sz="82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老板/店员零额外操作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2132112" y="4093220"/>
            <a:ext cx="2081090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 总增加成本：</a:t>
            </a: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约¥25/天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（仅清补凉试饮）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4324796" y="4093220"/>
            <a:ext cx="219357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💡 原理：</a:t>
            </a:r>
            <a:r>
              <a:rPr lang="en-US" sz="825" b="1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两个点，最少的钱，最大的记忆效果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26969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KPI追踪表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68648" y="268635"/>
            <a:ext cx="175319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月度关键指标 · 数据驱动运营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321296"/>
            <a:ext cx="8763000" cy="2440037"/>
          </a:xfrm>
          <a:prstGeom prst="roundRect">
            <a:avLst>
              <a:gd name="adj" fmla="val 3123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454646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1511796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指标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409825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71809" y="1511796"/>
            <a:ext cx="14500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第1月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021931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83915" y="1511796"/>
            <a:ext cx="14500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第2月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634038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96021" y="1511796"/>
            <a:ext cx="14500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第3月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246144" y="1454646"/>
            <a:ext cx="1574006" cy="260896"/>
          </a:xfrm>
          <a:prstGeom prst="roundRect">
            <a:avLst>
              <a:gd name="adj" fmla="val 14604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08128" y="1511796"/>
            <a:ext cx="145003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稳定期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3850" y="1798439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050" y="1855589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📊 日均流水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409825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71809" y="184889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¥3,000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1931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83915" y="184889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¥5,000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34038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96021" y="184889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¥6,000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46144" y="179174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08128" y="184889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¥6-8K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3850" y="2110829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0050" y="2167979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📦 外卖日单量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409825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71809" y="216128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1931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83915" y="216128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34038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96021" y="216128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6144" y="210413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08128" y="216128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100-120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3850" y="242322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00050" y="2480370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👥 会员数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409825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471809" y="247367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200人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21931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083915" y="247367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500人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34038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696021" y="247367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800人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46144" y="2416522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08128" y="2473672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1,000+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3850" y="273561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00050" y="2792760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💳 月储值额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2409825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471809" y="278606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21931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083915" y="278606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¥5,000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34038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96021" y="278606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¥8,000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46144" y="272891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08128" y="278606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¥10K+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3850" y="304800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00050" y="3105150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⭐ 外卖评分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2409825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471809" y="309845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4.7+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021931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083915" y="309845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4.8+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34038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696021" y="309845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4.8+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46144" y="304130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08128" y="309845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4.8+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3850" y="3360390"/>
            <a:ext cx="2047875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00050" y="3417540"/>
            <a:ext cx="1933385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🔄 会员复购率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2409825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471809" y="341084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021931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083915" y="341084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634038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696021" y="341084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246144" y="3353693"/>
            <a:ext cx="1574006" cy="274290"/>
          </a:xfrm>
          <a:prstGeom prst="roundRect">
            <a:avLst>
              <a:gd name="adj" fmla="val 1389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308128" y="3410843"/>
            <a:ext cx="1450038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35%+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90500" y="3875633"/>
            <a:ext cx="8763000" cy="337096"/>
          </a:xfrm>
          <a:prstGeom prst="roundRect">
            <a:avLst>
              <a:gd name="adj" fmla="val 2260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23850" y="3970883"/>
            <a:ext cx="866622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</a:t>
            </a:r>
            <a:r>
              <a:rPr lang="en-US" sz="825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数据复盘节奏</a:t>
            </a: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：日看流水/单量 → 周看外卖转化（曝光→进店→下单） → 月看会员/储值/复购大盘 → 季度调整品类和营销策略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1632204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投资回报分析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924050" y="268635"/>
            <a:ext cx="1390835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高级营销版 · ¥6,288/年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571500"/>
            <a:ext cx="571500" cy="28575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0500" y="1237506"/>
            <a:ext cx="4314825" cy="2098774"/>
          </a:xfrm>
          <a:prstGeom prst="roundRect">
            <a:avLst>
              <a:gd name="adj" fmla="val 3631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4800" y="1351806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📋 推荐方案：高级营销版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601242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1658392"/>
            <a:ext cx="286364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主收银系统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302794" y="1601242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60277" y="1658392"/>
            <a:ext cx="95454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¥3,688/年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1900238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1957388"/>
            <a:ext cx="286364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多平台经营专家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02794" y="1900238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60277" y="1957388"/>
            <a:ext cx="95454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¥1,488/年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4800" y="2199233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1000" y="2256383"/>
            <a:ext cx="286364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zh-CN" alt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旗舰</a:t>
            </a: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02794" y="2199233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60277" y="2256383"/>
            <a:ext cx="95454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¥2,688/年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2498229"/>
            <a:ext cx="2959894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1000" y="2555379"/>
            <a:ext cx="2863644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小程序服务包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302794" y="2498229"/>
            <a:ext cx="1088231" cy="260896"/>
          </a:xfrm>
          <a:prstGeom prst="roundRect">
            <a:avLst>
              <a:gd name="adj" fmla="val 14604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0277" y="2555379"/>
            <a:ext cx="954548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¥1,888/年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304800" y="2801987"/>
            <a:ext cx="4086225" cy="0"/>
          </a:xfrm>
          <a:prstGeom prst="line">
            <a:avLst/>
          </a:prstGeom>
          <a:noFill/>
          <a:ln w="9525">
            <a:solidFill>
              <a:srgbClr val="44445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4800" y="2883843"/>
            <a:ext cx="3096816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套餐原价 </a:t>
            </a: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¥9,752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358753" y="2863900"/>
            <a:ext cx="1032272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¥6,288/年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4800" y="3088630"/>
            <a:ext cx="41679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促销活动价，省¥3,464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0500" y="3412480"/>
            <a:ext cx="4314825" cy="864840"/>
          </a:xfrm>
          <a:prstGeom prst="roundRect">
            <a:avLst>
              <a:gd name="adj" fmla="val 8811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4800" y="3507730"/>
            <a:ext cx="416795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可选加购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4800" y="3724870"/>
            <a:ext cx="41679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饿了么外卖接单 </a:t>
            </a: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¥200/年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4800" y="3886795"/>
            <a:ext cx="41679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后厨KDS </a:t>
            </a: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¥1,088/年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4800" y="4048720"/>
            <a:ext cx="4167950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评价专家 </a:t>
            </a:r>
            <a:r>
              <a:rPr lang="en-US" sz="75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¥698/年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8675" y="1032867"/>
            <a:ext cx="4314825" cy="1988344"/>
          </a:xfrm>
          <a:prstGeom prst="roundRect">
            <a:avLst>
              <a:gd name="adj" fmla="val 3832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2975" y="1147167"/>
            <a:ext cx="416795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📈 月增收益测算（稳定期）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52975" y="1396603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9175" y="153084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43475" y="1486049"/>
            <a:ext cx="337750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扫码点餐提效（多接15%客流）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8311902" y="1472803"/>
            <a:ext cx="46012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+¥3,000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752975" y="1779389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9175" y="191363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980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43475" y="1868835"/>
            <a:ext cx="3307217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外卖渠道增利（80单×¥25×20%）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8242995" y="1855589"/>
            <a:ext cx="53040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98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+¥12,000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752975" y="2162175"/>
            <a:ext cx="4086225" cy="325636"/>
          </a:xfrm>
          <a:prstGeom prst="roundRect">
            <a:avLst>
              <a:gd name="adj" fmla="val 17550"/>
            </a:avLst>
          </a:prstGeom>
          <a:solidFill>
            <a:srgbClr val="33334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29175" y="229641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4CAF5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43475" y="2251621"/>
            <a:ext cx="3377502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会员复购增量（500人×2次×¥25×30%）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8311902" y="2238375"/>
            <a:ext cx="460120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CAF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+¥7,500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4752975" y="2554486"/>
            <a:ext cx="4086225" cy="0"/>
          </a:xfrm>
          <a:prstGeom prst="line">
            <a:avLst/>
          </a:prstGeom>
          <a:noFill/>
          <a:ln w="19050">
            <a:solidFill>
              <a:srgbClr val="D4A57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752975" y="2693491"/>
            <a:ext cx="3061749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月增量利润（保守）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07089" y="2640211"/>
            <a:ext cx="950753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¥22,500/月</a:t>
            </a:r>
            <a:endParaRPr lang="en-US" sz="1500" dirty="0"/>
          </a:p>
        </p:txBody>
      </p:sp>
      <p:pic>
        <p:nvPicPr>
          <p:cNvPr id="49" name="Image 0" descr="/tmp/rasterized-gradient-2916d67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3097411"/>
            <a:ext cx="4314825" cy="1384697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741259" y="3240286"/>
            <a:ext cx="4109657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总投入 ¥6,288 ÷ 月增利润 ¥22,500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4741259" y="3444032"/>
            <a:ext cx="410965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回本周期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4741259" y="3668762"/>
            <a:ext cx="4109657" cy="4799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C41E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约8天</a:t>
            </a:r>
            <a:endParaRPr lang="en-US" sz="2700" dirty="0"/>
          </a:p>
        </p:txBody>
      </p:sp>
      <p:sp>
        <p:nvSpPr>
          <p:cNvPr id="53" name="Text 50"/>
          <p:cNvSpPr/>
          <p:nvPr/>
        </p:nvSpPr>
        <p:spPr>
          <a:xfrm>
            <a:off x="4741259" y="4205883"/>
            <a:ext cx="410965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第二年起仅续费软件，ROI更高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233636"/>
            <a:ext cx="762000" cy="38100"/>
          </a:xfrm>
          <a:prstGeom prst="rect">
            <a:avLst/>
          </a:prstGeom>
          <a:solidFill>
            <a:srgbClr val="C41E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352008" y="1462236"/>
            <a:ext cx="4439984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全引牛杂煲 × 美团收银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41732" y="1919436"/>
            <a:ext cx="8860536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D4A57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牛杂煲的热气 × 清补凉的冰爽 × 数字化的温度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73685" y="2603153"/>
            <a:ext cx="707827" cy="914102"/>
          </a:xfrm>
          <a:prstGeom prst="roundRect">
            <a:avLst>
              <a:gd name="adj" fmla="val 1076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73685" y="2617440"/>
            <a:ext cx="707827" cy="0"/>
          </a:xfrm>
          <a:prstGeom prst="line">
            <a:avLst/>
          </a:prstGeom>
          <a:noFill/>
          <a:ln w="28575">
            <a:solidFill>
              <a:srgbClr val="C41E3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683192" y="2746028"/>
            <a:ext cx="48881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83192" y="2997398"/>
            <a:ext cx="48881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智能点餐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683192" y="3163044"/>
            <a:ext cx="488811" cy="2399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扫码40秒下单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395811" y="2663130"/>
            <a:ext cx="707975" cy="794147"/>
          </a:xfrm>
          <a:prstGeom prst="roundRect">
            <a:avLst>
              <a:gd name="adj" fmla="val 10763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95811" y="2677418"/>
            <a:ext cx="707975" cy="0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05318" y="2806005"/>
            <a:ext cx="488963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5318" y="3057376"/>
            <a:ext cx="488963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外卖起量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505318" y="3223022"/>
            <a:ext cx="488963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日均100单+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218087" y="2663130"/>
            <a:ext cx="707827" cy="794147"/>
          </a:xfrm>
          <a:prstGeom prst="roundRect">
            <a:avLst>
              <a:gd name="adj" fmla="val 1076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218087" y="2677418"/>
            <a:ext cx="707827" cy="0"/>
          </a:xfrm>
          <a:prstGeom prst="line">
            <a:avLst/>
          </a:prstGeom>
          <a:noFill/>
          <a:ln w="28575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27594" y="2806005"/>
            <a:ext cx="48881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27594" y="3057376"/>
            <a:ext cx="48881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会员复购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327594" y="3223022"/>
            <a:ext cx="488811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复购率35%+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5040213" y="2589907"/>
            <a:ext cx="707827" cy="940743"/>
          </a:xfrm>
          <a:prstGeom prst="roundRect">
            <a:avLst>
              <a:gd name="adj" fmla="val 1076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40213" y="2604195"/>
            <a:ext cx="707827" cy="0"/>
          </a:xfrm>
          <a:prstGeom prst="line">
            <a:avLst/>
          </a:prstGeom>
          <a:noFill/>
          <a:ln w="28575">
            <a:solidFill>
              <a:srgbClr val="D4A57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49721" y="2732782"/>
            <a:ext cx="48881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49721" y="2984153"/>
            <a:ext cx="488811" cy="2931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全时段运营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149721" y="3296394"/>
            <a:ext cx="488811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牛杂煲+清补凉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5862340" y="2663130"/>
            <a:ext cx="707827" cy="794147"/>
          </a:xfrm>
          <a:prstGeom prst="roundRect">
            <a:avLst>
              <a:gd name="adj" fmla="val 10765"/>
            </a:avLst>
          </a:prstGeom>
          <a:solidFill>
            <a:srgbClr val="2A2A3E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862340" y="2677418"/>
            <a:ext cx="707827" cy="0"/>
          </a:xfrm>
          <a:prstGeom prst="line">
            <a:avLst/>
          </a:prstGeom>
          <a:noFill/>
          <a:ln w="28575">
            <a:solidFill>
              <a:srgbClr val="7E57C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71848" y="2806005"/>
            <a:ext cx="488811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71848" y="3057376"/>
            <a:ext cx="488811" cy="1465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0E6D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快速回本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971848" y="3223022"/>
            <a:ext cx="488811" cy="119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约8天回本</a:t>
            </a:r>
            <a:endParaRPr lang="en-US" sz="675" dirty="0"/>
          </a:p>
        </p:txBody>
      </p:sp>
      <p:pic>
        <p:nvPicPr>
          <p:cNvPr id="30" name="Image 0" descr="/tmp/rasterized-gradient-9841a5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949750"/>
            <a:ext cx="1143000" cy="952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3969487" y="4225975"/>
            <a:ext cx="1205026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A09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美团餐饮SaaS · 陈国庆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3668</Words>
  <Application>WPS 演示</Application>
  <PresentationFormat>On-screen Show (16:9)</PresentationFormat>
  <Paragraphs>696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全引牛排 · 数字化经营解决方案</dc:title>
  <dc:creator>大橘🍊 × 美团餐饮SaaS</dc:creator>
  <dc:subject>PptxGenJS Presentation</dc:subject>
  <cp:lastModifiedBy>陈某</cp:lastModifiedBy>
  <cp:revision>2</cp:revision>
  <dcterms:created xsi:type="dcterms:W3CDTF">2026-04-23T13:51:00Z</dcterms:created>
  <dcterms:modified xsi:type="dcterms:W3CDTF">2026-04-24T06:22:17Z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全引牛杂煲_解决方案_v2.pptx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370c1e8fdbdf5751e5668ea82fefc273d22ccae3</vt:lpwstr>
  </property>
  <property fmtid="{D5CDD505-2E9C-101B-9397-08002B2CF9AE}" pid="7" name="KSOProductBuildVer">
    <vt:lpwstr>2052-12.1.0.25865</vt:lpwstr>
  </property>
  <property fmtid="{D5CDD505-2E9C-101B-9397-08002B2CF9AE}" pid="8" name="ICV">
    <vt:lpwstr>77DBC816624C404DAD0161EC3ABD1ED5_12</vt:lpwstr>
  </property>
</Properties>
</file>