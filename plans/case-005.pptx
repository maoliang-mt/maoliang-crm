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476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98573" y="666750"/>
            <a:ext cx="4546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鱼虾有约江湖大排档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19500" y="12763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35287" y="2668042"/>
            <a:ext cx="22734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数字化经营解决方案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1000" y="3178522"/>
            <a:ext cx="762000" cy="1905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49933" y="3388072"/>
            <a:ext cx="26441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 | 餐饮SaaS解决方案 | 2026年4月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门店画像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鱼虾有约江湖大排档 | 杭州笕桥街道兴业街126号 | 川菜/烤鱼/烧烤/小龙虾/炒菜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2072729"/>
            <a:ext cx="2005013" cy="1034207"/>
          </a:xfrm>
          <a:prstGeom prst="roundRect">
            <a:avLst>
              <a:gd name="adj" fmla="val 7368"/>
            </a:avLst>
          </a:prstGeom>
          <a:solidFill>
            <a:srgbClr val="C62828">
              <a:alpha val="15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3956" y="2234654"/>
            <a:ext cx="111895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1.2-1.6万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69765" y="2798415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日均流水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500313" y="2072729"/>
            <a:ext cx="2005013" cy="1034207"/>
          </a:xfrm>
          <a:prstGeom prst="roundRect">
            <a:avLst>
              <a:gd name="adj" fmla="val 7368"/>
            </a:avLst>
          </a:prstGeom>
          <a:solidFill>
            <a:srgbClr val="C62828">
              <a:alpha val="15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67518" y="2234654"/>
            <a:ext cx="127045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100-150元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342513" y="2798415"/>
            <a:ext cx="320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客单价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19625" y="2072729"/>
            <a:ext cx="2005013" cy="1034207"/>
          </a:xfrm>
          <a:prstGeom prst="roundRect">
            <a:avLst>
              <a:gd name="adj" fmla="val 7368"/>
            </a:avLst>
          </a:prstGeom>
          <a:solidFill>
            <a:srgbClr val="C62828">
              <a:alpha val="15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02241" y="2234654"/>
            <a:ext cx="8396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~3,360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01520" y="2798415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月均消费人次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738938" y="2063204"/>
            <a:ext cx="2024062" cy="1053257"/>
          </a:xfrm>
          <a:prstGeom prst="roundRect">
            <a:avLst>
              <a:gd name="adj" fmla="val 7235"/>
            </a:avLst>
          </a:prstGeom>
          <a:solidFill>
            <a:srgbClr val="C62828">
              <a:alpha val="30000"/>
            </a:srgbClr>
          </a:solidFill>
          <a:ln w="19050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89634" y="2234654"/>
            <a:ext cx="92266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10.09%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33243" y="2798415"/>
            <a:ext cx="63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 (警示)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230761"/>
            <a:ext cx="8382000" cy="479971"/>
          </a:xfrm>
          <a:prstGeom prst="roundRect">
            <a:avLst>
              <a:gd name="adj" fmla="val 15876"/>
            </a:avLst>
          </a:prstGeom>
          <a:solidFill>
            <a:srgbClr val="FF8F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230761"/>
            <a:ext cx="0" cy="479971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3364111"/>
            <a:ext cx="81221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诊断：流水健康但留不住人——86%新客一次消费后再也不来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3825032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数据来源：美团经营数据分析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五大核心问题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痛点深度诊断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799481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E5393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99481"/>
            <a:ext cx="0" cy="363736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94731"/>
            <a:ext cx="842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 10.09%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492597" y="1901279"/>
            <a:ext cx="25062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行业健康值 ≥25%，每月近300新客流失不再回头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239417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E5393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239417"/>
            <a:ext cx="0" cy="363736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334667"/>
            <a:ext cx="7722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流失率 86.4%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423839" y="2341215"/>
            <a:ext cx="18139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行业警戒线50%，远超警戒线近2倍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679353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FF8F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679353"/>
            <a:ext cx="0" cy="363736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2774603"/>
            <a:ext cx="62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 4.1 分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79178" y="2781151"/>
            <a:ext cx="2073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商圈均值4.3，差0.2分严重影响曝光排名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119289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FF8F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19289"/>
            <a:ext cx="0" cy="363736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3214539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品类优势未发挥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533525" y="3221087"/>
            <a:ext cx="27787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烤鱼/烧烤/小龙虾/炒菜四大品类各自为战，未形成合力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559225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FF8F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559225"/>
            <a:ext cx="0" cy="363736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" y="3654475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无会员沉淀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85875" y="3661023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来了就走，无法精准触达，缺乏数字化会员体系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被低估的五大优势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机遇与优势分析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799481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4CAF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99481"/>
            <a:ext cx="0" cy="3637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94731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基础盘健康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285875" y="1901279"/>
            <a:ext cx="19951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日均流水1.2-1.6万，经营底盘扎实稳定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239417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4CAF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239417"/>
            <a:ext cx="0" cy="3637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334667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客单有升级空间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533525" y="2341215"/>
            <a:ext cx="252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客单100-150元，大排档品类具备向上升级的潜力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679353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4CAF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679353"/>
            <a:ext cx="0" cy="3637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2774603"/>
            <a:ext cx="7578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流量入口优质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09700" y="2781151"/>
            <a:ext cx="1826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月均294新客稳定进店，流量基础好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119289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4CAF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19289"/>
            <a:ext cx="0" cy="3637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3214539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四品类稀缺优势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533525" y="3221087"/>
            <a:ext cx="30543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烤鱼+烧烤+小龙虾+炒菜四品类齐全，竞品通常仅1-2个品类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559225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4CAF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559225"/>
            <a:ext cx="0" cy="363736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" y="3654475"/>
            <a:ext cx="814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SaaS工具齐全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465064" y="3661023"/>
            <a:ext cx="34687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已签约：会员旗舰版+万能码+扫码点餐+智能储值，工具齐全待激活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六大模块 · 系统化解决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解决方案总览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95550" y="170497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3615" y="185737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833878" y="2341215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12655" y="2032546"/>
            <a:ext cx="2137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000500" y="170497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38565" y="185737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280535" y="2341215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万能码入口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7605" y="2032546"/>
            <a:ext cx="2137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05450" y="170497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515" y="185737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843778" y="2341215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会员沉淀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5550" y="280600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33615" y="29584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833878" y="3442246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智能储值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655" y="3133576"/>
            <a:ext cx="2137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000500" y="280600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38565" y="29584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🦞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338828" y="3442246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当季主推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7605" y="3133576"/>
            <a:ext cx="2137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505450" y="2806005"/>
            <a:ext cx="1143000" cy="948630"/>
          </a:xfrm>
          <a:prstGeom prst="roundRect">
            <a:avLst>
              <a:gd name="adj" fmla="val 8033"/>
            </a:avLst>
          </a:prstGeom>
          <a:solidFill>
            <a:srgbClr val="C62828">
              <a:alpha val="2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43515" y="295840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843778" y="3442246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峰终体验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2084" y="3907036"/>
            <a:ext cx="2459831" cy="396180"/>
          </a:xfrm>
          <a:prstGeom prst="roundRect">
            <a:avLst>
              <a:gd name="adj" fmla="val 19234"/>
            </a:avLst>
          </a:prstGeom>
          <a:solidFill>
            <a:srgbClr val="FF8F00">
              <a:alpha val="10000"/>
            </a:srgbClr>
          </a:solidFill>
          <a:ln w="9525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21512" y="4011811"/>
            <a:ext cx="21009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全部基于已签约SaaS，零额外采购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美团收银系统：专为大排档场景设计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728936"/>
            <a:ext cx="2009775" cy="2066479"/>
          </a:xfrm>
          <a:prstGeom prst="roundRect">
            <a:avLst>
              <a:gd name="adj" fmla="val 3791"/>
            </a:avLst>
          </a:prstGeom>
          <a:solidFill>
            <a:srgbClr val="C62828">
              <a:alpha val="12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6635" y="1871811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6635" y="2454622"/>
            <a:ext cx="1758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6635" y="285080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四品类分区展示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06635" y="317837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客人自主下单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6635" y="350594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省1-2名服务员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505075" y="1728936"/>
            <a:ext cx="2009775" cy="2066479"/>
          </a:xfrm>
          <a:prstGeom prst="roundRect">
            <a:avLst>
              <a:gd name="adj" fmla="val 3791"/>
            </a:avLst>
          </a:prstGeom>
          <a:solidFill>
            <a:srgbClr val="C62828">
              <a:alpha val="12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0710" y="1871811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630710" y="2454622"/>
            <a:ext cx="1758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万能码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0710" y="285080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一码通扫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630710" y="317837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入会+点餐+领券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30710" y="350594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桌面最佳入口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29150" y="1728936"/>
            <a:ext cx="2009775" cy="2066479"/>
          </a:xfrm>
          <a:prstGeom prst="roundRect">
            <a:avLst>
              <a:gd name="adj" fmla="val 3791"/>
            </a:avLst>
          </a:prstGeom>
          <a:solidFill>
            <a:srgbClr val="C62828">
              <a:alpha val="12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4785" y="1871811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54785" y="2454622"/>
            <a:ext cx="1758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后厨管理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785" y="285080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按桌号合并出餐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54785" y="317837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满桌江湖式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54785" y="350594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集中传菜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753225" y="1728936"/>
            <a:ext cx="2009775" cy="2066479"/>
          </a:xfrm>
          <a:prstGeom prst="roundRect">
            <a:avLst>
              <a:gd name="adj" fmla="val 3791"/>
            </a:avLst>
          </a:prstGeom>
          <a:solidFill>
            <a:srgbClr val="C62828">
              <a:alpha val="12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78860" y="1871811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878860" y="2454622"/>
            <a:ext cx="1758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经营数据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78860" y="285080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手机实时看流水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878860" y="317837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菜品排行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878860" y="350594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客单变化追踪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7994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智能储值：系统自动推荐，零人力成本锁客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607046"/>
            <a:ext cx="2692301" cy="2489448"/>
          </a:xfrm>
          <a:prstGeom prst="roundRect">
            <a:avLst>
              <a:gd name="adj" fmla="val 3061"/>
            </a:avLst>
          </a:prstGeom>
          <a:solidFill>
            <a:srgbClr val="A1887F">
              <a:alpha val="15000"/>
            </a:srgbClr>
          </a:solidFill>
          <a:ln w="19050">
            <a:solidFill>
              <a:srgbClr val="A188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57433" y="179754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93978" y="2380357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A1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6819" y="2822228"/>
            <a:ext cx="13006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充500送50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4966" y="3405039"/>
            <a:ext cx="5442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 9.1折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35191" y="3746004"/>
            <a:ext cx="7839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 3-5次消费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25701" y="1419374"/>
            <a:ext cx="2692450" cy="2864644"/>
          </a:xfrm>
          <a:prstGeom prst="roundRect">
            <a:avLst>
              <a:gd name="adj" fmla="val 2830"/>
            </a:avLst>
          </a:prstGeom>
          <a:solidFill>
            <a:srgbClr val="FF8F00">
              <a:alpha val="15000"/>
            </a:srgbClr>
          </a:solidFill>
          <a:ln w="19050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71826" y="1609874"/>
            <a:ext cx="400050" cy="184696"/>
          </a:xfrm>
          <a:prstGeom prst="roundRect">
            <a:avLst>
              <a:gd name="adj" fmla="val 20628"/>
            </a:avLst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64981" y="1628924"/>
            <a:ext cx="213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主推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402134" y="198507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338679" y="2567880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常客档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70321" y="3009751"/>
            <a:ext cx="160320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充1000送120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299816" y="3592562"/>
            <a:ext cx="5442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 8.9折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47556" y="3933527"/>
            <a:ext cx="8487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 7-10次消费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70550" y="1607046"/>
            <a:ext cx="2692450" cy="2489448"/>
          </a:xfrm>
          <a:prstGeom prst="roundRect">
            <a:avLst>
              <a:gd name="adj" fmla="val 3061"/>
            </a:avLst>
          </a:prstGeom>
          <a:solidFill>
            <a:srgbClr val="FFC107">
              <a:alpha val="12000"/>
            </a:srgbClr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46983" y="179754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183529" y="2380357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铁粉档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15171" y="2822228"/>
            <a:ext cx="160320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充2000送300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144665" y="3405039"/>
            <a:ext cx="5442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 8.7折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59920" y="3746004"/>
            <a:ext cx="9135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 15-20次消费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5760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储值全自动流程：从结账到锁客只需30秒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执行流程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711672"/>
            <a:ext cx="1838325" cy="1007566"/>
          </a:xfrm>
          <a:prstGeom prst="roundRect">
            <a:avLst>
              <a:gd name="adj" fmla="val 7563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54583" y="187359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560" y="2384078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顾客结账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276475" y="205546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2225" y="1711672"/>
            <a:ext cx="1838325" cy="1007566"/>
          </a:xfrm>
          <a:prstGeom prst="roundRect">
            <a:avLst>
              <a:gd name="adj" fmla="val 7563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5808" y="187359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2483" y="2384078"/>
            <a:ext cx="7578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系统弹出推荐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457700" y="205546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43450" y="1711672"/>
            <a:ext cx="1838325" cy="1007566"/>
          </a:xfrm>
          <a:prstGeom prst="roundRect">
            <a:avLst>
              <a:gd name="adj" fmla="val 7563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7033" y="187359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66099" y="2384078"/>
            <a:ext cx="79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选择充值/关闭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638925" y="205546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24675" y="1711672"/>
            <a:ext cx="1838325" cy="1007566"/>
          </a:xfrm>
          <a:prstGeom prst="roundRect">
            <a:avLst>
              <a:gd name="adj" fmla="val 7563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98258" y="187359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64933" y="2384078"/>
            <a:ext cx="7578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余额自动抵扣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81000" y="2871639"/>
            <a:ext cx="2717750" cy="1101030"/>
          </a:xfrm>
          <a:prstGeom prst="roundRect">
            <a:avLst>
              <a:gd name="adj" fmla="val 6921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86776" y="3033564"/>
            <a:ext cx="110604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10-30万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48336" y="3650754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月新增储值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13050" y="2871639"/>
            <a:ext cx="2717899" cy="1101030"/>
          </a:xfrm>
          <a:prstGeom prst="roundRect">
            <a:avLst>
              <a:gd name="adj" fmla="val 6921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36131" y="3033564"/>
            <a:ext cx="10715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280535" y="3650754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储值转化率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45250" y="2871639"/>
            <a:ext cx="2717750" cy="1101030"/>
          </a:xfrm>
          <a:prstGeom prst="roundRect">
            <a:avLst>
              <a:gd name="adj" fmla="val 6921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64648" y="3033564"/>
            <a:ext cx="127895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60-120万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80099" y="3650754"/>
            <a:ext cx="6479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6个月储值池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四级会员体系：留住每一个回头客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会员等级设计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973610"/>
            <a:ext cx="2005013" cy="1756172"/>
          </a:xfrm>
          <a:prstGeom prst="roundRect">
            <a:avLst>
              <a:gd name="adj" fmla="val 4339"/>
            </a:avLst>
          </a:prstGeom>
          <a:solidFill>
            <a:srgbClr val="BDBDBD">
              <a:alpha val="8000"/>
            </a:srgbClr>
          </a:solidFill>
          <a:ln w="9525">
            <a:solidFill>
              <a:srgbClr val="6161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7820" y="2116485"/>
            <a:ext cx="1831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普通会员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93006" y="2531715"/>
            <a:ext cx="381000" cy="19050"/>
          </a:xfrm>
          <a:prstGeom prst="roundRect">
            <a:avLst>
              <a:gd name="adj" fmla="val 50000"/>
            </a:avLst>
          </a:prstGeom>
          <a:solidFill>
            <a:srgbClr val="6161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7820" y="2779365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扫码即享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7820" y="3116461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 1倍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7820" y="3453557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基础权益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00313" y="2002185"/>
            <a:ext cx="2005013" cy="1699022"/>
          </a:xfrm>
          <a:prstGeom prst="roundRect">
            <a:avLst>
              <a:gd name="adj" fmla="val 4485"/>
            </a:avLst>
          </a:prstGeom>
          <a:solidFill>
            <a:srgbClr val="B0BEC5">
              <a:alpha val="10000"/>
            </a:srgbClr>
          </a:solidFill>
          <a:ln w="9525">
            <a:solidFill>
              <a:srgbClr val="90A4A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87133" y="2145060"/>
            <a:ext cx="1831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银卡会员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87133" y="2503140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累计1000元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12319" y="284604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90A4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7133" y="3074640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 1.5倍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587133" y="3411736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月度专属券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19625" y="2002185"/>
            <a:ext cx="2005013" cy="1699022"/>
          </a:xfrm>
          <a:prstGeom prst="roundRect">
            <a:avLst>
              <a:gd name="adj" fmla="val 4485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06445" y="2145060"/>
            <a:ext cx="1831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金卡会员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6445" y="2503140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累计3000元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31631" y="284604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06445" y="3074640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 2倍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706445" y="3411736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月度券+优先排位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738938" y="1992660"/>
            <a:ext cx="2024062" cy="1718072"/>
          </a:xfrm>
          <a:prstGeom prst="roundRect">
            <a:avLst>
              <a:gd name="adj" fmla="val 4435"/>
            </a:avLst>
          </a:prstGeom>
          <a:solidFill>
            <a:srgbClr val="C62828">
              <a:alpha val="15000"/>
            </a:srgbClr>
          </a:solidFill>
          <a:ln w="19050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35283" y="2145060"/>
            <a:ext cx="1831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黑金会员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35283" y="2503140"/>
            <a:ext cx="1831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累计8000元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60469" y="284604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35283" y="3074640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 3倍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835283" y="3411736"/>
            <a:ext cx="1831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月度券+新菜试吃权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428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会员自动触达：系统替你"追"回头客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自动化召回策略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075432"/>
            <a:ext cx="8382000" cy="948630"/>
          </a:xfrm>
          <a:prstGeom prst="roundRect">
            <a:avLst>
              <a:gd name="adj" fmla="val 8033"/>
            </a:avLst>
          </a:prstGeom>
          <a:solidFill>
            <a:srgbClr val="4CAF50">
              <a:alpha val="12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0468" y="1237357"/>
            <a:ext cx="3629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6293" y="172878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未到店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495425" y="1359247"/>
            <a:ext cx="19050" cy="3810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66875" y="1287810"/>
            <a:ext cx="70340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自动推送"想你了"关怀券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6875" y="1664940"/>
            <a:ext cx="7034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温柔召回，维护情感连接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157413"/>
            <a:ext cx="8382000" cy="948630"/>
          </a:xfrm>
          <a:prstGeom prst="roundRect">
            <a:avLst>
              <a:gd name="adj" fmla="val 8033"/>
            </a:avLst>
          </a:prstGeom>
          <a:solidFill>
            <a:srgbClr val="FF8F00">
              <a:alpha val="12000"/>
            </a:srgbClr>
          </a:solidFill>
          <a:ln w="9525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5647" y="2319338"/>
            <a:ext cx="492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6293" y="28107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未到店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5425" y="2441228"/>
            <a:ext cx="19050" cy="381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66875" y="2369790"/>
            <a:ext cx="70340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推送限时折扣券（加大力度）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66875" y="2746921"/>
            <a:ext cx="7034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紧迫感驱动，提升召回概率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239393"/>
            <a:ext cx="8382000" cy="948630"/>
          </a:xfrm>
          <a:prstGeom prst="roundRect">
            <a:avLst>
              <a:gd name="adj" fmla="val 8033"/>
            </a:avLst>
          </a:prstGeom>
          <a:solidFill>
            <a:srgbClr val="E53935">
              <a:alpha val="12000"/>
            </a:srgbClr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5647" y="3401318"/>
            <a:ext cx="492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6293" y="389274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未到店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95425" y="3523208"/>
            <a:ext cx="19050" cy="3810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66875" y="3451771"/>
            <a:ext cx="70340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推送大额回归礼包（最后一搏）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66875" y="3828901"/>
            <a:ext cx="70340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重磅优惠，挽回流失边缘客户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321373"/>
            <a:ext cx="8382000" cy="325636"/>
          </a:xfrm>
          <a:prstGeom prst="roundRect">
            <a:avLst>
              <a:gd name="adj" fmla="val 23400"/>
            </a:avLst>
          </a:prstGeom>
          <a:solidFill>
            <a:srgbClr val="FF8F0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628" y="4397573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全自动运行，零人力成本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94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四品类轮番主推：一年四季都有新鲜感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当季主推策略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E53935">
              <a:alpha val="15000"/>
            </a:srgbClr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3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🦞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05205" y="2570857"/>
            <a:ext cx="285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4009" y="2902297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小龙虾季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7907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FF8F00">
              <a:alpha val="15000"/>
            </a:srgbClr>
          </a:solidFill>
          <a:ln w="9525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240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314905" y="2570857"/>
            <a:ext cx="285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59002" y="2902297"/>
            <a:ext cx="596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烧烤+啤酒季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004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FFC107">
              <a:alpha val="12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337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🐟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92119" y="2570857"/>
            <a:ext cx="350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9-10月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6844" y="2902297"/>
            <a:ext cx="320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烤鱼季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101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C62828">
              <a:alpha val="12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4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🍲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072673" y="2570857"/>
            <a:ext cx="408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78402" y="2902297"/>
            <a:ext cx="596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炒菜+汤锅季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198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E53935">
              <a:alpha val="12000"/>
            </a:srgbClr>
          </a:solidFill>
          <a:ln w="9525">
            <a:solidFill>
              <a:srgbClr val="EF5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531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🎆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44005" y="2570857"/>
            <a:ext cx="285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2809" y="2902297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年夜饭季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429500" y="1963192"/>
            <a:ext cx="1333500" cy="1209526"/>
          </a:xfrm>
          <a:prstGeom prst="roundRect">
            <a:avLst>
              <a:gd name="adj" fmla="val 6300"/>
            </a:avLst>
          </a:prstGeom>
          <a:solidFill>
            <a:srgbClr val="4CAF50">
              <a:alpha val="12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2815" y="208701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953705" y="2570857"/>
            <a:ext cx="285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82509" y="2902297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春季时蔬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81000" y="3267968"/>
            <a:ext cx="8382000" cy="472380"/>
          </a:xfrm>
          <a:prstGeom prst="roundRect">
            <a:avLst>
              <a:gd name="adj" fmla="val 16131"/>
            </a:avLst>
          </a:prstGeom>
          <a:solidFill>
            <a:srgbClr val="FF8F00">
              <a:alpha val="10000"/>
            </a:srgbClr>
          </a:solidFill>
          <a:ln w="9525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1206" y="3410843"/>
            <a:ext cx="81415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只调扫码点餐推荐位权重，不改菜单。每次切换15分钟，零额外成本。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1000" y="3835598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策略执行：通过美团收银后台「推荐位」功能一键切换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7897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跨品类组合套餐：竞品做不到的"一桌通吃"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团购套餐矩阵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39304"/>
            <a:ext cx="2730401" cy="1445716"/>
          </a:xfrm>
          <a:prstGeom prst="roundRect">
            <a:avLst>
              <a:gd name="adj" fmla="val 5271"/>
            </a:avLst>
          </a:prstGeom>
          <a:solidFill>
            <a:srgbClr val="E53935">
              <a:alpha val="15000"/>
            </a:srgbClr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4908" y="148217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30447" y="1939379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烤鱼双人餐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486768" y="2322165"/>
            <a:ext cx="5187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6651" y="1339304"/>
            <a:ext cx="2730550" cy="1445716"/>
          </a:xfrm>
          <a:prstGeom prst="roundRect">
            <a:avLst>
              <a:gd name="adj" fmla="val 5271"/>
            </a:avLst>
          </a:prstGeom>
          <a:solidFill>
            <a:srgbClr val="E53935">
              <a:alpha val="15000"/>
            </a:srgbClr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50559" y="148217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28012" y="1939379"/>
            <a:ext cx="6878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龙虾3-4人餐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12567" y="2322165"/>
            <a:ext cx="5187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450" y="1339304"/>
            <a:ext cx="2730550" cy="1445716"/>
          </a:xfrm>
          <a:prstGeom prst="roundRect">
            <a:avLst>
              <a:gd name="adj" fmla="val 5271"/>
            </a:avLst>
          </a:prstGeom>
          <a:solidFill>
            <a:srgbClr val="FF8F00">
              <a:alpha val="12000"/>
            </a:srgbClr>
          </a:solidFill>
          <a:ln w="9525">
            <a:solidFill>
              <a:srgbClr val="FF8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76359" y="148217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83678" y="1939379"/>
            <a:ext cx="8280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撸串啤酒2人餐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138367" y="2322165"/>
            <a:ext cx="5187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¥128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1000" y="2880271"/>
            <a:ext cx="4143375" cy="1445716"/>
          </a:xfrm>
          <a:prstGeom prst="roundRect">
            <a:avLst>
              <a:gd name="adj" fmla="val 5271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31396" y="302314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👨‍👩‍👧‍👦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45549" y="3480346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全家福6-8人餐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193255" y="3863132"/>
            <a:ext cx="5187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¥528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9625" y="2880271"/>
            <a:ext cx="4143375" cy="1445716"/>
          </a:xfrm>
          <a:prstGeom prst="roundRect">
            <a:avLst>
              <a:gd name="adj" fmla="val 5271"/>
            </a:avLst>
          </a:prstGeom>
          <a:solidFill>
            <a:srgbClr val="4CAF50">
              <a:alpha val="10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70021" y="302314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5559" y="3480346"/>
            <a:ext cx="631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新客尝鲜券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50472" y="3863132"/>
            <a:ext cx="88168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80抵100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四品类齐全 = 不可复制的竞争壁垒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竞品差异分析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18493"/>
            <a:ext cx="8382000" cy="754261"/>
          </a:xfrm>
          <a:prstGeom prst="roundRect">
            <a:avLst>
              <a:gd name="adj" fmla="val 10103"/>
            </a:avLst>
          </a:prstGeom>
          <a:solidFill>
            <a:srgbClr val="FFC107">
              <a:alpha val="15000"/>
            </a:srgbClr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809006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鱼虾有约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000250" y="1651843"/>
            <a:ext cx="67231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烤鱼 + 烧烤 + 小龙虾 + 炒菜 （4品类）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00250" y="1992809"/>
            <a:ext cx="67231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可做跨品类组合套餐，覆盖全场景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368004"/>
            <a:ext cx="8382000" cy="382786"/>
          </a:xfrm>
          <a:prstGeom prst="roundRect">
            <a:avLst>
              <a:gd name="adj" fmla="val 19907"/>
            </a:avLst>
          </a:prstGeom>
          <a:solidFill>
            <a:srgbClr val="5D3A3A">
              <a:alpha val="3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925" y="2472779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竞品A 纯烤鱼店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990725" y="2479328"/>
            <a:ext cx="674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仅烤鱼 （1品类）→ 只能做烤鱼套餐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846040"/>
            <a:ext cx="8382000" cy="382786"/>
          </a:xfrm>
          <a:prstGeom prst="roundRect">
            <a:avLst>
              <a:gd name="adj" fmla="val 19907"/>
            </a:avLst>
          </a:prstGeom>
          <a:solidFill>
            <a:srgbClr val="5D3A3A">
              <a:alpha val="3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2950815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竞品B 烧烤店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990725" y="2957364"/>
            <a:ext cx="674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仅烧烤 （1品类）→ 只能做烧烤套餐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324076"/>
            <a:ext cx="8382000" cy="382786"/>
          </a:xfrm>
          <a:prstGeom prst="roundRect">
            <a:avLst>
              <a:gd name="adj" fmla="val 19907"/>
            </a:avLst>
          </a:prstGeom>
          <a:solidFill>
            <a:srgbClr val="5D3A3A">
              <a:alpha val="3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2925" y="3428851"/>
            <a:ext cx="13601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竞品C 龙虾店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990725" y="3435400"/>
            <a:ext cx="674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仅小龙虾 （1品类）→ 只有小龙虾可卖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802112"/>
            <a:ext cx="8382000" cy="363736"/>
          </a:xfrm>
          <a:prstGeom prst="roundRect">
            <a:avLst>
              <a:gd name="adj" fmla="val 20949"/>
            </a:avLst>
          </a:prstGeom>
          <a:solidFill>
            <a:srgbClr val="FF8F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802112"/>
            <a:ext cx="0" cy="363736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3897362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结论：四品类齐全是大排档独有优势，套餐组合空间远大于单品类竞品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峰终定律：把预算花在顾客最记得的两个瞬间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顾客体验峰终设计 — 原理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24025" y="2083147"/>
            <a:ext cx="666750" cy="323850"/>
          </a:xfrm>
          <a:prstGeom prst="roundRect">
            <a:avLst>
              <a:gd name="adj" fmla="val 23529"/>
            </a:avLst>
          </a:prstGeom>
          <a:solidFill>
            <a:srgbClr val="5D3A3A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60245" y="2178397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447925" y="223078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86075" y="2083147"/>
            <a:ext cx="666750" cy="323850"/>
          </a:xfrm>
          <a:prstGeom prst="roundRect">
            <a:avLst>
              <a:gd name="adj" fmla="val 23529"/>
            </a:avLst>
          </a:prstGeom>
          <a:solidFill>
            <a:srgbClr val="5D3A3A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22295" y="2178397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点餐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09975" y="223078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48125" y="1905149"/>
            <a:ext cx="857250" cy="679996"/>
          </a:xfrm>
          <a:prstGeom prst="roundRect">
            <a:avLst>
              <a:gd name="adj" fmla="val 11206"/>
            </a:avLst>
          </a:prstGeom>
          <a:solidFill>
            <a:srgbClr val="FFC107">
              <a:alpha val="20000"/>
            </a:srgbClr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60164" y="2019449"/>
            <a:ext cx="23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58151" y="2350889"/>
            <a:ext cx="437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最高体验点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962525" y="223078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00675" y="2083147"/>
            <a:ext cx="666750" cy="323850"/>
          </a:xfrm>
          <a:prstGeom prst="roundRect">
            <a:avLst>
              <a:gd name="adj" fmla="val 23529"/>
            </a:avLst>
          </a:prstGeom>
          <a:solidFill>
            <a:srgbClr val="5D3A3A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36895" y="2178397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用餐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24575" y="223078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62725" y="1905149"/>
            <a:ext cx="857250" cy="679996"/>
          </a:xfrm>
          <a:prstGeom prst="roundRect">
            <a:avLst>
              <a:gd name="adj" fmla="val 11206"/>
            </a:avLst>
          </a:prstGeom>
          <a:solidFill>
            <a:srgbClr val="E53935">
              <a:alpha val="20000"/>
            </a:srgbClr>
          </a:solidFill>
          <a:ln w="19050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4764" y="2019449"/>
            <a:ext cx="23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9032" y="2350889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离店最后记忆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400300" y="2737545"/>
            <a:ext cx="4343400" cy="735211"/>
          </a:xfrm>
          <a:prstGeom prst="roundRect">
            <a:avLst>
              <a:gd name="adj" fmla="val 10364"/>
            </a:avLst>
          </a:prstGeom>
          <a:solidFill>
            <a:srgbClr val="FF8F00">
              <a:alpha val="8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99753" y="2899470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心理学研究表明，顾客对一次体验的记忆主要取决于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两个时刻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99753" y="3124200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最高峰</a:t>
            </a:r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</a:t>
            </a:r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结束时刻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30081" y="3625155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我们只需要在这两个点发力，就能用最小成本创造最大记忆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三大峰值触点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峰终设计 — 峰值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32781"/>
            <a:ext cx="8382000" cy="809476"/>
          </a:xfrm>
          <a:prstGeom prst="roundRect">
            <a:avLst>
              <a:gd name="adj" fmla="val 9413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5033" y="1750814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52525" y="1675656"/>
            <a:ext cx="67814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「满桌江湖」出餐节奏优化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52525" y="2052786"/>
            <a:ext cx="67814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四品类同桌上齐的节奏设计，让一桌菜齐整上桌成为"名场面"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044093" y="1857524"/>
            <a:ext cx="4470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0元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437507"/>
            <a:ext cx="8382000" cy="809476"/>
          </a:xfrm>
          <a:prstGeom prst="roundRect">
            <a:avLst>
              <a:gd name="adj" fmla="val 9413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1332" y="2655540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52525" y="2580382"/>
            <a:ext cx="66842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「桌桌有惊喜」随机弹窗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52525" y="2957513"/>
            <a:ext cx="6684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扫码点餐后随机弹出小惊喜（免费加菜/送饮品），每桌概率可控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955935" y="2762250"/>
            <a:ext cx="5282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~250元/月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342233"/>
            <a:ext cx="8382000" cy="809476"/>
          </a:xfrm>
          <a:prstGeom prst="roundRect">
            <a:avLst>
              <a:gd name="adj" fmla="val 9413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332" y="356026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52525" y="3485108"/>
            <a:ext cx="67814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「江湖拼盘」四大天王组合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2525" y="3862239"/>
            <a:ext cx="67814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每桌必点的招牌组合菜，四品类各取一样拼成"江湖四大天王"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092821" y="3666976"/>
            <a:ext cx="3497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正利润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终值触点：离店最后一刻的记忆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峰终设计 — 终值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92734"/>
            <a:ext cx="8382000" cy="1712416"/>
          </a:xfrm>
          <a:prstGeom prst="roundRect">
            <a:avLst>
              <a:gd name="adj" fmla="val 4450"/>
            </a:avLst>
          </a:prstGeom>
          <a:solidFill>
            <a:srgbClr val="E53935">
              <a:alpha val="12000"/>
            </a:srgbClr>
          </a:solidFill>
          <a:ln w="19050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006" y="2008882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14450" y="1602284"/>
            <a:ext cx="73837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「江湖再见」结账自动送券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14450" y="2025104"/>
            <a:ext cx="73837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结账时系统自动发放下次到店优惠券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14450" y="2366070"/>
            <a:ext cx="73837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金额根据本次消费智能匹配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14450" y="2735610"/>
            <a:ext cx="73837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成本：~2,500元/月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257550"/>
            <a:ext cx="2717750" cy="1072307"/>
          </a:xfrm>
          <a:prstGeom prst="roundRect">
            <a:avLst>
              <a:gd name="adj" fmla="val 7106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2319" y="3438525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峰终设计月总成本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127419" y="3775621"/>
            <a:ext cx="122491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仅2,750元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13050" y="3257550"/>
            <a:ext cx="2717899" cy="1072307"/>
          </a:xfrm>
          <a:prstGeom prst="roundRect">
            <a:avLst>
              <a:gd name="adj" fmla="val 7106"/>
            </a:avLst>
          </a:prstGeom>
          <a:solidFill>
            <a:srgbClr val="FFC107">
              <a:alpha val="10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51389" y="3438525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占月流水比例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186264" y="3775621"/>
            <a:ext cx="7714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45250" y="3257550"/>
            <a:ext cx="2717750" cy="1072307"/>
          </a:xfrm>
          <a:prstGeom prst="roundRect">
            <a:avLst>
              <a:gd name="adj" fmla="val 7106"/>
            </a:avLst>
          </a:prstGeom>
          <a:solidFill>
            <a:srgbClr val="4CAF50">
              <a:alpha val="10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83439" y="3438525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额外人力需求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268033" y="3775621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3个月星级提升路径：4.1 → 4.5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大众点评提升路径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828056"/>
            <a:ext cx="2717750" cy="2028379"/>
          </a:xfrm>
          <a:prstGeom prst="roundRect">
            <a:avLst>
              <a:gd name="adj" fmla="val 3757"/>
            </a:avLst>
          </a:prstGeom>
          <a:solidFill>
            <a:srgbClr val="FF8F0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847106"/>
            <a:ext cx="2717750" cy="0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408" y="1999506"/>
            <a:ext cx="2538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408" y="2269927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 4.2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49301" y="2631877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0408" y="2746177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差评清洗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0408" y="296897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好评引导机制搭建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0408" y="319176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图片优化升级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549301" y="3452664"/>
            <a:ext cx="381000" cy="9525"/>
          </a:xfrm>
          <a:prstGeom prst="roundRect">
            <a:avLst>
              <a:gd name="adj" fmla="val 10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0408" y="3576489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目标评价量：190条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213050" y="1828056"/>
            <a:ext cx="2717899" cy="2028379"/>
          </a:xfrm>
          <a:prstGeom prst="roundRect">
            <a:avLst>
              <a:gd name="adj" fmla="val 3757"/>
            </a:avLst>
          </a:prstGeom>
          <a:solidFill>
            <a:srgbClr val="FFC10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13050" y="1847106"/>
            <a:ext cx="2717899" cy="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2457" y="1999506"/>
            <a:ext cx="25390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02457" y="2269927"/>
            <a:ext cx="2539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 4.3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1500" y="2631877"/>
            <a:ext cx="381000" cy="190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2457" y="2746177"/>
            <a:ext cx="2539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常态化评价SOP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302457" y="2968972"/>
            <a:ext cx="2539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江湖三宝套餐上线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302457" y="3191768"/>
            <a:ext cx="2539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回复话术标准化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81500" y="3452664"/>
            <a:ext cx="381000" cy="9525"/>
          </a:xfrm>
          <a:prstGeom prst="roundRect">
            <a:avLst>
              <a:gd name="adj" fmla="val 10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2457" y="3576489"/>
            <a:ext cx="2539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目标评价量：215条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45250" y="1828056"/>
            <a:ext cx="2717750" cy="2028379"/>
          </a:xfrm>
          <a:prstGeom prst="roundRect">
            <a:avLst>
              <a:gd name="adj" fmla="val 3757"/>
            </a:avLst>
          </a:prstGeom>
          <a:solidFill>
            <a:srgbClr val="C6282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45250" y="1847106"/>
            <a:ext cx="2717750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4658" y="1999506"/>
            <a:ext cx="2538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34658" y="2269927"/>
            <a:ext cx="2538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 4.5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13550" y="2631877"/>
            <a:ext cx="381000" cy="1905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34658" y="2746177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新品引爆话题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134658" y="296897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UGC内容沉淀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134658" y="319176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竞品评价监控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213550" y="3452664"/>
            <a:ext cx="381000" cy="9525"/>
          </a:xfrm>
          <a:prstGeom prst="roundRect">
            <a:avLst>
              <a:gd name="adj" fmla="val 10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34658" y="3576489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目标评价量：250条+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评分提升的商业价值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 — 行业对标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806029"/>
            <a:ext cx="3838575" cy="1312218"/>
          </a:xfrm>
          <a:prstGeom prst="roundRect">
            <a:avLst>
              <a:gd name="adj" fmla="val 5807"/>
            </a:avLst>
          </a:prstGeom>
          <a:solidFill>
            <a:srgbClr val="5D3A3A">
              <a:alpha val="40000"/>
            </a:srgbClr>
          </a:solidFill>
          <a:ln w="9525">
            <a:solidFill>
              <a:srgbClr val="5D3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8347" y="1967954"/>
            <a:ext cx="3623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4.1分 门店（当前）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62163" y="2230785"/>
            <a:ext cx="476250" cy="19050"/>
          </a:xfrm>
          <a:prstGeom prst="roundRect">
            <a:avLst>
              <a:gd name="adj" fmla="val 5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8347" y="2326035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曝光量：基准水平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88347" y="2567880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进店转化：基准水平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8347" y="2809726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月均客流：基准水平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445889" y="2302073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05375" y="1796504"/>
            <a:ext cx="3857625" cy="1331268"/>
          </a:xfrm>
          <a:prstGeom prst="roundRect">
            <a:avLst>
              <a:gd name="adj" fmla="val 5724"/>
            </a:avLst>
          </a:prstGeom>
          <a:solidFill>
            <a:srgbClr val="FFC107">
              <a:alpha val="12000"/>
            </a:srgbClr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2247" y="1967954"/>
            <a:ext cx="3623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4.5分 门店（目标）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96063" y="2230785"/>
            <a:ext cx="476250" cy="190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2247" y="2326035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曝光量：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+30-50%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22247" y="2567880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进店转化：</a:t>
            </a:r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+15-25%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022247" y="2809726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月均客流：</a:t>
            </a:r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+500-800人次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261122"/>
            <a:ext cx="8382000" cy="664815"/>
          </a:xfrm>
          <a:prstGeom prst="roundRect">
            <a:avLst>
              <a:gd name="adj" fmla="val 11462"/>
            </a:avLst>
          </a:prstGeom>
          <a:solidFill>
            <a:srgbClr val="FF8F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261122"/>
            <a:ext cx="0" cy="664815"/>
          </a:xfrm>
          <a:prstGeom prst="line">
            <a:avLst/>
          </a:prstGeom>
          <a:noFill/>
          <a:ln w="3810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3394472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0.4分的差距 = 每月多出数万元流水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09600" y="3632597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评分是大众点评流量分配的核心权重，直接影响搜索排名和推荐曝光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ROI测算：每投入1元，回报2-3元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投资回报分析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406128"/>
            <a:ext cx="4124325" cy="1778794"/>
          </a:xfrm>
          <a:prstGeom prst="roundRect">
            <a:avLst>
              <a:gd name="adj" fmla="val 4284"/>
            </a:avLst>
          </a:prstGeom>
          <a:solidFill>
            <a:srgbClr val="E53935">
              <a:alpha val="10000"/>
            </a:srgbClr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489" y="1529953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月运营成本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52663" y="1802309"/>
            <a:ext cx="381000" cy="1905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907084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惊喜弹窗 ~250元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120354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结账送券 ~2,500元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2333625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团购让利 ~4,200元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23875" y="2546896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会员券核销 ~1,500元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779216"/>
            <a:ext cx="571500" cy="9525"/>
          </a:xfrm>
          <a:prstGeom prst="roundRect">
            <a:avLst>
              <a:gd name="adj" fmla="val 10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875" y="2874466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~8,450元/月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38675" y="1512689"/>
            <a:ext cx="4124325" cy="1565523"/>
          </a:xfrm>
          <a:prstGeom prst="roundRect">
            <a:avLst>
              <a:gd name="adj" fmla="val 4867"/>
            </a:avLst>
          </a:prstGeom>
          <a:solidFill>
            <a:srgbClr val="4CAF50">
              <a:alpha val="10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3164" y="1636514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月增收益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0338" y="1908870"/>
            <a:ext cx="381000" cy="1905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81550" y="2013645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老客复购提升 +6,375-8,375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81550" y="2226915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团购拉新转化 +3,750-5,000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81550" y="2440186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客单价提升 +6,300-8,400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81550" y="2672507"/>
            <a:ext cx="571500" cy="9525"/>
          </a:xfrm>
          <a:prstGeom prst="roundRect">
            <a:avLst>
              <a:gd name="adj" fmla="val 100000"/>
            </a:avLst>
          </a:prstGeom>
          <a:solidFill>
            <a:srgbClr val="5D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1550" y="2767757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16,425-21,775元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3916710"/>
            <a:ext cx="2024062" cy="845790"/>
          </a:xfrm>
          <a:prstGeom prst="roundRect">
            <a:avLst>
              <a:gd name="adj" fmla="val 9009"/>
            </a:avLst>
          </a:prstGeom>
          <a:solidFill>
            <a:srgbClr val="FFC107">
              <a:alpha val="12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0144" y="4040535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月净增利润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63043" y="4345335"/>
            <a:ext cx="125982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"/>
              </a:spcBef>
              <a:buNone/>
            </a:pPr>
            <a:r>
              <a:rPr lang="en-US" sz="16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8,000-13,300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500313" y="3916710"/>
            <a:ext cx="2024062" cy="845790"/>
          </a:xfrm>
          <a:prstGeom prst="roundRect">
            <a:avLst>
              <a:gd name="adj" fmla="val 9009"/>
            </a:avLst>
          </a:prstGeom>
          <a:solidFill>
            <a:srgbClr val="FFC107">
              <a:alpha val="12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69456" y="4040535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年化净增收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102321" y="4345335"/>
            <a:ext cx="81989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"/>
              </a:spcBef>
              <a:buNone/>
            </a:pPr>
            <a:r>
              <a:rPr lang="en-US" sz="16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9.6-16万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19625" y="3916710"/>
            <a:ext cx="2024062" cy="845790"/>
          </a:xfrm>
          <a:prstGeom prst="roundRect">
            <a:avLst>
              <a:gd name="adj" fmla="val 9009"/>
            </a:avLst>
          </a:prstGeom>
          <a:solidFill>
            <a:srgbClr val="FFC107">
              <a:alpha val="12000"/>
            </a:srgbClr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45279" y="4040535"/>
            <a:ext cx="172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08691" y="4345335"/>
            <a:ext cx="104578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"/>
              </a:spcBef>
              <a:buNone/>
            </a:pPr>
            <a:r>
              <a:rPr lang="en-US" sz="16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94%-158%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38938" y="3916710"/>
            <a:ext cx="2024062" cy="845790"/>
          </a:xfrm>
          <a:prstGeom prst="roundRect">
            <a:avLst>
              <a:gd name="adj" fmla="val 9009"/>
            </a:avLst>
          </a:prstGeom>
          <a:solidFill>
            <a:srgbClr val="4CAF50">
              <a:alpha val="10000"/>
            </a:srgbClr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81060" y="4040535"/>
            <a:ext cx="539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DB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6个月储值池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11192" y="4345335"/>
            <a:ext cx="87940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"/>
              </a:spcBef>
              <a:buNone/>
            </a:pPr>
            <a:r>
              <a:rPr lang="en-US" sz="16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60-120万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32" y="4762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鱼虾有约 × 美团收银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59409" y="2222153"/>
            <a:ext cx="1145977" cy="331440"/>
          </a:xfrm>
          <a:prstGeom prst="roundRect">
            <a:avLst>
              <a:gd name="adj" fmla="val 22991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93681" y="2307878"/>
            <a:ext cx="8774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智能储值锁客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00635" y="2222153"/>
            <a:ext cx="1260277" cy="331440"/>
          </a:xfrm>
          <a:prstGeom prst="roundRect">
            <a:avLst>
              <a:gd name="adj" fmla="val 22991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33765" y="2307878"/>
            <a:ext cx="9940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🦞 四品类轮番主推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56162" y="2222153"/>
            <a:ext cx="1145977" cy="331440"/>
          </a:xfrm>
          <a:prstGeom prst="roundRect">
            <a:avLst>
              <a:gd name="adj" fmla="val 22991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0434" y="2307878"/>
            <a:ext cx="8774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峰终体验设计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97388" y="2222153"/>
            <a:ext cx="1145977" cy="331440"/>
          </a:xfrm>
          <a:prstGeom prst="roundRect">
            <a:avLst>
              <a:gd name="adj" fmla="val 22991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31661" y="2307878"/>
            <a:ext cx="8774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点评星级提升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8615" y="2222153"/>
            <a:ext cx="1145977" cy="331440"/>
          </a:xfrm>
          <a:prstGeom prst="roundRect">
            <a:avLst>
              <a:gd name="adj" fmla="val 22991"/>
            </a:avLst>
          </a:prstGeom>
          <a:solidFill>
            <a:srgbClr val="C62828">
              <a:alpha val="20000"/>
            </a:srgbClr>
          </a:solidFill>
          <a:ln w="9525">
            <a:solidFill>
              <a:srgbClr val="C628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2888" y="2307878"/>
            <a:ext cx="8774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数据驱动运营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0500" y="2744093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0038" y="2963168"/>
            <a:ext cx="396392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让每一桌江湖菜，都成为回头客的理由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98860" y="3447008"/>
            <a:ext cx="15461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 | 餐饮SaaS解决方案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鱼虾有约江湖大排档 - 数字化经营解决方案</dc:title>
  <dc:subject>PptxGenJS Presentation</dc:subject>
  <dc:creator>美团收银</dc:creator>
  <cp:lastModifiedBy>美团收银</cp:lastModifiedBy>
  <cp:revision>1</cp:revision>
  <dcterms:created xsi:type="dcterms:W3CDTF">2026-04-23T03:40:56Z</dcterms:created>
  <dcterms:modified xsi:type="dcterms:W3CDTF">2026-04-23T03:40:56Z</dcterms:modified>
</cp:coreProperties>
</file>