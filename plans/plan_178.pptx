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0000" y="300000"/>
            <a:ext cx="1200000" cy="8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1200000"/>
            <a:ext cx="6744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Ye coffee·耶咖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0000" y="2100000"/>
            <a:ext cx="6744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BBDDFF"/>
                </a:solidFill>
                <a:latin typeface="Microsoft YaHei"/>
                <a:ea typeface="Microsoft YaHei"/>
                <a:cs typeface="Microsoft YaHei"/>
              </a:rPr>
              <a:t>数字化经营解决方案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0000" y="2800000"/>
            <a:ext cx="3144000" cy="18000"/>
          </a:xfrm>
          <a:prstGeom prst="rect">
            <a:avLst/>
          </a:prstGeom>
          <a:solidFill>
            <a:srgbClr val="80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0000" y="3000000"/>
            <a:ext cx="674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CCDDFF"/>
                </a:solidFill>
                <a:latin typeface="Microsoft YaHei"/>
                <a:ea typeface="Microsoft YaHei"/>
                <a:cs typeface="Microsoft YaHei"/>
              </a:rPr>
              <a:t>美团收银 | 新店冷启动·社区咖啡解决方案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0000" y="4300000"/>
            <a:ext cx="674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0">
                <a:solidFill>
                  <a:srgbClr val="99BBEE"/>
                </a:solidFill>
                <a:latin typeface="Microsoft YaHei"/>
                <a:ea typeface="Microsoft YaHei"/>
                <a:cs typeface="Microsoft YaHei"/>
              </a:rPr>
              <a:t>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 门店诊断：数据说话，找到真问题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4200000" cy="6800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8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700000"/>
            <a:ext cx="4000000" cy="6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🚨 流量危机：30天曝光206→访问7→消费0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曝光→访问3.4%（商圈均值14.3%↓10.9%）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访问→消费0%（商圈均值13.1%↓13.1%）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→ 线上近乎"隐身"，新客完全进不来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430000"/>
            <a:ext cx="4200000" cy="5800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00" y="1450000"/>
            <a:ext cx="4000000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营收困境：日均流水&lt;¥1,000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人均¥22→日均约45杯，月流水⚠️约¥2.5万（假设）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80㎡坪效¥10.4/㎡/天，远低于盈亏线¥1,500-2,000/日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000" y="2080000"/>
            <a:ext cx="4200000" cy="53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4285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000" y="2100000"/>
            <a:ext cx="4000000" cy="49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⚔️ 竞争挤压：3km内瑞幸×5+库迪+星巴克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¥22夹心层：向下打不过9.9补贴，向上缺精品场景溢价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→ 必须走差异化：社区温度感+复购锁定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50000" y="680000"/>
            <a:ext cx="4200000" cy="1930000"/>
          </a:xfrm>
          <a:prstGeom prst="roundRect">
            <a:avLst/>
          </a:prstGeom>
          <a:solidFill>
            <a:srgbClr val="F5EFE6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000" y="710000"/>
            <a:ext cx="3900000" cy="187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🔍 三个致命问题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线上"隐身"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新店无评价/无团购/无标签→搜索垫底→搜不到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转化为零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即使点进来也无下单理由：缺套餐/缺好评/缺吸引力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无复购抓手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0老客/0会员，每天从零获客，成本极高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000" y="2750000"/>
            <a:ext cx="8600000" cy="3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00" y="2770000"/>
            <a:ext cx="830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💡 本质：不是咖啡不好喝，是顾客根本不知道你。前60天"被看见"比"做好咖啡"更紧急。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0000" y="3200000"/>
            <a:ext cx="8600000" cy="3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📌 数据基石：日均&lt;¥1K | ¥22/杯 | ≈45杯/日 | 80㎡ | 30天访问7人消费0 | 曝光转化3.4%(均值14.3%)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⚔️ 竞争格局：丰潭路3公里咖啡战场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50000"/>
            <a:ext cx="1350000" cy="2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0000" y="680000"/>
            <a:ext cx="131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竞品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0000" y="650000"/>
            <a:ext cx="650000" cy="2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70000" y="680000"/>
            <a:ext cx="61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50000" y="650000"/>
            <a:ext cx="1300000" cy="2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0000" y="680000"/>
            <a:ext cx="126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核心优势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0000" y="650000"/>
            <a:ext cx="1550000" cy="2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0000" y="680000"/>
            <a:ext cx="151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弱点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0000" y="650000"/>
            <a:ext cx="3500000" cy="28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20000" y="680000"/>
            <a:ext cx="3460000" cy="2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🎯 耶咖切入点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0000" y="960000"/>
            <a:ext cx="13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000" y="975000"/>
            <a:ext cx="13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瑞幸(3km内5家)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50000" y="960000"/>
            <a:ext cx="6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70000" y="975000"/>
            <a:ext cx="6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0000" y="960000"/>
            <a:ext cx="130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0000" y="975000"/>
            <a:ext cx="12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9.9券+极高效率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0000" y="960000"/>
            <a:ext cx="15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20000" y="975000"/>
            <a:ext cx="15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无空间体验/品质一般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0000" y="960000"/>
            <a:ext cx="350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20000" y="975000"/>
            <a:ext cx="34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做"第三空间"，瑞幸解决功能咖啡，耶咖解决享受咖啡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0000" y="1450000"/>
            <a:ext cx="13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000" y="1465000"/>
            <a:ext cx="13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库迪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50000" y="1450000"/>
            <a:ext cx="6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0000" y="1465000"/>
            <a:ext cx="6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50000" y="1450000"/>
            <a:ext cx="130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0000" y="1465000"/>
            <a:ext cx="12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极致低价铺量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00000" y="1450000"/>
            <a:ext cx="15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20000" y="1465000"/>
            <a:ext cx="15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品质口碑差/无体验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0000" y="1450000"/>
            <a:ext cx="350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20000" y="1465000"/>
            <a:ext cx="34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不正面竞争，库迪抢的是极致价格敏感客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0000" y="1940000"/>
            <a:ext cx="13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" y="1955000"/>
            <a:ext cx="13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星巴克(西田城)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650000" y="1940000"/>
            <a:ext cx="6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70000" y="1955000"/>
            <a:ext cx="6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¥35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50000" y="1940000"/>
            <a:ext cx="130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0000" y="1955000"/>
            <a:ext cx="12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品牌力+商务空间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700000" y="1940000"/>
            <a:ext cx="155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20000" y="1955000"/>
            <a:ext cx="15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人均高/社区感弱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0000" y="1940000"/>
            <a:ext cx="3500000" cy="460000"/>
          </a:xfrm>
          <a:prstGeom prst="roundRect">
            <a:avLst/>
          </a:prstGeom>
          <a:solidFill>
            <a:srgbClr val="F5EFE6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0000" y="1955000"/>
            <a:ext cx="34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耶咖更年轻更社区，价格只有星巴克6折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50000" y="2430000"/>
            <a:ext cx="13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" y="2445000"/>
            <a:ext cx="13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周边独立馆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50000" y="2430000"/>
            <a:ext cx="6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70000" y="2445000"/>
            <a:ext cx="6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¥25-35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50000" y="2430000"/>
            <a:ext cx="130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370000" y="2445000"/>
            <a:ext cx="12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各有调性/小红书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700000" y="2430000"/>
            <a:ext cx="155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20000" y="2445000"/>
            <a:ext cx="151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获客半径小/不稳定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0000" y="2430000"/>
            <a:ext cx="3500000" cy="46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20000" y="2445000"/>
            <a:ext cx="3460000" cy="43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抢先做好点评，先到先得口碑窗口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0000" y="3700000"/>
            <a:ext cx="8600000" cy="3500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00000" y="3720000"/>
            <a:ext cx="830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💡 结论：连锁已饱和，耶咖靠"500米社区主理人"定位突围——不拼价格、不拼商务，拼家门口的温度感+复购锁定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策略一：公域破冰——让顾客找得到你（第1-14天）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4200000" cy="3300000"/>
          </a:xfrm>
          <a:prstGeom prst="roundRect">
            <a:avLst/>
          </a:prstGeom>
          <a:solidFill>
            <a:srgbClr val="FDF5E6"/>
          </a:solidFill>
          <a:ln w="1270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700000"/>
            <a:ext cx="4000000" cy="32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📱 大众点评：从0到"能被搜到"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上线3款引流团购（第1天）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谁：老板 | 🔧商家后台→团购→新建套餐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¥9.9 体验美式（成本≈¥3，引流款不赚钱）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¥19.9 双人下午茶：美式+拿铁+蛋糕（毛利40%）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¥29.9 精品手冲体验：含咖啡师讲解（利润款）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→ 预估：团购带来日均8-12组新客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免费试攒首批30条评价（第1-14天）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谁：老板 | 🔧点评后台→营销中心→免费试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设20个名额，每天审核2-3个通过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  ⚠️严禁促评/送礼换评价（2025新规：高强度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  促评=新评价不产生星级收益）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服务员说："今天您是试吃官，吃完花1分钟写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写真实感受就行，好坏都行"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客人嫌麻烦→"扫码写满15字送杯美式"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门店装修：主图/标签/菜单（第1天）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🔧商家后台→门店装修→上传6张实拍图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暖光氛围照+咖啡特写+空间全景+菜单板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标签补全：现磨咖啡/手冲/轻食/安静办公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0000" y="680000"/>
            <a:ext cx="4200000" cy="1600000"/>
          </a:xfrm>
          <a:prstGeom prst="roundRect">
            <a:avLst/>
          </a:prstGeom>
          <a:solidFill>
            <a:srgbClr val="F0F4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0000" y="700000"/>
            <a:ext cx="4000000" cy="1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📸 小红书+抖音：社交种草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小红书：每周2篇笔记（老板自拍）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谁：老板 | 每周三/六发布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内容方向：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·"三墩宝藏咖啡馆"+"丰潭路必打卡"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手冲过程视频+咖啡知识分享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标签：#杭州咖啡 #三墩探店 #城西咖啡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→ 预估：每篇曝光500-2000，月新增到店15-20人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抖音：开业前3条短视频预热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拍摄"从毛坯到咖啡馆"装修过程/开业倒计时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投DOU+同城推广，预算¥200/条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2380000"/>
            <a:ext cx="4200000" cy="16000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0000" y="2400000"/>
            <a:ext cx="4000000" cy="1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🎯 14天目标（可量化）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大众点评评价数：0 → 30条+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曝光转化率：3.4% → 10%+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（团购套餐+主图优化+评价背书共同拉升）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日均到店新客：0 → 15-20人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日均流水：&lt;¥1,000 → ¥1,500+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📌 关键动作优先级：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Day1 上团购+装修页面 → Day2-7 免费试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→ Day7-14 小红书+抖音同步种草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🔒 策略二：私域锁客——让来的人变成常客（第15-30天）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2700000" cy="315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700000"/>
            <a:ext cx="2500000" cy="31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🎫 周卡锁客
"39元5杯美式"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📌 为什么是周卡不是储值？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新店0信任基础，客人不敢充大额储值。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周卡¥39=5杯(¥7.8/杯)，正面硬刚瑞幸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¥9.9但口感碾压，门槛低+复购锁定。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操作路径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收银后台→会员→次卡→创建"耶咖周卡"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权益：7天内到店5次各享1杯美式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收银员话术（每单必说）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"您今天这杯美式¥18，我们有个周卡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39块钱5杯，折下来7块8一杯，比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瑞幸还划算，我们还是现磨的～"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😅 客人犹豫怎么办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"没关系！先加个微信，我们每周有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限定特调，到时候发您尝尝～"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预估月售80张×¥39=¥3,120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0000" y="680000"/>
            <a:ext cx="2700000" cy="315000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000" y="700000"/>
            <a:ext cx="2500000" cy="31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📱 扫码点餐
= 自动入会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📌 已签约扫码点餐，用起来！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现状：已签约但未发挥私域价值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设置路径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收银后台→扫码点餐→入会设置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开启"扫码自动弹窗入会"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首次入会赠：美式¥5减免券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🎯 会员权益设计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会员价：全场饮品减¥2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生日月：免费升杯+赠甜品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积分：消费¥1=1分,100分换美式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每月8号会员日：第二杯半价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💡 核心逻辑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扫码点餐是入口，入会是目的。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客人扫码→自动入会→沉淀手机号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后续精准推送+唤醒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月新增会员200+（按日均15新客）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0000" y="680000"/>
            <a:ext cx="2900000" cy="3150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50000" y="700000"/>
            <a:ext cx="2700000" cy="31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👥 企微社群
"500米咖啡角"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📌 社群=免费触达渠道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新店没预算投广告，但有社群就有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免费反复触达的能力。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🔧 怎么建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① 收银台+每张桌子放企微群二维码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② 台卡文案："扫码入群，每周解锁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 隐藏特调+会员专属折扣"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③ 入群即送¥3优惠券（到店使用）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💬 群运营节奏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每周一：本周特调预告（制造期待）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每周三：咖啡知识分享（建立专业感）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每周五："周末暗号"到店说暗号送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小饼干（拉动周末客流）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目标：60天群成员200+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周末到店率30%=60人/周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💰 策略三：场景延伸——拉高天花板（第31-60天）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4200000" cy="1500000"/>
          </a:xfrm>
          <a:prstGeom prst="roundRect">
            <a:avLst/>
          </a:prstGeom>
          <a:solidFill>
            <a:srgbClr val="FFF8F0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700000"/>
            <a:ext cx="4000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🌅 早餐档：咖啡+轻食（7:30-9:30）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📌 三墩早餐供给弱，瑞幸/库迪无餐食能力——结构性机会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What：推"美式+贝果/三明治"套餐¥19.9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How：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谁：店长负责早餐备餐 | 每天7:30前到店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🔧 扫码点餐→菜单管理→创建"早餐限时专区"→设7:30-9:30显示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贝果+三明治选冷冻预制品（成本¥3-5），门店复热出品（3分钟）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外卖同步上线早餐时段 🔧 美团外卖商家版→营业时段→添加7:30-9:30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→ 预估：日增15-20单×¥19.9=+¥300-400/天=+¥9,000-12,000/月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2280000"/>
            <a:ext cx="4200000" cy="1500000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0000" y="2300000"/>
            <a:ext cx="4000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🌙 晚间微醺：咖啡→精酿（18:00后）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📌 三墩社区年轻住户晚间缺"轻社交"去处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What：18点后上3-4款精酿/低度酒+小食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How：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谁：老板 | 第31天开始试运营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不需大投入改造——黑板菜单写上酒单+换氛围灯（¥100以内）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精酿啤酒3款（本地精酿供应商拿货¥8-12/瓶，售¥28-38）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配小食拼盘：坚果+薯条+毛豆（成本¥8，售¥22）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  🔧 扫码点餐→创建"微醺时刻"菜单→设18:00-22:00显示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→ 人均提升至¥35-45，预估晚间日增8-12人×¥38=+¥300-450/天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680000"/>
            <a:ext cx="4200000" cy="3100000"/>
          </a:xfrm>
          <a:prstGeom prst="roundRect">
            <a:avLst/>
          </a:prstGeom>
          <a:solidFill>
            <a:srgbClr val="F5EFE6"/>
          </a:solidFill>
          <a:ln w="19050">
            <a:solidFill>
              <a:srgbClr val="6F4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000" y="700000"/>
            <a:ext cx="3900000" cy="30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📊 场景延伸=三个时段赚三份钱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⏰ 时段结构重组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🌅 7:30-9:30 早餐档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美式+轻食¥19.9 | 日均15-20单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月增收：+¥9,000-12,000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☕ 9:30-18:00 日间咖啡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核心时段 | ¥22人均 | 日均45-60杯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团购引流后：月流水¥3-4万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7B61FF"/>
                </a:solidFill>
                <a:latin typeface="Microsoft YaHei"/>
                <a:ea typeface="Microsoft YaHei"/>
                <a:cs typeface="Microsoft YaHei"/>
              </a:rPr>
              <a:t>🌙 18:00-22:00 微醺时段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精酿+小食¥35-45 | 日均8-12人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月增收：+¥9,000-13,500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━━━━━━━━━━━━━━━━━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📈 60天后目标月流水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¥2.5万(现在) → ¥5.5-6.5万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  增幅 +120-160%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⭐ 点评口碑：新店从0到4.5分的路线图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2750000" cy="320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30000" y="700000"/>
            <a:ext cx="2590000" cy="3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🚀 止血期
（第1-7天）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🎯 完成门店基础建设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停止一切无效促评（2025.10新规后，高强度促评=新评价不产生星级收益）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上传6张高质量实拍图（暖光+产品+空间）🔧商家后台→门店装修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补全标签：现磨咖啡/手冲/轻食/安静办公/WIFI/充电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❹ 上线引流团购（评分的前提是有客流）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0000" y="680000"/>
            <a:ext cx="2750000" cy="320000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80000" y="700000"/>
            <a:ext cx="2590000" cy="3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📝 攒评期
（第8-30天）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🎯 积累30-50条真实评价，出星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免费试/免费菜：🔧点评后台→营销中心→免费试，设20个名额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自然分享动机：出品时附手写便签"今日豆子：埃塞俄比亚耶加雪菲"（自带拍照分享欲）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差评2小时内回复：🔧商家后台→评价管理→设置提醒通知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❹ 每周检查：评价数/星级/关键词，及时调整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0000" y="680000"/>
            <a:ext cx="2750000" cy="3200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0000" y="700000"/>
            <a:ext cx="2590000" cy="315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🏆 冲榜期
（第31-60天）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🎯 冲新店榜→热门榜前10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新店榜门槛：30条评价+4.0分以上（前30天打好基础）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热门榜=流量×转化×评分，重点提升转化率（团购核销率）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持续小红书种草，带动搜索热度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❹ 目标：60天出星4.0-4.5分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000" y="4000000"/>
            <a:ext cx="8600000" cy="350000"/>
          </a:xfrm>
          <a:prstGeom prst="roundRect">
            <a:avLst/>
          </a:prstGeom>
          <a:solidFill>
            <a:srgbClr val="FF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0000" y="4020000"/>
            <a:ext cx="830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E83A3A"/>
                </a:solidFill>
                <a:latin typeface="Microsoft YaHei"/>
                <a:ea typeface="Microsoft YaHei"/>
                <a:cs typeface="Microsoft YaHei"/>
              </a:rPr>
              <a:t>⚠️ 2025年10月新规铁律：严禁任何形式的促评/邀评（送礼换好评/集赞返现等均违规），合规工具只有"免费试""免费菜"。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📅 7-8月营销节奏：暑期+七夕，新店的黄金窗口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50000"/>
            <a:ext cx="2050000" cy="55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000"/>
            <a:ext cx="199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第1周
7.20-26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🔥 开业首周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230000"/>
            <a:ext cx="205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1260000"/>
            <a:ext cx="1950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上线团购+免费试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小红书首篇笔记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扫码入会+周卡开售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企微群开始拉人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0000" y="650000"/>
            <a:ext cx="2050000" cy="55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0000" y="660000"/>
            <a:ext cx="199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第2周
7.27-8.2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☀️ 暑期发力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0000" y="1230000"/>
            <a:ext cx="205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30000" y="1260000"/>
            <a:ext cx="1950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"暑期冰咖节"：冰美式¥9.9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免费试持续审核（目标20条评价）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抖音第2-3条视频发布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群内首次"周末暗号"活动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0000" y="650000"/>
            <a:ext cx="2050000" cy="5500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0000" y="660000"/>
            <a:ext cx="199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第3-4周
8.3-16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🌙 七夕+立秋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0000" y="1230000"/>
            <a:ext cx="205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0000" y="1260000"/>
            <a:ext cx="1950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七夕"双人咖啡时光"套餐¥39.9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立秋"秋日限定拿铁"上新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小红书七夕主题笔记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评价目标：30条+，争取出星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0000" y="650000"/>
            <a:ext cx="2050000" cy="550000"/>
          </a:xfrm>
          <a:prstGeom prst="roundRect">
            <a:avLst/>
          </a:prstGeom>
          <a:solidFill>
            <a:srgbClr val="0D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0000" y="660000"/>
            <a:ext cx="1990000" cy="52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第5-6周
8.17-31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 转化收割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0000" y="1230000"/>
            <a:ext cx="2050000" cy="24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0000" y="1260000"/>
            <a:ext cx="1950000" cy="23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早餐档正式上线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微醺时段试运营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暑期卡核销冲刺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✅ 月末复盘：流水/评价/会员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3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000" y="3750000"/>
            <a:ext cx="8600000" cy="5000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00" y="3770000"/>
            <a:ext cx="8300000" cy="46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🏮 杭州特色节点（9月预告）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9月中旬桂花季：推"桂花拿铁"限定款（杭州满城桂花=天然营销素材，成本≈0）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中秋节：中秋限定"月饼+咖啡"套餐¥29.9（锁定团圆消费场景）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· 国庆黄金周：准备抖音/小红书集中投放（三墩游客不多，重点抓本地人假期休闲需求）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公私域联动：一个完整的增长闭环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700000"/>
            <a:ext cx="2000000" cy="60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720000"/>
            <a:ext cx="1940000" cy="5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❶ 公域引流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350000"/>
            <a:ext cx="20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0000" y="1380000"/>
            <a:ext cx="1900000" cy="1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大众点评团购
小红书种草
抖音短视频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000" y="2600000"/>
            <a:ext cx="2000000" cy="350000"/>
          </a:xfrm>
          <a:prstGeom prst="roundRect">
            <a:avLst/>
          </a:prstGeom>
          <a:solidFill>
            <a:srgbClr val="F0F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0000" y="2620000"/>
            <a:ext cx="194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新客到店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00000" y="1300000"/>
            <a:ext cx="200000" cy="200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50000" y="700000"/>
            <a:ext cx="2000000" cy="60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80000" y="720000"/>
            <a:ext cx="1940000" cy="5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❷ 到店转化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50000" y="1350000"/>
            <a:ext cx="20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0000" y="1380000"/>
            <a:ext cx="1900000" cy="1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扫码点餐入会
团购核销体验
9.9美式尝鲜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50000" y="2600000"/>
            <a:ext cx="2000000" cy="350000"/>
          </a:xfrm>
          <a:prstGeom prst="roundRect">
            <a:avLst/>
          </a:prstGeom>
          <a:solidFill>
            <a:srgbClr val="F0F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0000" y="2620000"/>
            <a:ext cx="194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首次消费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500000" y="1300000"/>
            <a:ext cx="200000" cy="200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50000" y="700000"/>
            <a:ext cx="2000000" cy="600000"/>
          </a:xfrm>
          <a:prstGeom prst="roundRect">
            <a:avLst/>
          </a:prstGeom>
          <a:solidFill>
            <a:srgbClr val="0D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0" y="720000"/>
            <a:ext cx="1940000" cy="5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❸ 私域锁客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50000" y="1350000"/>
            <a:ext cx="20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0000" y="1380000"/>
            <a:ext cx="1900000" cy="1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周卡锁定复购
企微群运营
会员日活动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50000" y="2600000"/>
            <a:ext cx="2000000" cy="350000"/>
          </a:xfrm>
          <a:prstGeom prst="roundRect">
            <a:avLst/>
          </a:prstGeom>
          <a:solidFill>
            <a:srgbClr val="F0F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0000" y="2620000"/>
            <a:ext cx="194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成为常客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700000" y="1300000"/>
            <a:ext cx="200000" cy="200000"/>
          </a:xfrm>
          <a:prstGeom prst="rightArrow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0000" y="700000"/>
            <a:ext cx="2000000" cy="600000"/>
          </a:xfrm>
          <a:prstGeom prst="roundRect">
            <a:avLst/>
          </a:prstGeom>
          <a:solidFill>
            <a:srgbClr val="7B6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80000" y="720000"/>
            <a:ext cx="1940000" cy="56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❹ 口碑裂变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0000" y="1350000"/>
            <a:ext cx="2000000" cy="12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B6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00000" y="1380000"/>
            <a:ext cx="1900000" cy="114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好评自然产生
小红书分享
朋友推荐到店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0000" y="2600000"/>
            <a:ext cx="2000000" cy="350000"/>
          </a:xfrm>
          <a:prstGeom prst="roundRect">
            <a:avLst/>
          </a:prstGeom>
          <a:solidFill>
            <a:srgbClr val="F0FF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0000" y="2620000"/>
            <a:ext cx="1940000" cy="3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→ 新客+1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0000" y="3100000"/>
            <a:ext cx="8600000" cy="450000"/>
          </a:xfrm>
          <a:prstGeom prst="roundRect">
            <a:avLst/>
          </a:prstGeom>
          <a:solidFill>
            <a:srgbClr val="6F4E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000" y="3120000"/>
            <a:ext cx="8300000" cy="41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 核心逻辑：公域带来新客→到店扫码变会员→周卡/社群锁复购→好体验产生好评→好评拉高排名→更多新客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DDCCAA"/>
                </a:solidFill>
                <a:latin typeface="Microsoft YaHei"/>
                <a:ea typeface="Microsoft YaHei"/>
                <a:cs typeface="Microsoft YaHei"/>
              </a:rPr>
              <a:t>这不是4个独立动作，是一个自我加强的飞轮。每个环节断了，飞轮就停。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000" y="3650000"/>
            <a:ext cx="8600000" cy="3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📌 飞轮启动指标：团购日核销8+ → 日均入会15+ → 周卡月售80+ → 月新增评价15+ → 曝光转化率→10%+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📈 量化OKR + 投资回报：算得过来的账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80000"/>
            <a:ext cx="4200000" cy="3200000"/>
          </a:xfrm>
          <a:prstGeom prst="roundRect">
            <a:avLst/>
          </a:prstGeom>
          <a:solidFill>
            <a:srgbClr val="F0F4FF"/>
          </a:solidFill>
          <a:ln w="1905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0000" y="700000"/>
            <a:ext cx="4000000" cy="31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A53A8"/>
                </a:solidFill>
                <a:latin typeface="Microsoft YaHei"/>
                <a:ea typeface="Microsoft YaHei"/>
                <a:cs typeface="Microsoft YaHei"/>
              </a:rPr>
              <a:t>🎯 60天OKR目标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━━━ 营收目标 ━━━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月流水：¥2.5万 → ¥5.5-6.5万（+120-160%）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日间咖啡：¥1,200-1,500/天（团购拉升后）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早餐档：+¥300-400/天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微醺时段：+¥300-450/天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━━━ 口碑目标 ━━━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点评评价数：0 → 50条+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点评评分：目标4.0-4.5分（出星）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1A73E8"/>
                </a:solidFill>
                <a:latin typeface="Microsoft YaHei"/>
                <a:ea typeface="Microsoft YaHei"/>
                <a:cs typeface="Microsoft YaHei"/>
              </a:rPr>
              <a:t>曝光转化率：3.4% → 12%+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━━━ 私域目标 ━━━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会员数：0 → 300+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周卡月销：80张（¥3,120/月）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企微群：200+人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复购率目标：30%+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50000" y="680000"/>
            <a:ext cx="4200000" cy="150000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0000" y="700000"/>
            <a:ext cx="4000000" cy="14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FF6D00"/>
                </a:solidFill>
                <a:latin typeface="Microsoft YaHei"/>
                <a:ea typeface="Microsoft YaHei"/>
                <a:cs typeface="Microsoft YaHei"/>
              </a:rPr>
              <a:t>💰 月增收测算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❶ 团购引流增收     +¥5,000/月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日均8单团购×¥22×30天，扣除引流折扣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❷ 早餐档增收        +¥10,000/月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日均15单×¥19.9×30天(毛利约55%)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❸ 微醺时段增收     +¥10,000/月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日均10人×¥38×30天(毛利约60%)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❹ 周卡复购增收     +¥3,000/月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80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  月售80张×¥39-成本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4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合计月增收：约 +¥28,000/月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0000" y="2280000"/>
            <a:ext cx="4200000" cy="1600000"/>
          </a:xfrm>
          <a:prstGeom prst="roundRect">
            <a:avLst/>
          </a:prstGeom>
          <a:solidFill>
            <a:srgbClr val="F0FFF0"/>
          </a:solidFill>
          <a:ln w="1905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0000" y="2300000"/>
            <a:ext cx="4000000" cy="1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💵 投入与回本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已有投入（已签约）：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收银POS + 扫码点餐（年费已付）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新增投入（建议）：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会员旗舰版：¥4,888/年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团购上线：¥0（免费）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小红书/抖音DOU+：¥600/月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企微群台卡/物料：¥200（一次性）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  · 早餐轻食启动备料：¥500（首批）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1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200" b="1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首月总新增投入：≈¥6,600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300" b="1">
                <a:solidFill>
                  <a:srgbClr val="0D8A4E"/>
                </a:solidFill>
                <a:latin typeface="Microsoft YaHei"/>
                <a:ea typeface="Microsoft YaHei"/>
                <a:cs typeface="Microsoft YaHei"/>
              </a:rPr>
              <a:t>月增收¥28,000 ÷ ¥6,600 ≈ 0.2月回本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500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00000" y="80000"/>
            <a:ext cx="8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🗺️ 60天执行路线图：每周该干什么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0000" y="650000"/>
            <a:ext cx="2050000" cy="500000"/>
          </a:xfrm>
          <a:prstGeom prst="roundRect">
            <a:avLst/>
          </a:prstGeom>
          <a:solidFill>
            <a:srgbClr val="E8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000"/>
            <a:ext cx="1990000" cy="4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W1
开业冲刺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" y="1180000"/>
            <a:ext cx="20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0000" y="1200000"/>
            <a:ext cx="1970000" cy="2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Day1: 团购上线+门店装修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Day1: 扫码入会弹窗开启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Day2: 免费试设置20个名额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Day3: 小红书第1篇发布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Day5: 企微群开始拉人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Day7: 周卡正式推出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80000" y="650000"/>
            <a:ext cx="2050000" cy="500000"/>
          </a:xfrm>
          <a:prstGeom prst="roundRect">
            <a:avLst/>
          </a:prstGeom>
          <a:solidFill>
            <a:srgbClr val="FF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0000" y="660000"/>
            <a:ext cx="1990000" cy="4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W2-3
攒评造势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80000" y="1180000"/>
            <a:ext cx="20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0000" y="1200000"/>
            <a:ext cx="1970000" cy="2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免费试每天审核2-3人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抖音视频2-3条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小红书保持每周2篇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群运营：周一预告+周五暗号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目标：20条评价+50个会员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周卡话术全员演练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0000" y="650000"/>
            <a:ext cx="2050000" cy="500000"/>
          </a:xfrm>
          <a:prstGeom prst="round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0000" y="660000"/>
            <a:ext cx="1990000" cy="4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W4-5
场景延伸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0000" y="1180000"/>
            <a:ext cx="20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0000" y="1200000"/>
            <a:ext cx="1970000" cy="2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早餐档正式上线(7:30)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微醺时段试运营(18:00)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七夕/立秋营销执行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团购核销数据复盘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目标：日流水→¥1,500+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会员数→150+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0000" y="650000"/>
            <a:ext cx="2050000" cy="500000"/>
          </a:xfrm>
          <a:prstGeom prst="roundRect">
            <a:avLst/>
          </a:prstGeom>
          <a:solidFill>
            <a:srgbClr val="0D8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0000" y="660000"/>
            <a:ext cx="1990000" cy="48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W6-8
稳定增长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0000" y="1180000"/>
            <a:ext cx="2050000" cy="26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8A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80000" y="1200000"/>
            <a:ext cx="1970000" cy="25500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三个时段全面运营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冲新店榜/热门榜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月末全面复盘(流水/评价/会员)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调整不达标的环节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目标：月流水¥5.5万+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9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>☑ 评价50+/会员300+/群200+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2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000" y="3900000"/>
            <a:ext cx="8600000" cy="380000"/>
          </a:xfrm>
          <a:prstGeom prst="roundRect">
            <a:avLst/>
          </a:prstGeom>
          <a:solidFill>
            <a:srgbClr val="F5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00" y="3920000"/>
            <a:ext cx="8300000" cy="34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>
                <a:solidFill>
                  <a:srgbClr val="6F4E37"/>
                </a:solidFill>
                <a:latin typeface="Microsoft YaHei"/>
                <a:ea typeface="Microsoft YaHei"/>
                <a:cs typeface="Microsoft YaHei"/>
              </a:rPr>
              <a:t>📌 30天复盘节点（必做）：流水是否破¥1,500/天？评价是否≥30条？会员是否≥150人？不达标→分析原因→调整策略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1A53A8"/>
              </a:gs>
              <a:gs pos="100000">
                <a:srgbClr val="1A73E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00000" y="800000"/>
            <a:ext cx="6744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Ye coffee·耶咖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000" y="1400000"/>
            <a:ext cx="674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0">
                <a:solidFill>
                  <a:srgbClr val="BBDDFF"/>
                </a:solidFill>
                <a:latin typeface="Microsoft YaHei"/>
                <a:ea typeface="Microsoft YaHei"/>
                <a:cs typeface="Microsoft YaHei"/>
              </a:rPr>
              <a:t>×  美团收银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000" y="2100000"/>
            <a:ext cx="1500000" cy="1200000"/>
          </a:xfrm>
          <a:prstGeom prst="roundRect">
            <a:avLst/>
          </a:prstGeom>
          <a:solidFill>
            <a:srgbClr val="256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2000" y="2130000"/>
            <a:ext cx="14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000" y="2550000"/>
            <a:ext cx="144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品质咖啡
差异化定位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2000" y="2100000"/>
            <a:ext cx="1500000" cy="1200000"/>
          </a:xfrm>
          <a:prstGeom prst="roundRect">
            <a:avLst/>
          </a:prstGeom>
          <a:solidFill>
            <a:srgbClr val="256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72000" y="2130000"/>
            <a:ext cx="14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2000" y="2550000"/>
            <a:ext cx="144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数字化运营
扫码+会员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22000" y="2100000"/>
            <a:ext cx="1500000" cy="1200000"/>
          </a:xfrm>
          <a:prstGeom prst="roundRect">
            <a:avLst/>
          </a:prstGeom>
          <a:solidFill>
            <a:srgbClr val="256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2000" y="2130000"/>
            <a:ext cx="14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2000" y="2550000"/>
            <a:ext cx="144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公私域联动
增长飞轮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02000" y="2100000"/>
            <a:ext cx="1500000" cy="1200000"/>
          </a:xfrm>
          <a:prstGeom prst="roundRect">
            <a:avLst/>
          </a:prstGeom>
          <a:solidFill>
            <a:srgbClr val="256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2000" y="2130000"/>
            <a:ext cx="14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32000" y="2550000"/>
            <a:ext cx="144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数据驱动
精准决策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2000" y="2100000"/>
            <a:ext cx="1500000" cy="1200000"/>
          </a:xfrm>
          <a:prstGeom prst="roundRect">
            <a:avLst/>
          </a:prstGeom>
          <a:solidFill>
            <a:srgbClr val="2565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2000" y="2130000"/>
            <a:ext cx="144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2000" y="2550000"/>
            <a:ext cx="1440000" cy="7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60天冷启动
快速回本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0000" y="3500000"/>
            <a:ext cx="674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CCDDFF"/>
                </a:solidFill>
                <a:latin typeface="Microsoft YaHei"/>
                <a:ea typeface="Microsoft YaHei"/>
                <a:cs typeface="Microsoft YaHei"/>
              </a:rPr>
              <a:t>"每一杯好咖啡，都值得被更多人喝到。"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0000" y="4200000"/>
            <a:ext cx="6744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99BBEE"/>
                </a:solidFill>
                <a:latin typeface="Microsoft YaHei"/>
                <a:ea typeface="Microsoft YaHei"/>
                <a:cs typeface="Microsoft YaHei"/>
              </a:rPr>
              <a:t>美团餐饮SaaS运营策划团队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