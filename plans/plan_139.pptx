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0D47A1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53500"/>
            <a:ext cx="9144000" cy="9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7744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家常小炒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50000"/>
            <a:ext cx="7744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D59E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900000"/>
            <a:ext cx="7744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5D9F5"/>
                </a:solidFill>
                <a:latin typeface="Microsoft YaHei"/>
                <a:ea typeface="Microsoft YaHei"/>
                <a:cs typeface="Microsoft YaHei"/>
              </a:rPr>
              <a:t>外卖突围 · 私域锁客 · 新店冷启动一体化打法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3400000"/>
            <a:ext cx="1944000" cy="8000"/>
          </a:xfrm>
          <a:prstGeom prst="rect">
            <a:avLst/>
          </a:prstGeom>
          <a:solidFill>
            <a:srgbClr val="FF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3550000"/>
            <a:ext cx="7744000" cy="2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8CCEE"/>
                </a:solidFill>
                <a:latin typeface="Microsoft YaHei"/>
                <a:ea typeface="Microsoft YaHei"/>
                <a:cs typeface="Microsoft YaHei"/>
              </a:rPr>
              <a:t>浙江省杭州市上城区 · 笕桥盈澜商务中心 · 面食快餐 · 新店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4500000"/>
            <a:ext cx="7744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8E0"/>
                </a:solidFill>
                <a:latin typeface="Microsoft YaHei"/>
                <a:ea typeface="Microsoft YaHei"/>
                <a:cs typeface="Microsoft YaHei"/>
              </a:rPr>
              <a:t>美团收银 × 外卖中心  |  美团餐饮SaaS运营策划团队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方案摘要：一张图看懂这家店怎么赢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新店未开业 · 外卖为主堂食为辅 · 50㎡ · 已签约收银POS+外卖中心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8229600" cy="76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70000" cy="7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" y="960000"/>
            <a:ext cx="8000000" cy="6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核心判断：</a:t>
            </a:r>
            <a:r>
              <a:rPr sz="14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典型办公盘底商新店，午市单峰、堂食曝光弱。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纯堂食抗不住租金，</a:t>
            </a:r>
            <a:r>
              <a:rPr sz="13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必须以外卖为主战场冲销量与评分，用企业午市群锁定固定客流对冲到店弱，开业30天打透口碑冷启动。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0000"/>
            <a:ext cx="2650000" cy="27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0000"/>
            <a:ext cx="265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200" y="1950000"/>
            <a:ext cx="241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📍 现状诊断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200" y="2380000"/>
            <a:ext cx="2370000" cy="20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新店未开业，0评价、0客流基础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底商1幢6号非主入口，自然曝光弱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办公盘：午市集中、晚市周末断崖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已签收银POS+外卖中心，会员储值未开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周边乡村基/老娘舅/面馆林立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7200" y="1820000"/>
            <a:ext cx="2650000" cy="27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7200" y="1820000"/>
            <a:ext cx="2650000" cy="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7200" y="1950000"/>
            <a:ext cx="241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三大主线打法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7200" y="2380000"/>
            <a:ext cx="2370000" cy="20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① 外卖冷启动：评分4.8+、出餐快、首单转化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② 企业午市群：楼栋接龙锁定固定客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③ 现炒锅气差异化：两荤一素18-20元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公域(点评+外卖+小红书)→私域(社群+会员)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开业前7天倒计时SOP，员工照做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7200" y="1820000"/>
            <a:ext cx="2650000" cy="27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7200" y="1820000"/>
            <a:ext cx="265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7200" y="1950000"/>
            <a:ext cx="241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📈 90天OKR目标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00" y="2380000"/>
            <a:ext cx="2370000" cy="20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月营收：0 → 12万(堂食4.8万+外卖7.2万)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外卖评分：开业30天达 4.8 分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外卖日单量：60天达 80单/天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企业午市群：2群500人、日接龙40份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会员沉淀：90天 1200人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品类理解：面食快餐的机遇与这家店的挑战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2025杭州快餐面食「性价比回归」周期 · 现炒快餐是增长点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4000000" cy="305000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4000000" cy="600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7200" y="1020000"/>
            <a:ext cx="37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⚠️ 门店挑战（要直面）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00" y="1460000"/>
            <a:ext cx="3660000" cy="24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新店0基础：无评价、无搜索权重、无回头客，平台不给自然流量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底商位置偏：1幢6号非主入口，路过曝光弱，到店靠主动找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办公盘单峰：午市集中、晚市周末断崖，纯堂食撑不住租金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白牌料理包挤压：周边低价快餐多，客单很难提上去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成熟连锁夹击：乡村基/老娘舅出餐稳、认知强，硬碰没胜算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6800" y="900000"/>
            <a:ext cx="4000000" cy="305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6800" y="900000"/>
            <a:ext cx="400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6800" y="1020000"/>
            <a:ext cx="37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🔥 赛道机遇（可借力）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6800" y="1460000"/>
            <a:ext cx="3660000" cy="24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现炒快餐风口：明档锅气、非料理包是2025最大卖点，恰是连锁软肋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外卖刚需化：杭州写字楼外卖渗透率全国最高，午市外卖=确定增量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性价比甜区：两荤一素18-20元，卡在连锁之下、面馆之上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企业团餐可锁定：办公盘自带固定客群，群运营=稳定基本盘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晚市/周末家庭外带：盈澜周边有居住盘，补单峰短板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80000"/>
            <a:ext cx="8229600" cy="760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90000"/>
            <a:ext cx="205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15-25元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0000"/>
            <a:ext cx="205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杭州快餐面食人均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190000"/>
            <a:ext cx="205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12-20元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550000"/>
            <a:ext cx="205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写字楼午市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90000"/>
            <a:ext cx="205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18-20元/两荤一素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50000"/>
            <a:ext cx="205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现炒快餐定位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90000"/>
            <a:ext cx="205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50㎡ 小店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550000"/>
            <a:ext cx="205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门店面积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商圈洞察：你的客人是谁、什么时候来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笕桥盈澜商务中心 · 火车东站/高铁站商圈 · 典型办公盘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26500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265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200" y="1020000"/>
            <a:ext cx="241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🕛 午市(主战场)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200" y="1420000"/>
            <a:ext cx="2370000" cy="124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白领/上班族 25-40岁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场景：12点快速解决午饭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痛点：怕排队、要快、要划算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打法：外卖+企业群接龙锁客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占比目标：营收60%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7200" y="900000"/>
            <a:ext cx="26500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7200" y="900000"/>
            <a:ext cx="2650000" cy="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00" y="1020000"/>
            <a:ext cx="241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🌆 晚市(要激活)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7200" y="1420000"/>
            <a:ext cx="2370000" cy="124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加班族+周边居民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场景：加班餐/回家带饭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痛点：晚市人少、选择多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打法：家庭小份炒菜外带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占比目标：营收25%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7200" y="900000"/>
            <a:ext cx="26500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7200" y="900000"/>
            <a:ext cx="265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7200" y="1020000"/>
            <a:ext cx="241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📅 周末(补缺口)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00" y="1420000"/>
            <a:ext cx="2370000" cy="124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周边居住盘家庭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场景：懒得做饭点外卖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痛点：办公盘周末空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打法：周末家庭套餐外卖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占比目标：营收15%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80000"/>
            <a:ext cx="8229600" cy="54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80000"/>
            <a:ext cx="70000" cy="54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000" y="2950000"/>
            <a:ext cx="800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商圈结论：</a:t>
            </a:r>
            <a:r>
              <a:rPr sz="12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曝光靠位置没戏，要靠主动触达——外卖平台抢搜索+企业群锁定固定客，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把「路过才进来」的被动生意，变成「天天接龙、天天复购」的主动生意。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40000"/>
            <a:ext cx="8229600" cy="128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3630000"/>
            <a:ext cx="8000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⏰ 关键节点（BD须知）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00" y="4020000"/>
            <a:ext cx="8000000" cy="7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拜访期限：2026-06-18 21:00 前需有效上门，否则掉海；签约期限 2026-07-13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门店状态：尚未开业、有KP、拜访三次以下——早期建联，方案要一眼打动老板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落地窗口：开业前是冷启动黄金期，外卖资质/评分/企业群须开业前铺好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竞品分析：你这条街，谁在跟你抢生意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笕桥商务中心底商商圈 · 竞争烈度中高 · 找准切入口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0000"/>
            <a:ext cx="1650000" cy="50833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200" y="885000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7200" y="860000"/>
            <a:ext cx="720000" cy="50833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2200" y="885000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7200" y="860000"/>
            <a:ext cx="1620000" cy="50833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2200" y="885000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7200" y="860000"/>
            <a:ext cx="1700000" cy="50833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2200" y="885000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核心弱点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7200" y="860000"/>
            <a:ext cx="2539600" cy="50833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2200" y="885000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我能切哪块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68333"/>
            <a:ext cx="165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200" y="1393333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乡村基/大米先生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7200" y="1368333"/>
            <a:ext cx="7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62200" y="1393333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20-28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27200" y="1368333"/>
            <a:ext cx="16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2200" y="1393333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现炒强、出餐快、品控稳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7200" y="1368333"/>
            <a:ext cx="170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2200" y="1393333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味偏标准化、性价比一般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7200" y="1368333"/>
            <a:ext cx="25396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2200" y="1393333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18-20元现炒套餐打性价比，抢嫌它贵的人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876666"/>
            <a:ext cx="165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200" y="1901666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老娘舅(浙江连锁)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7200" y="1876666"/>
            <a:ext cx="72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62200" y="1901666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18-25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7200" y="1876666"/>
            <a:ext cx="162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2200" y="1901666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米饭快餐扎实、本地认知高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7200" y="1876666"/>
            <a:ext cx="170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2200" y="1901666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菜式固定、惊喜感弱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7200" y="1876666"/>
            <a:ext cx="25396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2200" y="1901666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外卖差异菜单+锅气卖点，做新鲜现炒记忆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384999"/>
            <a:ext cx="165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200" y="2409999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杭州小面/重庆面馆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7200" y="2384999"/>
            <a:ext cx="7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62200" y="2409999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13-18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27200" y="2384999"/>
            <a:ext cx="16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2200" y="2409999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出餐极快、午市分流大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47200" y="2384999"/>
            <a:ext cx="170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2200" y="2409999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只有面、吃不到炒菜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7200" y="2384999"/>
            <a:ext cx="25396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2200" y="2409999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面食+小炒双品类，满足想吃菜不只吃面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893332"/>
            <a:ext cx="165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200" y="2918332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沙县/兰州拉面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7200" y="2893332"/>
            <a:ext cx="72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62200" y="2918332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12-16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27200" y="2893332"/>
            <a:ext cx="162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2200" y="2918332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低价兜底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47200" y="2893332"/>
            <a:ext cx="17000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2200" y="2918332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品质口碑弱、无锅气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7200" y="2893332"/>
            <a:ext cx="2539600" cy="50833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2200" y="2918332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主打现炒锅气，价格略高但体验拉满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401665"/>
            <a:ext cx="165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200" y="3426665"/>
            <a:ext cx="155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美团闪购/写字楼团餐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7200" y="3401665"/>
            <a:ext cx="7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62200" y="3426665"/>
            <a:ext cx="6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27200" y="3401665"/>
            <a:ext cx="162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82200" y="3426665"/>
            <a:ext cx="152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怕排队白领直接下单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47200" y="3401665"/>
            <a:ext cx="17000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02200" y="3426665"/>
            <a:ext cx="16000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非现做、无温度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7200" y="3401665"/>
            <a:ext cx="2539600" cy="508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02200" y="3426665"/>
            <a:ext cx="2439600" cy="463333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外卖出餐快+锅气照片+好评墙，抢回这批人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000000"/>
            <a:ext cx="8229600" cy="54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4000000"/>
            <a:ext cx="70000" cy="54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0000" y="4070000"/>
            <a:ext cx="800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切入策略：</a:t>
            </a: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不拼标准化、不拼便宜——打「现炒锅气+面食小炒双品类+18-20元甜价位」差异化，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主战场放外卖绕开底商曝光弱，用企业群把午市这批人牢牢锁住。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外卖中心：把「位置弱」变成「线上强」（核心战场）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外卖为主 · 已签约外卖中心 · 这家店最该打透的一仗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2540000" cy="62000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940000"/>
            <a:ext cx="23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新店没流量、搜索排不上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40000" y="110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0000" y="900000"/>
            <a:ext cx="2740000" cy="620000"/>
          </a:xfrm>
          <a:prstGeom prst="round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0000" y="940000"/>
            <a:ext cx="25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外卖中心能力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外卖中心 多平台聚合+智能出餐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10000" y="110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0000" y="900000"/>
            <a:ext cx="2136800" cy="62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0000" y="940000"/>
            <a:ext cx="19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门店效果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新店期集中冲销量，搜索权重快速起来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10000"/>
            <a:ext cx="2540000" cy="62000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1650000"/>
            <a:ext cx="23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怕排队的白领被闪购抢走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40000" y="181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0000" y="1610000"/>
            <a:ext cx="2740000" cy="620000"/>
          </a:xfrm>
          <a:prstGeom prst="round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0000" y="1650000"/>
            <a:ext cx="25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外卖中心能力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出餐提速+锅气实拍菜单+好评墙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10000" y="181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0000" y="1610000"/>
            <a:ext cx="2136800" cy="62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000" y="1650000"/>
            <a:ext cx="19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门店效果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下单转化↑，把怕等的人抢回来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20000"/>
            <a:ext cx="2540000" cy="62000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2360000"/>
            <a:ext cx="23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差评压评分、流量腰斩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40000" y="252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0000" y="2320000"/>
            <a:ext cx="2740000" cy="620000"/>
          </a:xfrm>
          <a:prstGeom prst="round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0000" y="2360000"/>
            <a:ext cx="25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外卖中心能力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差评预警+话术快速回复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210000" y="2520000"/>
            <a:ext cx="260000" cy="22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50000" y="2320000"/>
            <a:ext cx="2136800" cy="62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0000" y="2360000"/>
            <a:ext cx="1980000" cy="5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门店效果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开业30天评分稳在4.8，口碑护城河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90000"/>
            <a:ext cx="8229600" cy="156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000" y="3370000"/>
            <a:ext cx="800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🔧 怎么做（开业前就要铺好，店长负责）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" y="3760000"/>
            <a:ext cx="8000000" cy="10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开业前7天：在外卖中心后台完善门店资质、上线菜单，把「招牌现炒」做成首图，菜品配真实锅气照（手机拍即可，禁用网图）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开业前3天：设置新客立减「首单减5元」+满25减3，前30单冲销量买权重；出餐时间设≤15分钟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开业当天起：开启差评预警，差评2小时内由店长回复（话术见执行手册），好评截图做成「好评墙」放进菜单详情页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不配合怎么办：员工嫌拍照麻烦→店长统一一次性拍10张备用；骑手慢→优先接3公里内单、备好出餐提示牌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企业午市群：把午市这批人，从「路过」变「天天接龙」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对冲底商曝光弱 · 锁定固定办公客 · 这家店最该建的私域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8229600" cy="640000"/>
          </a:xfrm>
          <a:prstGeom prst="round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70000" cy="64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" y="960000"/>
            <a:ext cx="800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为什么是它：</a:t>
            </a:r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办公盘自然到店弱，但人群高度集中在周边几栋楼。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建楼栋微信群+每日菜单接龙，等于把「不确定的路过流量」变成「确定的固定订单」——这是这家店最稳的基本盘。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00000"/>
            <a:ext cx="8229600" cy="24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1780000"/>
            <a:ext cx="800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🔧 四步建群锁客（开业前启动，老板+店长一起做）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2180000"/>
            <a:ext cx="19574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2180000"/>
            <a:ext cx="1957400" cy="5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2260000"/>
            <a:ext cx="179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第1步｜建群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" y="2560000"/>
            <a:ext cx="179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开业前5天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" y="2830000"/>
            <a:ext cx="1797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店长跑周边3-5栋写字楼前台/HR，扫码进群送「开业霸王餐试吃名额」；群名：盈澜午餐拼饭群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7400" y="2180000"/>
            <a:ext cx="19574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7400" y="2180000"/>
            <a:ext cx="1957400" cy="5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7400" y="2260000"/>
            <a:ext cx="179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第2步｜接龙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400" y="2560000"/>
            <a:ext cx="179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每天10:00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7400" y="2830000"/>
            <a:ext cx="1797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群里发当日菜单+「11:30前接满3份免配送费」，用小程序/接龙工具，11点前锁定订单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4800" y="2180000"/>
            <a:ext cx="19574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4800" y="2180000"/>
            <a:ext cx="1957400" cy="5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4800" y="2260000"/>
            <a:ext cx="179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第3步｜履约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4800" y="2560000"/>
            <a:ext cx="179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每天11:30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4800" y="2830000"/>
            <a:ext cx="1797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按接龙集中出餐配送，准时+锅气热乎=口碑，附小卡片「加微信下次更快」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92200" y="2180000"/>
            <a:ext cx="1957400" cy="182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92200" y="2180000"/>
            <a:ext cx="1957400" cy="5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2200" y="2260000"/>
            <a:ext cx="17974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第4步｜复购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2200" y="2560000"/>
            <a:ext cx="17974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每周五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2200" y="2830000"/>
            <a:ext cx="1797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群里发「下周菜单预告+周五会员日满20减3」，养成天天看群的习惯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20000"/>
            <a:ext cx="8229600" cy="56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220000"/>
            <a:ext cx="70000" cy="5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000" y="4290000"/>
            <a:ext cx="8000000" cy="4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不配合怎么办：</a:t>
            </a:r>
            <a:r>
              <a:rPr sz="11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前台不让扫码→改成在写字楼电梯口/外卖架放「拼饭群」立牌；群里没人接龙→前两周老板自己每天发，并用「满3份免配送」+「群专属菜」养习惯。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公私域联动：从「被看见」到「留下来」的完整闭环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公域引流 → 私域沉淀 → 复购唤醒 · 一个闭环不是三件事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40000"/>
            <a:ext cx="2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0000"/>
            <a:ext cx="200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060000"/>
            <a:ext cx="18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①公域引流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200" y="1460000"/>
            <a:ext cx="1780000" cy="177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大众点评：开业建店铺、补齐图文、首页设招牌套餐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美团外卖：新客立减+冲销量起权重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小红书：每周2篇『盈澜附近现炒快餐』探店笔记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2200" y="2025000"/>
            <a:ext cx="95000" cy="18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7200" y="940000"/>
            <a:ext cx="2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7200" y="940000"/>
            <a:ext cx="2000000" cy="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7200" y="1060000"/>
            <a:ext cx="18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②到店/下单沉淀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7200" y="1460000"/>
            <a:ext cx="1780000" cy="177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收银POS扫码点餐，下单即引导加会员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外卖订单卡片附『加微信进群』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试吃/赠品换『扫码入会』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72200" y="2025000"/>
            <a:ext cx="95000" cy="18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77200" y="940000"/>
            <a:ext cx="2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7200" y="940000"/>
            <a:ext cx="200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7200" y="1060000"/>
            <a:ext cx="18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③私域锁客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7200" y="1460000"/>
            <a:ext cx="1780000" cy="177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企业午市群天天接龙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会员日满减、生日券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菜单预告养复购习惯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82200" y="2025000"/>
            <a:ext cx="95000" cy="18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87200" y="940000"/>
            <a:ext cx="2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87200" y="940000"/>
            <a:ext cx="2000000" cy="600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7200" y="1060000"/>
            <a:ext cx="1800000" cy="3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④复购唤醒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7200" y="1460000"/>
            <a:ext cx="1780000" cy="177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会员消息推当日特价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沉睡客定向发券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老带新：拉同事进群得菜品券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70000"/>
            <a:ext cx="8229600" cy="128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000" y="3550000"/>
            <a:ext cx="8000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闭环的关键：每个环节都要把人「往会员/群里导」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00" y="3940000"/>
            <a:ext cx="8000000" cy="7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公域只负责把人引来一次，真正的利润在第2~4环的复购——所以扫码入会率是生命线，目标开口率≥80%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🔧 收银台立牌『扫码进群，午餐天天9折』；外卖每单放卡片『加微信进拼饭群，下次更便宜』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小红书/点评的新客 → 必须在第一次消费就沉淀进群或会员，否则等于白引流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会员沉淀：先把人留住，储值『轻启动』不强推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新店第一要务是攒客、不是收钱 · 储值只做低门槛体验档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8229600" cy="620000"/>
          </a:xfrm>
          <a:prstGeom prst="round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70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" y="960000"/>
            <a:ext cx="80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第一性判断：</a:t>
            </a:r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新店没复购基础，上来猛推大额储值=劝退。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这家店现在最缺的是『客流和评价』，不是『储值现金流』。所以会员先行、储值轻启动，等回头客起来(约开业45天后)再加码。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80000"/>
            <a:ext cx="4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80000"/>
            <a:ext cx="400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200" y="1800000"/>
            <a:ext cx="372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👥 会员体系（开业即上）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00" y="2200000"/>
            <a:ext cx="3680000" cy="177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扫码点餐/外卖下单自动引导入会，0门槛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会员价：招牌套餐立减2元，制造『办了划算』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积分：消费1元1分，满100分换饮品/小菜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会员日(每周五)：午餐9折 / 满20减3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目标：开业首月入会600人，90天1200人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6800" y="1680000"/>
            <a:ext cx="400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6800" y="1680000"/>
            <a:ext cx="4000000" cy="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800" y="1800000"/>
            <a:ext cx="372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储值轻启动（45天后再推）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6800" y="2200000"/>
            <a:ext cx="3680000" cy="54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800" y="2250000"/>
            <a:ext cx="348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体验档 充50送5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800" y="2460000"/>
            <a:ext cx="3480000" cy="1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约9折 · 客单18-20元≈3次用完 ⭐主推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800" y="2620000"/>
            <a:ext cx="3480000" cy="1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低门槛、没负担，先让客人敢充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36800" y="2800000"/>
            <a:ext cx="3680000" cy="54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800" y="2850000"/>
            <a:ext cx="348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常用档 充100送15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800" y="3060000"/>
            <a:ext cx="3480000" cy="1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约8.7折 · 高频午餐客首选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800" y="3220000"/>
            <a:ext cx="3480000" cy="1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锁定每天来的固定办公客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6800" y="3400000"/>
            <a:ext cx="3680000" cy="54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6800" y="3450000"/>
            <a:ext cx="348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尊享档 充300送60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800" y="3660000"/>
            <a:ext cx="3480000" cy="1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约8.3折 · 企业群活跃客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800" y="3820000"/>
            <a:ext cx="3480000" cy="1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群里铁粉/小团队代付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点评口碑：新店30天，把前50条好评打牢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合规获取真实评价 · 严禁促评刷评 · 评分是外卖+到店的命门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2000000" cy="16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200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01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第1阶段 止血期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200" y="1420000"/>
            <a:ext cx="1780000" cy="2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开业前-开业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200" y="1660000"/>
            <a:ext cx="1780000" cy="7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建店铺、补齐图文、设置招牌菜，确保『一搜就有、一看想点』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2200" y="1620000"/>
            <a:ext cx="95000" cy="16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7200" y="900000"/>
            <a:ext cx="2000000" cy="16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7200" y="900000"/>
            <a:ext cx="200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200" y="101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第2阶段 攒量期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7200" y="1420000"/>
            <a:ext cx="1780000" cy="2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开业1-30天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7200" y="1660000"/>
            <a:ext cx="1780000" cy="7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用霸王餐试吃+真实体验攒前50条评价，差评2小时内回复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2200" y="1620000"/>
            <a:ext cx="95000" cy="16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77200" y="900000"/>
            <a:ext cx="2000000" cy="16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77200" y="900000"/>
            <a:ext cx="200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7200" y="101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第3阶段 冲榜期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7200" y="1420000"/>
            <a:ext cx="1780000" cy="2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开业30-60天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7200" y="1660000"/>
            <a:ext cx="1780000" cy="7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稳评分4.8+，争取进入区域『现炒快餐』好评/人气榜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200" y="1620000"/>
            <a:ext cx="95000" cy="160000"/>
          </a:xfrm>
          <a:prstGeom prst="rightArrow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87200" y="900000"/>
            <a:ext cx="2000000" cy="16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87200" y="900000"/>
            <a:ext cx="200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7200" y="101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第4阶段 维护期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7200" y="1420000"/>
            <a:ext cx="1780000" cy="2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60天后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7200" y="1660000"/>
            <a:ext cx="1780000" cy="7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保持回复率100%，定期更新菜品图，沉淀招牌菜口碑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700000"/>
            <a:ext cx="8229600" cy="108000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00000"/>
            <a:ext cx="70000" cy="10800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000" y="2780000"/>
            <a:ext cx="8000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🔴 合规红线（必须守住）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" y="3150000"/>
            <a:ext cx="8000000" cy="5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严禁好评返现/诱导刷评：2025年10月后高强度促评的新评价『不产生星级收益』，纯属浪费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正确姿势：靠真实体验+主动邀请『方便的话写写真实感受，好坏都行』，用免费试吃换真实评价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差评不删不吵：店长2小时内诚恳回复+给补救方案，比删评更能挽回信任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20000"/>
            <a:ext cx="8229600" cy="56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20000"/>
            <a:ext cx="70000" cy="5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" y="3990000"/>
            <a:ext cx="8000000" cy="4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可量化目标：</a:t>
            </a:r>
            <a:r>
              <a:rPr sz="11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开业30天攒够50条真实评价、评分≥4.8、回复率100%；60天进区域现炒快餐人气榜前10。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开业前7天冷启动SOP：照着做，开业即有单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谁来做 / 第几天 / 在哪操作 / 怎么说 — 一步不漏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4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8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8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200" y="88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完善外卖中心门店资质、上线菜单，招牌现炒做首图配真实锅气照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7200" y="88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店长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60000"/>
            <a:ext cx="822960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6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6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200" y="136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跑周边3-5栋写字楼建『盈澜午餐拼饭群』，扫码送试吃名额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7200" y="136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老板+店长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40000"/>
            <a:ext cx="8229600" cy="4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4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4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200" y="184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大众点评建店铺、补图文、设招牌套餐；小红书发第1篇探店预告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7200" y="184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店长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20000"/>
            <a:ext cx="822960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32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2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200" y="232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设置外卖新客立减(首单减5)+满25减3，出餐时间≤15分钟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7200" y="232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店长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00000"/>
            <a:ext cx="8229600" cy="4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0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0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200" y="280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开业霸王餐：点评/外卖各设20个试吃名额，话术『当试吃官，写真实感受』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7200" y="280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店长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80000"/>
            <a:ext cx="822960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8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8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7200" y="328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员工演练：扫码入会话术、储值话术、出餐SOP、差评回复话术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7200" y="328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店长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60000"/>
            <a:ext cx="8229600" cy="4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760000"/>
            <a:ext cx="7200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6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7200" y="376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收银台/外卖架放立牌：『扫码进群午餐9折』；备好10张菜品锅气照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7200" y="376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全员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40000"/>
            <a:ext cx="822960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240000"/>
            <a:ext cx="720000" cy="48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40000"/>
            <a:ext cx="72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7200" y="4240000"/>
            <a:ext cx="610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群里发开业菜单接龙+11:30前满3份免配送；差评预警开启，盯前30单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7200" y="4240000"/>
            <a:ext cx="12800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老板+店长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4285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9144000" cy="3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000"/>
            <a:ext cx="8244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投资回报与OKR：算清这笔账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000"/>
            <a:ext cx="8244000" cy="2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5E4FF"/>
                </a:solidFill>
                <a:latin typeface="Microsoft YaHei"/>
                <a:ea typeface="Microsoft YaHei"/>
                <a:cs typeface="Microsoft YaHei"/>
              </a:rPr>
              <a:t>新店投入 · 月增收来源 · 回本周期 · 量化目标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00000"/>
            <a:ext cx="4350000" cy="25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00000"/>
            <a:ext cx="4350000" cy="60000"/>
          </a:xfrm>
          <a:prstGeom prst="rect">
            <a:avLst/>
          </a:prstGeom>
          <a:solidFill>
            <a:srgbClr val="18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200" y="1010000"/>
            <a:ext cx="407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📈 月增收测算（成熟期，⚠️ 基于行业基准假设）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200" y="1460000"/>
            <a:ext cx="4030000" cy="380000"/>
          </a:xfrm>
          <a:prstGeom prst="round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200" y="1505000"/>
            <a:ext cx="26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外卖销量(80单/天×22元×30)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7200" y="1505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≈ 5.3万/月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200" y="1900000"/>
            <a:ext cx="4030000" cy="38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200" y="1945000"/>
            <a:ext cx="26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企业群午市(40份/天×20元×30)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00" y="1945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≈ 2.4万/月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200" y="2340000"/>
            <a:ext cx="4030000" cy="38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200" y="2385000"/>
            <a:ext cx="26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堂食+晚市周末外带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7200" y="2385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≈ 4.3万/月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200" y="2780000"/>
            <a:ext cx="4030000" cy="38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200" y="2825000"/>
            <a:ext cx="26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会员复购提升(锁客带来增量)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7200" y="2825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≈ 0.8万/月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200" y="3120000"/>
            <a:ext cx="405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合计月营收目标：</a:t>
            </a:r>
            <a:r>
              <a:rPr sz="1500" b="1">
                <a:solidFill>
                  <a:srgbClr val="189A5A"/>
                </a:solidFill>
                <a:latin typeface="Microsoft YaHei"/>
                <a:ea typeface="Microsoft YaHei"/>
                <a:cs typeface="Microsoft YaHei"/>
              </a:rPr>
              <a:t>约 12万元/月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6800" y="900000"/>
            <a:ext cx="3650000" cy="25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6800" y="900000"/>
            <a:ext cx="3650000" cy="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6800" y="1010000"/>
            <a:ext cx="337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90天量化OKR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6800" y="146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6800" y="146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0 → 12万元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800" y="178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外卖评分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6800" y="178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开业30天 4.8分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6800" y="210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外卖日单量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6800" y="210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60天 80单/天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6800" y="242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企业午市群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6800" y="242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2群500人 / 日接龙40份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800" y="274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会员沉淀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6800" y="274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90天 1200人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6800" y="3060000"/>
            <a:ext cx="13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点评评价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6800" y="3060000"/>
            <a:ext cx="20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30天50条真实好评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80000"/>
            <a:ext cx="8229600" cy="92000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580000"/>
            <a:ext cx="70000" cy="9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000" y="3670000"/>
            <a:ext cx="8000000" cy="3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新店逻辑：先投流量与口碑，再谈现金流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00" y="4050000"/>
            <a:ext cx="8000000" cy="4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已签收银POS+外卖中心，工具到位、几乎0额外硬件投入，核心是把外卖+企业群+评价三件事做透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30天打透冷启动 → 60天评分销量稳住 → 90天会员复购成基本盘，新店3个月走完别人半年的路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4000" y="4813500"/>
            <a:ext cx="500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0D47A1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53500"/>
            <a:ext cx="9144000" cy="9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900000"/>
            <a:ext cx="7744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家常小炒 × 美团收银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7744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59E"/>
                </a:solidFill>
                <a:latin typeface="Microsoft YaHei"/>
                <a:ea typeface="Microsoft YaHei"/>
                <a:cs typeface="Microsoft YaHei"/>
              </a:rPr>
              <a:t>外卖突围 · 私域锁客 · 新店即赢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000" y="2200000"/>
            <a:ext cx="1380000" cy="1000000"/>
          </a:xfrm>
          <a:prstGeom prst="roundRect">
            <a:avLst/>
          </a:prstGeom>
          <a:solidFill>
            <a:srgbClr val="1E5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000" y="2320000"/>
            <a:ext cx="1380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2850000"/>
            <a:ext cx="1380000" cy="2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外卖为主战场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2000" y="2200000"/>
            <a:ext cx="1380000" cy="1000000"/>
          </a:xfrm>
          <a:prstGeom prst="roundRect">
            <a:avLst/>
          </a:prstGeom>
          <a:solidFill>
            <a:srgbClr val="1E5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2000" y="2320000"/>
            <a:ext cx="1380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2000" y="2850000"/>
            <a:ext cx="1380000" cy="2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企业群锁客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2000" y="2200000"/>
            <a:ext cx="1380000" cy="1000000"/>
          </a:xfrm>
          <a:prstGeom prst="roundRect">
            <a:avLst/>
          </a:prstGeom>
          <a:solidFill>
            <a:srgbClr val="1E5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2000" y="2320000"/>
            <a:ext cx="1380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2000" y="2850000"/>
            <a:ext cx="1380000" cy="2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现炒差异化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2000" y="2200000"/>
            <a:ext cx="1380000" cy="1000000"/>
          </a:xfrm>
          <a:prstGeom prst="roundRect">
            <a:avLst/>
          </a:prstGeom>
          <a:solidFill>
            <a:srgbClr val="1E5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2000" y="2320000"/>
            <a:ext cx="1380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2000" y="2850000"/>
            <a:ext cx="1380000" cy="2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口碑冷启动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82000" y="2200000"/>
            <a:ext cx="1380000" cy="1000000"/>
          </a:xfrm>
          <a:prstGeom prst="roundRect">
            <a:avLst/>
          </a:prstGeom>
          <a:solidFill>
            <a:srgbClr val="1E5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2000" y="2320000"/>
            <a:ext cx="1380000" cy="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2000" y="2850000"/>
            <a:ext cx="1380000" cy="2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90天见效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" y="3650000"/>
            <a:ext cx="77440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5D9F5"/>
                </a:solidFill>
                <a:latin typeface="Microsoft YaHei"/>
                <a:ea typeface="Microsoft YaHei"/>
                <a:cs typeface="Microsoft YaHei"/>
              </a:rPr>
              <a:t>帮这家店真正赢在开业第一天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" y="4450000"/>
            <a:ext cx="7744000" cy="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8E0"/>
                </a:solidFill>
                <a:latin typeface="Microsoft YaHei"/>
                <a:ea typeface="Microsoft YaHei"/>
                <a:cs typeface="Microsoft YaHei"/>
              </a:rPr>
              <a:t>美团餐饮SaaS运营策划团队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