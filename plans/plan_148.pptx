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A3C6E"/>
              </a:gs>
              <a:gs pos="100000">
                <a:srgbClr val="2E86C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400000"/>
            <a:ext cx="2000000" cy="28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00000"/>
            <a:ext cx="8200000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闲隅咖啡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50000"/>
            <a:ext cx="82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数字化经营解决方案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50000"/>
            <a:ext cx="82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E3F2FD"/>
                </a:solidFill>
                <a:latin typeface="Microsoft YaHei"/>
                <a:ea typeface="Microsoft YaHei"/>
                <a:cs typeface="Microsoft YaHei"/>
              </a:rPr>
              <a:t>☕ 咖啡 × 现做点心  |  深圳宝安 · 新安街道 · 天健和郡府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00000"/>
            <a:ext cx="40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0CAF9"/>
                </a:solidFill>
                <a:latin typeface="Microsoft YaHei"/>
                <a:ea typeface="Microsoft YaHei"/>
                <a:cs typeface="Microsoft YaHei"/>
              </a:rPr>
              <a:t>美团餐饮SaaS  |  2026年6月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0" y="4300000"/>
            <a:ext cx="37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300" b="0">
                <a:solidFill>
                  <a:srgbClr val="90CAF9"/>
                </a:solidFill>
                <a:latin typeface="Microsoft YaHei"/>
                <a:ea typeface="Microsoft YaHei"/>
                <a:cs typeface="Microsoft YaHei"/>
              </a:rPr>
              <a:t>美团餐饮SaaS运营策划团队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0000"/>
            <a:ext cx="82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品牌理解：咖啡+现做点心的机遇与挑战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00000"/>
            <a:ext cx="82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闲隅咖啡 · 社区复合型咖啡馆 × 新店未开业 · 人均¥30 · 100㎡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0000" y="1050000"/>
            <a:ext cx="4150000" cy="3800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0000" y="1100000"/>
            <a:ext cx="3950000" cy="37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500" b="1">
                <a:solidFill>
                  <a:srgbClr val="D93B3B"/>
                </a:solidFill>
                <a:latin typeface="Microsoft YaHei"/>
                <a:ea typeface="Microsoft YaHei"/>
                <a:cs typeface="Microsoft YaHei"/>
              </a:rPr>
              <a:t>⚠️ 挑战与痛点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❶ 价格带尴尬：¥30卡在瑞幸(¥12-18)和星巴克(¥35-45)中间，纯咖啡打不过9.9元价格战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❷ 极新店零口碑：大众点评无评分无评价，新客到店决策门槛极高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❸ 日均流水＜¥1000：非核心商圈社区位，自然客流有限，开业即面临生存压力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❹ 30元价位带被奈雪(茶饮+软欧包)和85°C(面包+饮品)夹击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❺ 独立品牌零认知：无品牌势能，获客全靠自建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50000" y="1050000"/>
            <a:ext cx="4200000" cy="380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0000" y="1100000"/>
            <a:ext cx="4000000" cy="37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500" b="1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🔥 赛道机遇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❶ "现做点心"差异化壁垒——瑞幸/奈雪做不到现烤现做的烟火感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❷ 早餐空白窗口(7:30-9:00)——奈雪/喜茶基本不营业，85°C产品老化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❸ 写字楼白领下午茶需求——宝安互联网产业基地办公密集，"咖啡+点心"组合有空间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❹ 100㎡空间体验优势——瑞幸/库迪无堂食，闲隅可做"第三空间"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❺ 咖啡成瘾性高+行业人均¥27.9——天然适合会员锁客，复购率行业领先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0000"/>
            <a:ext cx="82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商圈洞察：宝安新安街道竞争格局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00000"/>
            <a:ext cx="82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📍 天健和郡府 · 成熟居住+办公混合区 · 消费务实 · 竞争烈度：中高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000" y="1000000"/>
            <a:ext cx="8550000" cy="33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00" y="1010000"/>
            <a:ext cx="1360000" cy="31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竞品品牌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0000" y="1010000"/>
            <a:ext cx="710000" cy="31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0000" y="1010000"/>
            <a:ext cx="2160000" cy="31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核心优势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0000" y="1010000"/>
            <a:ext cx="2060000" cy="31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弱点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0000" y="1010000"/>
            <a:ext cx="2060000" cy="31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闲隅切入机会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0000" y="1330000"/>
            <a:ext cx="8550000" cy="5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00" y="1340000"/>
            <a:ext cx="136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瑞幸/库迪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0000" y="1340000"/>
            <a:ext cx="71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¥12-18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0000" y="1340000"/>
            <a:ext cx="216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价格碾压·出杯效率极高·万店规模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0000" y="1340000"/>
            <a:ext cx="206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D93B3B"/>
                </a:solidFill>
                <a:latin typeface="Microsoft YaHei"/>
                <a:ea typeface="Microsoft YaHei"/>
                <a:cs typeface="Microsoft YaHei"/>
              </a:rPr>
              <a:t>无堂食·无餐食·纯咖啡同质化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0000" y="1340000"/>
            <a:ext cx="206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"咖啡+现做点心"体验差异化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0000" y="1860000"/>
            <a:ext cx="8550000" cy="5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00" y="1870000"/>
            <a:ext cx="136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奈雪/喜茶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20000" y="1870000"/>
            <a:ext cx="71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¥25-35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70000" y="1870000"/>
            <a:ext cx="216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品牌势能强·茶饮+软欧包成熟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0000" y="1870000"/>
            <a:ext cx="206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D93B3B"/>
                </a:solidFill>
                <a:latin typeface="Microsoft YaHei"/>
                <a:ea typeface="Microsoft YaHei"/>
                <a:cs typeface="Microsoft YaHei"/>
              </a:rPr>
              <a:t>主力茶饮非咖啡·烘焙非现做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0000" y="1870000"/>
            <a:ext cx="206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现做点心＞工厂预制·咖啡专业度更高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0000" y="2390000"/>
            <a:ext cx="8550000" cy="5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00" y="2400000"/>
            <a:ext cx="136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85°C/面包新语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20000" y="2400000"/>
            <a:ext cx="71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¥20-28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70000" y="2400000"/>
            <a:ext cx="216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社区渗透率高·价格亲民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70000" y="2400000"/>
            <a:ext cx="206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D93B3B"/>
                </a:solidFill>
                <a:latin typeface="Microsoft YaHei"/>
                <a:ea typeface="Microsoft YaHei"/>
                <a:cs typeface="Microsoft YaHei"/>
              </a:rPr>
              <a:t>产品老化·空间体验弱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0000" y="2400000"/>
            <a:ext cx="206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空间体验+现做新鲜感碾压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0000" y="2920000"/>
            <a:ext cx="8550000" cy="5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00" y="2930000"/>
            <a:ext cx="136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独立精品咖啡馆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20000" y="2930000"/>
            <a:ext cx="71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¥30-45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70000" y="2930000"/>
            <a:ext cx="216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各有调性·忠粉黏性高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70000" y="2930000"/>
            <a:ext cx="206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D93B3B"/>
                </a:solidFill>
                <a:latin typeface="Microsoft YaHei"/>
                <a:ea typeface="Microsoft YaHei"/>
                <a:cs typeface="Microsoft YaHei"/>
              </a:rPr>
              <a:t>获客能力弱·营销意识差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70000" y="2930000"/>
            <a:ext cx="206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数字化获客+点心引流双引擎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0000" y="3480000"/>
            <a:ext cx="8550000" cy="450000"/>
          </a:xfrm>
          <a:prstGeom prst="round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0000" y="3500000"/>
            <a:ext cx="8250000" cy="41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B6F4E"/>
                </a:solidFill>
                <a:latin typeface="Microsoft YaHei"/>
                <a:ea typeface="Microsoft YaHei"/>
                <a:cs typeface="Microsoft YaHei"/>
              </a:rPr>
              <a:t>💡 闲隅能活下来的关键不是咖啡本身，而是"点心的差异化记忆点"——咖啡负责引流和场景，现做点心负责复购和传播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0000"/>
            <a:ext cx="82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客群画像 × 消费场景拆解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000" y="750000"/>
            <a:ext cx="2850000" cy="4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0000" y="750000"/>
            <a:ext cx="2850000" cy="42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0000" y="800000"/>
            <a:ext cx="265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🏢 写字楼白领 ~45%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00" y="1250000"/>
            <a:ext cx="2610000" cy="3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年龄：25-35岁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场景：工作日午后下午茶/外带早咖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需求：快速出杯+好喝不贵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客单价：¥25-35（咖啡+1份点心）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频次：每周2-3次（咖啡成瘾）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触达：小程序预点单+企微群拼单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000" y="750000"/>
            <a:ext cx="2850000" cy="4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000" y="750000"/>
            <a:ext cx="2850000" cy="42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0000" y="800000"/>
            <a:ext cx="265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👨‍👩‍👧 社区家庭 ~35%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0000" y="1250000"/>
            <a:ext cx="2610000" cy="3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年龄：28-40岁（宝妈/年轻夫妻）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场景：周末亲子下午茶/朋友聚会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需求：空间舒适+有小朋友能吃的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客单价：¥60-80（2大1小组合）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频次：每周1次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触达：大众点评搜索+朋友圈口碑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0000" y="750000"/>
            <a:ext cx="2850000" cy="4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0000" y="750000"/>
            <a:ext cx="2850000" cy="420000"/>
          </a:xfrm>
          <a:prstGeom prst="rect">
            <a:avLst/>
          </a:prstGeom>
          <a:solidFill>
            <a:srgbClr val="8B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800000"/>
            <a:ext cx="265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📱 年轻打卡族 ~20%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0000" y="1250000"/>
            <a:ext cx="2610000" cy="3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年龄：18-28岁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场景：周末探店/朋友小聚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需求：高颜值+可拍照分享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客单价：¥28-38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频次：月1-2次（尝鲜型）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触达：小红书/抖音种草引流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0000"/>
            <a:ext cx="82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核心策略①：打造"现做点心+咖啡"差异化记忆点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000" y="750000"/>
            <a:ext cx="4350000" cy="4100000"/>
          </a:xfrm>
          <a:prstGeom prst="round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0000" y="800000"/>
            <a:ext cx="4150000" cy="40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300" b="1">
                <a:solidFill>
                  <a:srgbClr val="8B6F4E"/>
                </a:solidFill>
                <a:latin typeface="Microsoft YaHei"/>
                <a:ea typeface="Microsoft YaHei"/>
                <a:cs typeface="Microsoft YaHei"/>
              </a:rPr>
              <a:t>🎯 产品矩阵（⚠️假设，建议老板确认）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🌟 引流爆品：现烤蛋挞 ¥8/个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  明档操作台面向入口，出炉飘香。成本约¥2.5，毛利69%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🌟 利润担当：手工麻薯 ¥12/份（3颗）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  现做Q弹口感，拍照好看。成本约¥3，毛利75%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🌟 传播尖货：现煎铜锣烧 ¥15/份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  煎制过程有声有色有香，天然适合短视频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📦 黄金套餐锁定客单价¥28-30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☕ 早安套餐：美式/拿铁+蛋挞 = ¥19.9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☕ 下午茶套餐：咖啡+麻薯/铜锣烧 = ¥28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☕ 闺蜜套餐：2杯咖啡+点心拼盘 = ¥52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0000" y="750000"/>
            <a:ext cx="4200000" cy="410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000" y="800000"/>
            <a:ext cx="4000000" cy="40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300" b="1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🔧 落地指南（How）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❶ 谁来做：老板定菜单+采购原料；员工现场操作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❷ 开业前3天：确定配方并试做，员工练到出品稳定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❸ 操作台朝向入口：路人看到现做过程（瑞幸没有）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❹ 🔧 收银后台→菜品管理→添加套餐→设价格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❺ 🔧 扫码点餐→套餐置顶展示→弹窗推荐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💬 员工话术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8B6F4E"/>
                </a:solidFill>
                <a:latin typeface="Microsoft YaHei"/>
                <a:ea typeface="Microsoft YaHei"/>
                <a:cs typeface="Microsoft YaHei"/>
              </a:rPr>
              <a:t>"蛋挞刚出炉，配拿铁一起才19.9，比单点省6块"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🔄 犹豫应对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8B6F4E"/>
                </a:solidFill>
                <a:latin typeface="Microsoft YaHei"/>
                <a:ea typeface="Microsoft YaHei"/>
                <a:cs typeface="Microsoft YaHei"/>
              </a:rPr>
              <a:t>"先试一小口蛋挞，觉得好吃再点套餐，今天还有铜锣烧可以尝"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📊 验证指标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套餐占比≥40% / 现做点心日销≥30份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0000"/>
            <a:ext cx="82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核心策略②：新店冷启动——开业14天作战计划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00" y="750000"/>
            <a:ext cx="2150000" cy="3500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000" y="760000"/>
            <a:ext cx="209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🔥 蓄水期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" y="930000"/>
            <a:ext cx="2090000" cy="1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D-14~D-7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000" y="1150000"/>
            <a:ext cx="215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00" y="1200000"/>
            <a:ext cx="2030000" cy="3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写字楼定点送试吃装（3份点心+优惠券），每天2栋楼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扫码进企微群，目标蓄水300人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🔧 美团后台→门店装修→上传菜单/环境图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🔧 小程序→开通预点单功能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0000" y="750000"/>
            <a:ext cx="2150000" cy="3500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0000" y="760000"/>
            <a:ext cx="209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📢 预热期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0000" y="930000"/>
            <a:ext cx="2090000" cy="1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D-7~D-3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0000" y="1150000"/>
            <a:ext cx="215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0000" y="1200000"/>
            <a:ext cx="2030000" cy="3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员工演练出品+话术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小红书发3篇探店笔记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企微群发开业预告+首单立减¥5券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🔧 会员旗舰版→营销中心→创建开业券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0000" y="750000"/>
            <a:ext cx="2150000" cy="35000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0000" y="760000"/>
            <a:ext cx="209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💥 爆发期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0000" y="930000"/>
            <a:ext cx="2090000" cy="1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D-1~D3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40000" y="1150000"/>
            <a:ext cx="215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0000" y="1200000"/>
            <a:ext cx="2030000" cy="3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"咖啡+蛋挞"¥9.9限前50名/天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每单引导扫码入会员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🔧 扫码点餐弹窗→入会即9折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用餐后引导拍朋友圈送小点心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10000" y="750000"/>
            <a:ext cx="2150000" cy="3500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0000" y="760000"/>
            <a:ext cx="209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📈 稳增期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000" y="930000"/>
            <a:ext cx="2090000" cy="1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D4~D30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10000" y="1150000"/>
            <a:ext cx="215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0000" y="1200000"/>
            <a:ext cx="2030000" cy="3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恢复正常价，保留套餐优惠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每周企微群推新品/限定口味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启动会员积分锁复购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🔧 会员旗舰版→积分规则→消费1元积1分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000" y="4400000"/>
            <a:ext cx="8950000" cy="400000"/>
          </a:xfrm>
          <a:prstGeom prst="round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0000" y="4420000"/>
            <a:ext cx="865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8B6F4E"/>
                </a:solidFill>
                <a:latin typeface="Microsoft YaHei"/>
                <a:ea typeface="Microsoft YaHei"/>
                <a:cs typeface="Microsoft YaHei"/>
              </a:rPr>
              <a:t>🎯 D30目标：会员300+人 | 日均客流80+人 | 日均流水¥2,500+ | 大众点评评价30+条 | 企微群500+人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0000"/>
            <a:ext cx="82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核心策略③：抢占早餐空白窗口+写字楼企微拼单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000" y="750000"/>
            <a:ext cx="4350000" cy="4100000"/>
          </a:xfrm>
          <a:prstGeom prst="round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0000" y="800000"/>
            <a:ext cx="4150000" cy="40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300" b="1">
                <a:solidFill>
                  <a:srgbClr val="8B6F4E"/>
                </a:solidFill>
                <a:latin typeface="Microsoft YaHei"/>
                <a:ea typeface="Microsoft YaHei"/>
                <a:cs typeface="Microsoft YaHei"/>
              </a:rPr>
              <a:t>☀️ 早餐档 7:30-9:00（空白窗口）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为什么做：这个时段奈雪/喜茶基本不营业，85°C产品无吸引力，社区通勤早餐需求真实存在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📋 早安套餐 ¥19.9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美式/拿铁（中杯）+ 现烤蛋挞1个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  成本：咖啡¥4+蛋挞¥2.5=¥6.5，毛利67%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📋 元气早餐 ¥25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任意咖啡 + 点心2选1 + 酸奶杯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  成本约¥8，毛利68%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🔧 How：老板调整员工排班→早班7:00到店准备→7:30开门→蛋挞提前一批入烤箱→出炉飘香引路人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8B6F4E"/>
                </a:solidFill>
                <a:latin typeface="Microsoft YaHei"/>
                <a:ea typeface="Microsoft YaHei"/>
                <a:cs typeface="Microsoft YaHei"/>
              </a:rPr>
              <a:t>💬 话术："早上好！蛋挞刚出炉的，配杯美式才19块9，比便利店还香"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📊 目标：早餐时段日均15单→月增收¥9,000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0000" y="750000"/>
            <a:ext cx="4200000" cy="410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000" y="800000"/>
            <a:ext cx="4000000" cy="40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300" b="1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🏢 企微社群+写字楼拼单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为什么做：新安片区写字楼密集（宝安互联网产业基地等），白领下午茶拼单需求刚性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📋 拼单机制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3杯起免配送费（覆盖1公里写字楼）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5杯起每杯减¥2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🔧 小程序→外卖中心→设置起送/满减规则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📋 社群运营节奏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周一：本周新品预告（附图片）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周三：下午茶拼单接龙（14:00前接单）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周五：周末限定预告+会员专属价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🔧 How：店长负责群运营→每天14:00前在群发拼单接龙→15:00截单制作→15:30送达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8B6F4E"/>
                </a:solidFill>
                <a:latin typeface="Microsoft YaHei"/>
                <a:ea typeface="Microsoft YaHei"/>
                <a:cs typeface="Microsoft YaHei"/>
              </a:rPr>
              <a:t>💬 群消息模板："下午茶拼单开始啦！3杯起送免运费，今天推荐新品抹茶铜锣烧☕"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📊 目标：建3个楼宇群各100+人，日均拼单10组→月增收¥6,000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0000"/>
            <a:ext cx="82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点评口碑：新店0→1的评价攻坚战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000" y="750000"/>
            <a:ext cx="4350000" cy="4100000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0000" y="800000"/>
            <a:ext cx="4150000" cy="40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300" b="1">
                <a:solidFill>
                  <a:srgbClr val="1A3C6E"/>
                </a:solidFill>
                <a:latin typeface="Microsoft YaHei"/>
                <a:ea typeface="Microsoft YaHei"/>
                <a:cs typeface="Microsoft YaHei"/>
              </a:rPr>
              <a:t>📊 现状诊断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极新店（0-4天），大众点评零评分零评价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所处阶段：新店冷启动期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D93B3B"/>
                </a:solidFill>
                <a:latin typeface="Microsoft YaHei"/>
                <a:ea typeface="Microsoft YaHei"/>
                <a:cs typeface="Microsoft YaHei"/>
              </a:rPr>
              <a:t>• ⚠️ 2025.10新规：高强度促评=新评价不产生星级收益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A3C6E"/>
                </a:solidFill>
                <a:latin typeface="Microsoft YaHei"/>
                <a:ea typeface="Microsoft YaHei"/>
                <a:cs typeface="Microsoft YaHei"/>
              </a:rPr>
              <a:t>🎯 30天目标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攒够30条真实评价（自然产生，非促评）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冲击大众点评新店榜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评分目标：4.5分以上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A3C6E"/>
                </a:solidFill>
                <a:latin typeface="Microsoft YaHei"/>
                <a:ea typeface="Microsoft YaHei"/>
                <a:cs typeface="Microsoft YaHei"/>
              </a:rPr>
              <a:t>📈 榜单路径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新店→新店榜（30天内）→热门榜（60天）→好评榜（90天）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D93B3B"/>
                </a:solidFill>
                <a:latin typeface="Microsoft YaHei"/>
                <a:ea typeface="Microsoft YaHei"/>
                <a:cs typeface="Microsoft YaHei"/>
              </a:rPr>
              <a:t>⛔ 红线（严禁！）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D93B3B"/>
                </a:solidFill>
                <a:latin typeface="Microsoft YaHei"/>
                <a:ea typeface="Microsoft YaHei"/>
                <a:cs typeface="Microsoft YaHei"/>
              </a:rPr>
              <a:t>• 不做任何促评/邀评/好评返券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D93B3B"/>
                </a:solidFill>
                <a:latin typeface="Microsoft YaHei"/>
                <a:ea typeface="Microsoft YaHei"/>
                <a:cs typeface="Microsoft YaHei"/>
              </a:rPr>
              <a:t>• 不发"好评送XX"卡片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D93B3B"/>
                </a:solidFill>
                <a:latin typeface="Microsoft YaHei"/>
                <a:ea typeface="Microsoft YaHei"/>
                <a:cs typeface="Microsoft YaHei"/>
              </a:rPr>
              <a:t>• 不引导顾客写特定内容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0000" y="750000"/>
            <a:ext cx="4200000" cy="410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000" y="800000"/>
            <a:ext cx="4000000" cy="40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300" b="1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🔧 合规打法（How）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❶ 免费试（合规工具）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🔧 大众点评商家后台→营销中心→免费试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设20个名额，吸引达人自发体验+写评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谁来做：店长负责，开业第1天设置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❷ 打造"值得拍"的分享动机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现做点心出品颜值拉满（铜锣烧冒热气的瞬间）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桌上放品牌小卡片（"闲隅咖啡·每一口都是现做"）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谁来做：服务员上点心时摆好角度，方便拍照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❸ 差评2小时响应机制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店长每天查评价（早10:00/晚20:00各一次）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差评先道歉→找原因→给解决方案→邀请再来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🔧 美团商家后台→评价管理→待回复</a:t>
            </a:r>
          </a:p>
          <a:p>
            <a:pPr algn="l">
              <a:spcAft>
                <a:spcPts val="300"/>
              </a:spcAft>
            </a:pPr>
            <a:r>
              <a:rPr sz="3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❹ 免费菜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🔧 商家后台→免费菜→上线1款试吃品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0000"/>
            <a:ext cx="82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公私域联动：从引流到锁客的完整闭环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000" y="750000"/>
            <a:ext cx="2180000" cy="40000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00" y="780000"/>
            <a:ext cx="212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公域引流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00" y="1200000"/>
            <a:ext cx="218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000" y="1250000"/>
            <a:ext cx="2060000" cy="3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大众点评：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门店装修+菜单上传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免费试吸引达人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冲新店榜获自然曝光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小红书（月2篇）：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"宝安现做点心咖啡馆"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铜锣烧制作过程短视频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抖音（月1条）：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现烤蛋挞出炉15秒视频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60000" y="750000"/>
            <a:ext cx="2180000" cy="4000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90000" y="780000"/>
            <a:ext cx="212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到店转化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60000" y="1200000"/>
            <a:ext cx="218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0000" y="1250000"/>
            <a:ext cx="2060000" cy="3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扫码点餐自动入会：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🔧 扫码点餐→自动弹出入会引导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→ 首单9折锁定新客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套餐引导提客单：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员工话术推套餐¥28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→ 客单价从¥18提到¥28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拍照分享裂变：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现做点心+品牌卡引导拍照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→ 朋友圈/小红书二次传播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40000" y="750000"/>
            <a:ext cx="2180000" cy="400000"/>
          </a:xfrm>
          <a:prstGeom prst="roundRect">
            <a:avLst/>
          </a:prstGeom>
          <a:solidFill>
            <a:srgbClr val="0D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0000" y="780000"/>
            <a:ext cx="212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私域留客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0000" y="1200000"/>
            <a:ext cx="218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00" y="1250000"/>
            <a:ext cx="2060000" cy="3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会员体系：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🔧 会员旗舰版→积分商城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消费1元积1分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100积分兑小点心1份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企微社群：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3个楼宇群+1个社区群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每周新品+拼单接龙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沉睡唤醒：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🔧 会员旗舰版→潜客营销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7天未到店自动发¥3券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20000" y="750000"/>
            <a:ext cx="2180000" cy="4000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50000" y="780000"/>
            <a:ext cx="212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复购循环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20000" y="1200000"/>
            <a:ext cx="218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80000" y="1250000"/>
            <a:ext cx="2060000" cy="3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储值锁客（⚠️按需启动）：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月稳定流水达¥5万后开启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充100送15（约5次消费）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充200送35（约7次消费）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月卡/次卡：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咖啡月卡¥128（20杯/月）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成本¥80，毛利37%仍盈利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早餐5次卡¥89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目标：月均复购3.5次/人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80000" y="870000"/>
            <a:ext cx="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0000" y="870000"/>
            <a:ext cx="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0000" y="870000"/>
            <a:ext cx="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0000"/>
            <a:ext cx="82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会员体系设计：咖啡品类的精准锁客策略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00000"/>
            <a:ext cx="82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已签约：会员旗舰版（¥4,888/年）· 旗舰独有：团购会员卡+潜客营销+6大特有活动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000" y="1020000"/>
            <a:ext cx="2900000" cy="3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0000" y="1020000"/>
            <a:ext cx="2900000" cy="38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0000" y="1050000"/>
            <a:ext cx="2740000" cy="3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🎫 会员价权益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000" y="1450000"/>
            <a:ext cx="2740000" cy="3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入会即享专属价：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所有咖啡会员价减¥2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所有套餐会员价减¥3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每月8号会员日全场8.8折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🔧 会员旗舰版→会员价设置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→ 扫码点餐自动显示会员价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谁来做：店长设置，系统自动执行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效果：平均客单价提升¥3-5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0000" y="1020000"/>
            <a:ext cx="2900000" cy="3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50000" y="1020000"/>
            <a:ext cx="2900000" cy="38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30000" y="1050000"/>
            <a:ext cx="2740000" cy="3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⭐ 积分+次卡体系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0000" y="1450000"/>
            <a:ext cx="2740000" cy="3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积分规则：消费1元积1分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100分兑蛋挞1个（成本¥2.5）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200分兑麻薯1份（成本¥3）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500分兑任意套餐1份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次卡设计：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咖啡月卡¥128（20杯/月）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早餐5次卡¥89（省¥10.5）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下午茶5次卡¥129（省¥11）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🔧 会员旗舰版→积分规则→次卡管理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0000" y="1020000"/>
            <a:ext cx="2900000" cy="3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0000" y="1020000"/>
            <a:ext cx="2900000" cy="380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0000" y="1050000"/>
            <a:ext cx="2740000" cy="3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🎯 潜客营销（旗舰独有）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0000" y="1450000"/>
            <a:ext cx="2740000" cy="3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自动化唤醒机制：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3天未到店→推新品预告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7天未到店→发¥3回归券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• 14天未到店→发¥5+小点心券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🔧 会员旗舰版→潜客营销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→ 设置触发条件→系统自动执行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团购会员卡：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大众点评上架¥9.9体验卡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含：咖啡1杯+积分100分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🔧 商家后台→团购→会员卡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0000"/>
            <a:ext cx="82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开业首月营销节奏（6-7月）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00" y="750000"/>
            <a:ext cx="2150000" cy="35000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000" y="770000"/>
            <a:ext cx="2090000" cy="31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第1周
开业爆发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000" y="1150000"/>
            <a:ext cx="2150000" cy="35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00" y="1200000"/>
            <a:ext cx="2030000" cy="34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活动：咖啡+蛋挞¥9.9（限50名/天）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目标：日均80+人到店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重点：扫码入会率≥60%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工具：🔧 扫码点餐弹窗+入会送9折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小红书：发2篇"新开现做点心咖啡馆"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0000" y="750000"/>
            <a:ext cx="2150000" cy="3500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00000" y="770000"/>
            <a:ext cx="2090000" cy="31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第2周
口碑积累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0000" y="1150000"/>
            <a:ext cx="2150000" cy="35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30000" y="1200000"/>
            <a:ext cx="2030000" cy="34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活动：闺蜜套餐¥52（2人同行减¥8）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目标：大众点评评价达15条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重点：免费试名额消耗完毕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工具：🔧 免费试+会员券发放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企微群：发拼单接龙，测试响应率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40000" y="750000"/>
            <a:ext cx="2150000" cy="3500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0000" y="770000"/>
            <a:ext cx="2090000" cy="31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第3周
场景拓展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0000" y="1150000"/>
            <a:ext cx="2150000" cy="35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00" y="1200000"/>
            <a:ext cx="2030000" cy="34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活动：早安套餐¥19.9全面推广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目标：早餐时段日均15单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重点：写字楼企微群第2轮拉新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工具：🔧 外卖中心上线早餐档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抖音：发1条蛋挞出炉15秒视频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0000" y="750000"/>
            <a:ext cx="2150000" cy="3500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0000" y="770000"/>
            <a:ext cx="2090000" cy="31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第4周
储值测试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10000" y="1150000"/>
            <a:ext cx="2150000" cy="35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0000" y="1200000"/>
            <a:ext cx="2030000" cy="34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活动：蹭618→充100送15限时3天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目标：储值入账¥3,000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重点：会员数突破300人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工具：🔧 会员旗舰版→储值活动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复盘：数据回顾+下月计划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000" y="4400000"/>
            <a:ext cx="8950000" cy="40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0000" y="4420000"/>
            <a:ext cx="865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📌 6月关键节点：端午小长假（家庭客+外卖爆发）| 618储值（蹭电商消费心智）| 父亲节（家庭套餐）| 梅雨季（外卖占比上升，重点推外卖中心）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0000"/>
            <a:ext cx="82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OKR量化目标：开业首季度里程碑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0000" y="750000"/>
            <a:ext cx="2900000" cy="4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0000" y="750000"/>
            <a:ext cx="2900000" cy="400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0000" y="770000"/>
            <a:ext cx="28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第1个月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000" y="960000"/>
            <a:ext cx="28000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冷启动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0000" y="1250000"/>
            <a:ext cx="2800000" cy="53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0000" y="1270000"/>
            <a:ext cx="1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日均客流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000" y="1450000"/>
            <a:ext cx="1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80人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0000" y="1470000"/>
            <a:ext cx="135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从0起步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0000" y="1830000"/>
            <a:ext cx="2800000" cy="5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0000" y="1850000"/>
            <a:ext cx="1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月营收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000" y="2030000"/>
            <a:ext cx="1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¥75,000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0000" y="2050000"/>
            <a:ext cx="135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日均¥2,500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0000" y="2410000"/>
            <a:ext cx="2800000" cy="53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0000" y="2430000"/>
            <a:ext cx="1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会员数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000" y="2610000"/>
            <a:ext cx="1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300人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0000" y="2630000"/>
            <a:ext cx="135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扫码入会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0000" y="2990000"/>
            <a:ext cx="2800000" cy="5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0000" y="3010000"/>
            <a:ext cx="1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点评评价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000" y="3190000"/>
            <a:ext cx="1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30条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0000" y="3210000"/>
            <a:ext cx="135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自然产生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0000" y="3570000"/>
            <a:ext cx="2800000" cy="53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0000" y="3590000"/>
            <a:ext cx="1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点评评分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0000" y="3770000"/>
            <a:ext cx="1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≥4.5分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0000" y="3790000"/>
            <a:ext cx="135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合规运营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0000" y="4150000"/>
            <a:ext cx="2800000" cy="5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0000" y="4170000"/>
            <a:ext cx="1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企微群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0000" y="4350000"/>
            <a:ext cx="1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500人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0000" y="4370000"/>
            <a:ext cx="135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3个楼宇+1社区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50000" y="750000"/>
            <a:ext cx="2900000" cy="4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50000" y="750000"/>
            <a:ext cx="2900000" cy="40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000" y="770000"/>
            <a:ext cx="28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第2个月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000" y="960000"/>
            <a:ext cx="28000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爬坡期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000" y="1250000"/>
            <a:ext cx="2800000" cy="53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50000" y="1270000"/>
            <a:ext cx="1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日均客流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50000" y="1450000"/>
            <a:ext cx="1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3C6E"/>
                </a:solidFill>
                <a:latin typeface="Microsoft YaHei"/>
                <a:ea typeface="Microsoft YaHei"/>
                <a:cs typeface="Microsoft YaHei"/>
              </a:rPr>
              <a:t>100人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0000" y="1470000"/>
            <a:ext cx="135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早餐+拼单拉动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000" y="1830000"/>
            <a:ext cx="2800000" cy="5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50000" y="1850000"/>
            <a:ext cx="1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月营收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50000" y="2030000"/>
            <a:ext cx="1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3C6E"/>
                </a:solidFill>
                <a:latin typeface="Microsoft YaHei"/>
                <a:ea typeface="Microsoft YaHei"/>
                <a:cs typeface="Microsoft YaHei"/>
              </a:rPr>
              <a:t>¥100,000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50000" y="2050000"/>
            <a:ext cx="135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日均¥3,300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00000" y="2410000"/>
            <a:ext cx="2800000" cy="53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50000" y="2430000"/>
            <a:ext cx="1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会员数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50000" y="2610000"/>
            <a:ext cx="1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3C6E"/>
                </a:solidFill>
                <a:latin typeface="Microsoft YaHei"/>
                <a:ea typeface="Microsoft YaHei"/>
                <a:cs typeface="Microsoft YaHei"/>
              </a:rPr>
              <a:t>600人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0000" y="2630000"/>
            <a:ext cx="135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潜客营销触达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0000" y="2990000"/>
            <a:ext cx="2800000" cy="5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50000" y="3010000"/>
            <a:ext cx="1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点评评价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50000" y="3190000"/>
            <a:ext cx="1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3C6E"/>
                </a:solidFill>
                <a:latin typeface="Microsoft YaHei"/>
                <a:ea typeface="Microsoft YaHei"/>
                <a:cs typeface="Microsoft YaHei"/>
              </a:rPr>
              <a:t>60条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50000" y="3210000"/>
            <a:ext cx="135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新店榜→热门榜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00000" y="3570000"/>
            <a:ext cx="2800000" cy="53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50000" y="3590000"/>
            <a:ext cx="1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储值入账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50000" y="3770000"/>
            <a:ext cx="1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3C6E"/>
                </a:solidFill>
                <a:latin typeface="Microsoft YaHei"/>
                <a:ea typeface="Microsoft YaHei"/>
                <a:cs typeface="Microsoft YaHei"/>
              </a:rPr>
              <a:t>¥8,000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50000" y="3790000"/>
            <a:ext cx="135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充100送15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200000" y="4150000"/>
            <a:ext cx="2800000" cy="5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50000" y="4170000"/>
            <a:ext cx="1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早餐占比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50000" y="4350000"/>
            <a:ext cx="1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3C6E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50000" y="4370000"/>
            <a:ext cx="135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日均20单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50000" y="750000"/>
            <a:ext cx="2900000" cy="4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50000" y="750000"/>
            <a:ext cx="2900000" cy="400000"/>
          </a:xfrm>
          <a:prstGeom prst="rect">
            <a:avLst/>
          </a:prstGeom>
          <a:solidFill>
            <a:srgbClr val="0D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00000" y="770000"/>
            <a:ext cx="28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第3个月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00000" y="960000"/>
            <a:ext cx="28000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稳增期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00000" y="1250000"/>
            <a:ext cx="2800000" cy="53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50000" y="1270000"/>
            <a:ext cx="1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日均客流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50000" y="1450000"/>
            <a:ext cx="1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120人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50000" y="1470000"/>
            <a:ext cx="135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口碑裂变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00000" y="1830000"/>
            <a:ext cx="2800000" cy="5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50000" y="1850000"/>
            <a:ext cx="1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月营收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50000" y="2030000"/>
            <a:ext cx="1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¥120,000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50000" y="2050000"/>
            <a:ext cx="135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日均¥4,000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00000" y="2410000"/>
            <a:ext cx="2800000" cy="53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50000" y="2430000"/>
            <a:ext cx="1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会员数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50000" y="2610000"/>
            <a:ext cx="1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900人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50000" y="2630000"/>
            <a:ext cx="135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会员价+次卡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200000" y="2990000"/>
            <a:ext cx="2800000" cy="5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0000" y="3010000"/>
            <a:ext cx="1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复购率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0000" y="3190000"/>
            <a:ext cx="1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≥40%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50000" y="3210000"/>
            <a:ext cx="135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7天内回访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00000" y="3570000"/>
            <a:ext cx="2800000" cy="53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50000" y="3590000"/>
            <a:ext cx="1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储值入账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50000" y="3770000"/>
            <a:ext cx="1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¥15,000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50000" y="3790000"/>
            <a:ext cx="135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稳定储值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200000" y="4150000"/>
            <a:ext cx="2800000" cy="5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50000" y="4170000"/>
            <a:ext cx="1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外卖占比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50000" y="4350000"/>
            <a:ext cx="1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25%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550000" y="4370000"/>
            <a:ext cx="135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楼宇配送稳定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0000"/>
            <a:ext cx="82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投资回报分析：算清每一笔账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000" y="750000"/>
            <a:ext cx="4000000" cy="4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0000" y="750000"/>
            <a:ext cx="4000000" cy="38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0000" y="780000"/>
            <a:ext cx="36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💰 年度投入明细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1200000"/>
            <a:ext cx="3800000" cy="3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软件投入（年费）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会员旗舰版</a:t>
            </a: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  ¥4,888/年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小程序</a:t>
            </a: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  ¥2,000/年（⚠️假设）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外卖中心</a:t>
            </a: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  ¥1,500/年（⚠️假设）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软件小计</a:t>
            </a:r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  ¥8,388/年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营销投入（首月）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开业活动（9.9套餐让利）</a:t>
            </a: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  ¥500（50单×¥10让利）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试吃装物料</a:t>
            </a: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  ¥300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小红书/抖音内容</a:t>
            </a: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  ¥0（自拍自发）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营销小计</a:t>
            </a:r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  ¥800/首月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📊 首年总投入</a:t>
            </a:r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  ≈ ¥9,188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0000" y="750000"/>
            <a:ext cx="4500000" cy="405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0000" y="750000"/>
            <a:ext cx="4500000" cy="380000"/>
          </a:xfrm>
          <a:prstGeom prst="rect">
            <a:avLst/>
          </a:prstGeom>
          <a:solidFill>
            <a:srgbClr val="0D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0000" y="780000"/>
            <a:ext cx="41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📈 月增收测算（第3个月稳态）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50000" y="1200000"/>
            <a:ext cx="4400000" cy="46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0000" y="1210000"/>
            <a:ext cx="14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增收来源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0000" y="1210000"/>
            <a:ext cx="10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月增收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0000" y="1210000"/>
            <a:ext cx="19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推算逻辑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50000" y="1680000"/>
            <a:ext cx="4400000" cy="4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0000" y="1690000"/>
            <a:ext cx="14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早餐时段新增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0000" y="1690000"/>
            <a:ext cx="10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+¥9,000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0000" y="1690000"/>
            <a:ext cx="19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日均15单×¥20×30天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50000" y="2160000"/>
            <a:ext cx="4400000" cy="4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0000" y="2170000"/>
            <a:ext cx="14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企微拼单新增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0000" y="2170000"/>
            <a:ext cx="10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+¥6,000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0000" y="2170000"/>
            <a:ext cx="19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日均10组×¥20×30天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50000" y="2640000"/>
            <a:ext cx="4400000" cy="4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0000" y="2650000"/>
            <a:ext cx="14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会员复购提升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0000" y="2650000"/>
            <a:ext cx="10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+¥8,000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0000" y="2650000"/>
            <a:ext cx="19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300会员×40%活跃×¥67/月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50000" y="3120000"/>
            <a:ext cx="4400000" cy="4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0000" y="3130000"/>
            <a:ext cx="14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套餐提客单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0000" y="3130000"/>
            <a:ext cx="10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+¥5,000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0000" y="3130000"/>
            <a:ext cx="19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客单¥18→¥28，日均50单×¥10差价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50000" y="3600000"/>
            <a:ext cx="4400000" cy="4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0000" y="3610000"/>
            <a:ext cx="14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外卖增量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00000" y="3610000"/>
            <a:ext cx="10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+¥4,000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0000" y="3610000"/>
            <a:ext cx="19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日均15单×¥28×30天×30%利润占比（⚠️假设）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50000" y="4120000"/>
            <a:ext cx="4400000" cy="500000"/>
          </a:xfrm>
          <a:prstGeom prst="round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50000" y="4150000"/>
            <a:ext cx="20000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月增收合计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0000" y="4130000"/>
            <a:ext cx="120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+¥32,000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0000" y="4370000"/>
            <a:ext cx="42000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D904F"/>
                </a:solidFill>
                <a:latin typeface="Microsoft YaHei"/>
                <a:ea typeface="Microsoft YaHei"/>
                <a:cs typeface="Microsoft YaHei"/>
              </a:rPr>
              <a:t>💡 回本周期：首年投入¥9,188 ÷ 月增收¥32,000 ≈ 不到1个月回本！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A3C6E"/>
              </a:gs>
              <a:gs pos="100000">
                <a:srgbClr val="2E86C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00000"/>
            <a:ext cx="82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闲隅咖啡 × 美团收银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00000"/>
            <a:ext cx="8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用数字化运营，让每一杯咖啡都找到对的人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0000" y="1800000"/>
            <a:ext cx="2200000" cy="28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0000" y="2050000"/>
            <a:ext cx="1650000" cy="18000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0000" y="2100000"/>
            <a:ext cx="155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" y="2500000"/>
            <a:ext cx="155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现做差异化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000" y="2800000"/>
            <a:ext cx="155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点心记忆点
碾压同价位竞品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0000" y="2050000"/>
            <a:ext cx="1650000" cy="18000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0000" y="2100000"/>
            <a:ext cx="155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0000" y="2500000"/>
            <a:ext cx="155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数字化获客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0000" y="2800000"/>
            <a:ext cx="155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小程序+企微
覆盖1公里写字楼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00000" y="2050000"/>
            <a:ext cx="1650000" cy="18000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0000" y="2100000"/>
            <a:ext cx="155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0000" y="2500000"/>
            <a:ext cx="155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会员精准运营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0000" y="2800000"/>
            <a:ext cx="155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旗舰版潜客营销
自动唤醒复购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50000" y="2050000"/>
            <a:ext cx="1650000" cy="18000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00000" y="2100000"/>
            <a:ext cx="155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0000" y="2500000"/>
            <a:ext cx="155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数据驱动决策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0000" y="2800000"/>
            <a:ext cx="155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实时看板
用数字指导经营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00000" y="2050000"/>
            <a:ext cx="1650000" cy="18000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0000" y="2100000"/>
            <a:ext cx="155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0000" y="2500000"/>
            <a:ext cx="155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快速回本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0000" y="2800000"/>
            <a:ext cx="155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月增收¥32,000
不到1个月回本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100000"/>
            <a:ext cx="82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E3F2FD"/>
                </a:solidFill>
                <a:latin typeface="Microsoft YaHei"/>
                <a:ea typeface="Microsoft YaHei"/>
                <a:cs typeface="Microsoft YaHei"/>
              </a:rPr>
              <a:t>期待与闲隅咖啡携手，共创社区咖啡新标杆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00000"/>
            <a:ext cx="82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90CAF9"/>
                </a:solidFill>
                <a:latin typeface="Microsoft YaHei"/>
                <a:ea typeface="Microsoft YaHei"/>
                <a:cs typeface="Microsoft YaHei"/>
              </a:rPr>
              <a:t>美团餐饮SaaS运营策划团队  |  2026年6月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