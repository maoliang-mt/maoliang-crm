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70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700000"/>
            <a:ext cx="9144000" cy="3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20000"/>
            <a:ext cx="9144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东北烤肉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80000"/>
            <a:ext cx="9144000" cy="4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2400" b="1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2000" y="2350000"/>
            <a:ext cx="2500000" cy="76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440000"/>
            <a:ext cx="250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品类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000" y="2710000"/>
            <a:ext cx="2500000" cy="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烧烤·东北烤肉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000" y="2350000"/>
            <a:ext cx="2500000" cy="76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2000" y="2440000"/>
            <a:ext cx="250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2000" y="2710000"/>
            <a:ext cx="2500000" cy="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萧山·宁围新华村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2000" y="2350000"/>
            <a:ext cx="2500000" cy="76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2000" y="2440000"/>
            <a:ext cx="250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2000" y="2710000"/>
            <a:ext cx="2500000" cy="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¥58·性价比带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3450000"/>
            <a:ext cx="9144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4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聚焦新店冷启动 · 周边竞争破局 · 公私域联动爆店计划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650000"/>
            <a:ext cx="9144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200" b="0">
                <a:solidFill>
                  <a:srgbClr val="909CB0"/>
                </a:solidFill>
                <a:latin typeface="Microsoft YaHei"/>
                <a:ea typeface="Microsoft YaHei"/>
                <a:cs typeface="Microsoft YaHei"/>
              </a:rPr>
              <a:t>美团餐饮SaaS运营策划团队  ·  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门店诊断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新店开业前：先把账算清，再谈怎么打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萧山宁围新华村 · 40㎡ · 东北烤肉 · 人均¥58 · 尚未开业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180000"/>
            <a:ext cx="4150000" cy="365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00" y="1280000"/>
            <a:ext cx="39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📊 数据基石（盈利测算还原）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640000"/>
            <a:ext cx="15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月营收目标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0000" y="1640000"/>
            <a:ext cx="11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¥9.79万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1890000"/>
            <a:ext cx="385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全堂食，外卖暂未开通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2160000"/>
            <a:ext cx="15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客单价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0000" y="2160000"/>
            <a:ext cx="11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000" y="2410000"/>
            <a:ext cx="385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推算日均≈56人次（97900÷30÷58）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" y="2680000"/>
            <a:ext cx="15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月净利润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0000" y="2680000"/>
            <a:ext cx="11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+¥20,010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2930000"/>
            <a:ext cx="385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净利率20.4%（优秀，&gt;20%）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3200000"/>
            <a:ext cx="15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食材成本率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0000" y="3200000"/>
            <a:ext cx="11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38.0%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" y="3450000"/>
            <a:ext cx="385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¥37,210，烧烤品类正常偏上沿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3720000"/>
            <a:ext cx="15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人工成本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0000" y="3720000"/>
            <a:ext cx="11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¥30,000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0000" y="3970000"/>
            <a:ext cx="385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占营收30.6%，新店偏高需盯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4240000"/>
            <a:ext cx="15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回本周期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0000" y="4240000"/>
            <a:ext cx="11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6.5个月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000" y="4490000"/>
            <a:ext cx="385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总投资¥13万，年化ROI 184.7%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0000" y="1180000"/>
            <a:ext cx="412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90000" y="1280000"/>
            <a:ext cx="38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⚠️ 新店三大真实痛点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0000" y="1660000"/>
            <a:ext cx="38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①开业即陌生，0评价0排名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0000" y="1960000"/>
            <a:ext cx="3850000" cy="5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点评/美团页面空白，路人搜「萧山宁围烧烤」看不到你，新店头7天最缺「被看见」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0000" y="2670000"/>
            <a:ext cx="38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②周边夫妻店贴身肉搏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90000" y="2970000"/>
            <a:ext cx="3850000" cy="5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新农都商圈大量人均45-60本地东北/锦州夫妻店，价格贴你脸打，纯比价不占优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0000" y="3680000"/>
            <a:ext cx="38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③人工占营收30.6%偏高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0000" y="3980000"/>
            <a:ext cx="3850000" cy="5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40㎡小店扛3万人工，淡季拖垮利润——必须靠扫码点餐+翻台效率把人效拉起来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0000" y="4690000"/>
            <a:ext cx="385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👉 新店第一战是「冷启动获客+口碑」，不是急着卖货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商圈洞察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你的客人是谁？这条街谁跟你抢生意？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宁围街道 · 钱江世纪城外溢 + 安置社区 + 白领混居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180000"/>
            <a:ext cx="4150000" cy="162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00" y="1270000"/>
            <a:ext cx="39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4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👥 客群画像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620000"/>
            <a:ext cx="39000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社区夜宵客（核心）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00" y="1855000"/>
            <a:ext cx="376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新华村/安置房居民，下班想吃口热乎实惠的，价格敏感、看重「正宗东北味」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2020000"/>
            <a:ext cx="39000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钱江世纪城白领（增量）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2255000"/>
            <a:ext cx="376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加班晚归、聚餐撸串，客单可拉高，吃环境也吃氛围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2420000"/>
            <a:ext cx="39000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家庭客（周末）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" y="2655000"/>
            <a:ext cx="376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一家三口社区聚餐，需要套餐省心、有特色菜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920000"/>
            <a:ext cx="4150000" cy="19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00" y="3010000"/>
            <a:ext cx="39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⏰ 黄金时段策略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000" y="3360000"/>
            <a:ext cx="39000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17:30-19:00 家庭/早夜宵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3590000"/>
            <a:ext cx="390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套餐引流，主推59元双人餐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" y="3840000"/>
            <a:ext cx="39000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19:00-21:30 社区夜宵高峰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" y="4070000"/>
            <a:ext cx="390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翻台效率战，扫码点餐保出餐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4320000"/>
            <a:ext cx="39000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21:30-凌晨 撸串+啤酒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" y="4550000"/>
            <a:ext cx="390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酒水高毛利时段，啤酒套餐拉客单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0000" y="1180000"/>
            <a:ext cx="412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0000" y="1270000"/>
            <a:ext cx="38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🥊 周边真实竞争格局（中高烈度）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40000" y="1610000"/>
            <a:ext cx="3960000" cy="30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90000" y="1640000"/>
            <a:ext cx="170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0000" y="1640000"/>
            <a:ext cx="75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0" y="1640000"/>
            <a:ext cx="145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弱点 → 我的机会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40000" y="1960000"/>
            <a:ext cx="3960000" cy="64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0000" y="1980000"/>
            <a:ext cx="160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木屋烧烤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0000" y="1980000"/>
            <a:ext cx="7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¥65-80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0000" y="1980000"/>
            <a:ext cx="14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偏广式生蚝，缺东北特色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0000" y="2620000"/>
            <a:ext cx="160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很久以前羊肉串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0000" y="2620000"/>
            <a:ext cx="7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¥90+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0000" y="2620000"/>
            <a:ext cx="14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价高，与你不正面冲突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40000" y="3240000"/>
            <a:ext cx="3960000" cy="64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90000" y="3260000"/>
            <a:ext cx="160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本地东北/锦州夫妻店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0000" y="3260000"/>
            <a:ext cx="7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¥45-60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0" y="3260000"/>
            <a:ext cx="14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环境差、出品不稳（主对手）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0000" y="3900000"/>
            <a:ext cx="160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社区韩式自助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0000" y="3900000"/>
            <a:ext cx="7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03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¥60-70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00000" y="3900000"/>
            <a:ext cx="1450000" cy="6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96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非现烤、缺烟火气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90000" y="4640000"/>
            <a:ext cx="385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👉 切入：标准化出品 + 东北氛围 + 59元锚点套餐，打散夫妻店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东北烤肉爆店计划：一条主线 + 三板斧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主线=「东北人开的·现腌现烤」信任标签，打透3公里社区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000" y="1320000"/>
            <a:ext cx="2680000" cy="3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2000" y="1320000"/>
            <a:ext cx="2680000" cy="120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42000" y="1580000"/>
            <a:ext cx="820000" cy="820000"/>
          </a:xfrm>
          <a:prstGeom prst="round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42000" y="1580000"/>
            <a:ext cx="820000" cy="8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000" y="2500000"/>
            <a:ext cx="2680000" cy="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5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线下刷脸·做透社区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000" y="2860000"/>
            <a:ext cx="238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5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5-8个微信群锁夜宵流量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00" y="3220000"/>
            <a:ext cx="2280000" cy="1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开业期把3公里安置社区扫一遍，群内每晚发限量接龙，把大爷大妈宝妈变成稳定夜宵客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2000" y="1320000"/>
            <a:ext cx="2680000" cy="3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2000" y="1320000"/>
            <a:ext cx="2680000" cy="1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2000" y="1580000"/>
            <a:ext cx="820000" cy="82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2000" y="1580000"/>
            <a:ext cx="820000" cy="8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2000" y="2500000"/>
            <a:ext cx="2680000" cy="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5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线上立人设·攒口碑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2000" y="2860000"/>
            <a:ext cx="238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点评新店榜 + 抖音同城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2000" y="3220000"/>
            <a:ext cx="2280000" cy="1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老板娘出镜「东北师傅现腌现烤」短视频打同城标签；霸王餐攒前30条真实好评冲新店榜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2000" y="1320000"/>
            <a:ext cx="2680000" cy="33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2000" y="1320000"/>
            <a:ext cx="2680000" cy="12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82000" y="1580000"/>
            <a:ext cx="820000" cy="82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2000" y="1580000"/>
            <a:ext cx="820000" cy="8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2000" y="2500000"/>
            <a:ext cx="2680000" cy="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5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套餐锚点·提客单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2000" y="2860000"/>
            <a:ext cx="238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59元双人套餐 + 啤酒套餐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2000" y="3220000"/>
            <a:ext cx="2280000" cy="1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设计明显划算的招牌组合，避免被夫妻店纯价格战拖死，同时把客单和复购拉起来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880000"/>
            <a:ext cx="8400000" cy="2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⚡ 三板斧是闭环：线下社群引流 → 线上立信任 → 套餐锁客提单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第①斧 · 线下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做透3公里社区：把夜宵客装进微信群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谁来做：老板+1名员工 | 何时：开业前7天启动 | 在哪：线下扫街+微信群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240000"/>
            <a:ext cx="8420000" cy="82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240000"/>
            <a:ext cx="90000" cy="820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3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D-7~D-1 建群蓄水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6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老板带1名员工，傍晚去新华村/安置小区门口、菜场、广场舞场地，扫码进群送「开业当天免费烤串10串」，目标开业前建满5-8个群、每群80-150人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2140000"/>
            <a:ext cx="8420000" cy="820000"/>
          </a:xfrm>
          <a:prstGeom prst="roundRect">
            <a:avLst/>
          </a:prstGeom>
          <a:solidFill>
            <a:srgbClr val="FF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2140000"/>
            <a:ext cx="90000" cy="82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2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话术（可直接照搬）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「阿姨咱新开的东北烧烤，东北师傅现腌现烤，加个群开业请您免费吃10串，以后群里天天有限量便宜菜~」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3040000"/>
            <a:ext cx="8420000" cy="82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3040000"/>
            <a:ext cx="90000" cy="820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1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D0起 每晚群接龙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4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每晚18:00在群里发「今日限量9.9元烤冷面/锅包肉/焖子，接龙前20名」，制造抢购感，把社区客变成每天来的夜宵流量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3940000"/>
            <a:ext cx="8420000" cy="82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0000" y="3940000"/>
            <a:ext cx="90000" cy="820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40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不配合怎么办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3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嫌进群麻烦→改为「到店扫万能码🔧入会送1瓶啤酒」；群里没人接龙→老板娘带头发自己吃的视频+真人晒单，前3天靠员工亲友带节奏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870000"/>
            <a:ext cx="842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阶段目标：开业首周社群总人数≥600人，每晚接龙转化到店≥30单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第②斧 · 线上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公域引流：点评攒口碑 + 抖音立「东北正宗」人设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新店冷启动核心：让搜「萧山宁围烧烤」的人看到你、信任你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180000"/>
            <a:ext cx="415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180000"/>
            <a:ext cx="4150000" cy="12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00" y="1340000"/>
            <a:ext cx="39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📍 大众点评（新店冲榜路径）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" y="1660000"/>
            <a:ext cx="390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攒量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" y="1910000"/>
            <a:ext cx="3760000" cy="6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开业前店长在🔧点评后台→营销中心→「霸王餐」放20个名额，服务员上菜说「您是今天试吃官，吃完花1分钟写真实感受，好坏都行」，目标前30天攒满50条真实评价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00" y="2680000"/>
            <a:ext cx="390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930000"/>
            <a:ext cx="3760000" cy="6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严禁返现/求好评（2025.10后高强度促评不产生星级收益）；用官方「免费试」「免费菜」自然换分享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00" y="3700000"/>
            <a:ext cx="390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冲榜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000" y="3950000"/>
            <a:ext cx="3760000" cy="6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完善门头/菜品图/店铺信息，路径：新店→新店榜→热门榜，目标30天进「萧山宁围烧烤热门榜」前10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0000" y="1180000"/>
            <a:ext cx="412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0000" y="1180000"/>
            <a:ext cx="4120000" cy="120000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0000" y="1340000"/>
            <a:ext cx="38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🎬 抖音同城（立人设·零成本）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0000" y="1660000"/>
            <a:ext cx="385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内容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0000" y="1910000"/>
            <a:ext cx="3700000" cy="5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老板娘/东北师傅出镜，拍「现腌现烤」过程+东北方言唠嗑，每条带#萧山美食 #宁围烧烤 #东北烧烤 同城标签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0000" y="2465000"/>
            <a:ext cx="385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频率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0000" y="2715000"/>
            <a:ext cx="3700000" cy="5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开业前后每天1条，重点拍招牌锅包肉/烤冷面/现切肉串的「滋滋冒油」镜头，时长15-30秒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0000" y="3270000"/>
            <a:ext cx="385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转化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0000" y="3520000"/>
            <a:ext cx="3700000" cy="5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主页挂门店地址+团购链接，评论区置顶「报暗号『抖音来的』送烤冷面」，把同城流量引到店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0000" y="4075000"/>
            <a:ext cx="3850000" cy="2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• 不出镜怎么办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0000" y="4325000"/>
            <a:ext cx="3700000" cy="5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3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老板不愿出镜→拍纯食材+烤制特写+字幕，或找1名爱拍的员工当「探店官」，真实烟火气比精致更带量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4880000"/>
            <a:ext cx="842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8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目标：30天点评真实评价≥50条、评分≥4.6；抖音同城账号粉丝≥500、爆款视频≥1条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第③斧 · 提客单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套餐锚点设计：让客人觉得「太划算」，避开纯价格战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用心理学定价，不用打折战 · 谁来做：老板定菜单，收银员/扫码点餐推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000" y="1280000"/>
            <a:ext cx="2680000" cy="2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2000" y="1280000"/>
            <a:ext cx="2680000" cy="110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000" y="1480000"/>
            <a:ext cx="268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引流款 · 单人快撸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000" y="1840000"/>
            <a:ext cx="268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30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¥39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460000"/>
            <a:ext cx="2440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8串招牌肉串+烤冷面+饮料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3230000"/>
            <a:ext cx="244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3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拉新引流，团购挂出，对标夫妻店但出品更稳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32000" y="1280000"/>
            <a:ext cx="2680000" cy="255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D0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32000" y="1280000"/>
            <a:ext cx="2680000" cy="11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2000" y="1480000"/>
            <a:ext cx="268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主推款 · 招牌双人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000" y="1840000"/>
            <a:ext cx="268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3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000" y="2460000"/>
            <a:ext cx="2440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18串+锅包肉+烤冷面+2主食+2啤酒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000" y="3230000"/>
            <a:ext cx="244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3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⭐心理锚点，比单点省¥25，社区夜宵主力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2000" y="1280000"/>
            <a:ext cx="2680000" cy="25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2000" y="1280000"/>
            <a:ext cx="2680000" cy="11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52000" y="1480000"/>
            <a:ext cx="268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聚会款 · 欢乐四人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2000" y="1840000"/>
            <a:ext cx="268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3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¥199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000" y="2460000"/>
            <a:ext cx="2440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36串+2特色菜+拼盘+主食+4啤酒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000" y="3230000"/>
            <a:ext cx="244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3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周末家庭/白领聚会，拉高客单与翻台价值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0000" y="4000000"/>
            <a:ext cx="8420000" cy="92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00" y="4070000"/>
            <a:ext cx="82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💡 为什么主推99元双人餐？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00" y="4360000"/>
            <a:ext cx="820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人均≈¥49.5接近你客单¥58、社区客够得着；用「最贵的199」衬托「99很划算」（次贵锚定法）。收银员/扫码点餐弹窗每桌必推：「俩人点这个套餐比单点省25，还送2瓶啤酒」。客人嫌多→拆出39元单人款兜底，绝不空手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已签的收银POS+扫码点餐，怎么帮你赚到钱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不是多买功能，是把已有工具用透 · 解决「人效」和「锁客」两件事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240000"/>
            <a:ext cx="842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240000"/>
            <a:ext cx="90000" cy="820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3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📱 扫码点餐 → 省人力·保出餐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6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夜宵高峰40㎡小店服务员忙不过来→客人扫码自助下单，省1名服务员（约¥3000/月），出餐不漏单。🔧后台设「啤酒/锅包肉」加料推荐，自动提客单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2140000"/>
            <a:ext cx="842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2140000"/>
            <a:ext cx="90000" cy="8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000" y="22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🖥️ 收银POS → 看清每天的账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每天打烊看🔧经营报表：哪些串卖得好、毛利多少、哪个时段最旺，按数据调备货，减少食材浪费（食材成本现占38%，降1个点≈月省¥980）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3040000"/>
            <a:ext cx="842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3040000"/>
            <a:ext cx="90000" cy="82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1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🎫 万能码 → 把客人变会员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4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桌台贴万能码，客人扫码入会送啤酒/烤冷面，沉淀私域；后续可🔧定向发券唤醒：「3天没来的客人」推「回头9.9元烤冷面」，把一次性夜宵客变复购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000" y="3940000"/>
            <a:ext cx="8420000" cy="8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0000" y="3940000"/>
            <a:ext cx="90000" cy="820000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0000" y="4030000"/>
            <a:ext cx="81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💬 社群+消息触达 → 0成本复购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4330000"/>
            <a:ext cx="8150000" cy="4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会员沉淀后，雨天/淡季在🔧会员系统群发「今晚雨天到店送热饮」，把梅雨季流失的堂食用消息拉回来——比投广告便宜得多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000" y="4870000"/>
            <a:ext cx="8420000" cy="23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👉 新店阶段先把扫码点餐+万能码跑通，复购起来后再谈储值（不为卖而卖）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开业30天作战日历 + 夏季节点借势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梅雨季+夏季夜宵旺季，烧烤天然占优 · 每周都有动作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000" y="1280000"/>
            <a:ext cx="20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000" y="1280000"/>
            <a:ext cx="2050000" cy="560000"/>
          </a:xfrm>
          <a:prstGeom prst="rect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000" y="1370000"/>
            <a:ext cx="205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D-7~D0 蓄水期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000" y="1960000"/>
            <a:ext cx="181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3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建社群+点评霸王餐铺好+抖音预热3条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000" y="2900000"/>
            <a:ext cx="181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开业当天群友凭接龙免费烤串，引爆首日客流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2000" y="2100000"/>
            <a:ext cx="2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8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2000" y="1280000"/>
            <a:ext cx="20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2000" y="1280000"/>
            <a:ext cx="2050000" cy="56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2000" y="1370000"/>
            <a:ext cx="205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D1~D7 引爆期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2000" y="1960000"/>
            <a:ext cx="181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3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59/99套餐主推+每晚群接龙+集赞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2000" y="2900000"/>
            <a:ext cx="181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首周冲到店量，攒前30条真实好评，目标日均40+人次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2000" y="2100000"/>
            <a:ext cx="2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8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2000" y="1280000"/>
            <a:ext cx="20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32000" y="1280000"/>
            <a:ext cx="2050000" cy="56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2000" y="1370000"/>
            <a:ext cx="205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D8~D20 口碑期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2000" y="1960000"/>
            <a:ext cx="181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3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盯点评差评2小时内回复+冲新店榜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2000" y="2900000"/>
            <a:ext cx="181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稳出品稳口碑，评分冲4.6+，进宁围烧烤热门榜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2000" y="2100000"/>
            <a:ext cx="2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800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02000" y="1280000"/>
            <a:ext cx="205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02000" y="1280000"/>
            <a:ext cx="2050000" cy="560000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2000" y="1370000"/>
            <a:ext cx="205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D21~D30 复购期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0" y="1960000"/>
            <a:ext cx="181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30" b="0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万能码会员唤醒+夏季冰啤套餐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2000" y="2900000"/>
            <a:ext cx="181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000" b="1">
                <a:solidFill>
                  <a:srgbClr val="D93A2B"/>
                </a:solidFill>
                <a:latin typeface="Microsoft YaHei"/>
                <a:ea typeface="Microsoft YaHei"/>
                <a:cs typeface="Microsoft YaHei"/>
              </a:rPr>
              <a:t>把一次性客变复购，会员数破300，月营收站稳¥9万+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0000" y="3700000"/>
            <a:ext cx="8420000" cy="118000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00" y="3780000"/>
            <a:ext cx="82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🗓️ 夏季可借势节点（Q2-Q3夜宵旺季，烧烤主场）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00" y="4090000"/>
            <a:ext cx="820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• 端午（6月）：「撸串配啤酒·五黄夜宵局」，群里发端午限定锅包肉；  • 618（6.16-20）：蹭热度做「夜宵充值券」轻促，充200送30锁老客；</a:t>
            </a:r>
          </a:p>
          <a:p>
            <a:pPr algn="l"/>
            <a:r>
              <a:rPr sz="10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• 入夏冰啤季：「冰镇啤酒第二瓶半价」拉高酒水高毛利时段；  • 梅雨天：会员群发「雨天到店送热饮/外卖满减」对冲堂食下滑。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8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0000"/>
            <a:ext cx="9144000" cy="26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000" y="150000"/>
            <a:ext cx="200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目标与回报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0000" y="420000"/>
            <a:ext cx="8300000" cy="5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量化OKR + 投资回报：让老板算得过来账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0000" y="770000"/>
            <a:ext cx="83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250" b="0">
                <a:solidFill>
                  <a:srgbClr val="D6E4FF"/>
                </a:solidFill>
                <a:latin typeface="Microsoft YaHei"/>
                <a:ea typeface="Microsoft YaHei"/>
                <a:cs typeface="Microsoft YaHei"/>
              </a:rPr>
              <a:t>新店3个月目标 · 数字与盈利测算一致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180000"/>
            <a:ext cx="415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180000"/>
            <a:ext cx="4150000" cy="120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00" y="1350000"/>
            <a:ext cx="39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35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量化OKR（开业后3个月）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1700000"/>
            <a:ext cx="14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月营收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1700000"/>
            <a:ext cx="24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¥9万 → ¥11万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000" y="1940000"/>
            <a:ext cx="385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套餐提单+复购，超测算基准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" y="2210000"/>
            <a:ext cx="14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大众点评评分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0000" y="2210000"/>
            <a:ext cx="24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≥4.6分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000" y="2450000"/>
            <a:ext cx="385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30天攒50条真实评价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2720000"/>
            <a:ext cx="14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会员数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2720000"/>
            <a:ext cx="24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≥300人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000" y="2960000"/>
            <a:ext cx="385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万能码入会，沉淀私域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" y="3230000"/>
            <a:ext cx="14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社群规模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0000" y="3230000"/>
            <a:ext cx="24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≥600人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3470000"/>
            <a:ext cx="385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5-8个社区夜宵群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00" y="3740000"/>
            <a:ext cx="14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套餐占比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0000" y="3740000"/>
            <a:ext cx="24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≥55%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000" y="3980000"/>
            <a:ext cx="385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99元双人套餐为主力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4250000"/>
            <a:ext cx="14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5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抖音同城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80000" y="4250000"/>
            <a:ext cx="24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粉丝≥500/爆款≥1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000" y="4490000"/>
            <a:ext cx="385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立「东北正宗」人设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0000" y="1180000"/>
            <a:ext cx="4120000" cy="36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60000" y="1180000"/>
            <a:ext cx="4120000" cy="12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90000" y="1350000"/>
            <a:ext cx="385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5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投资回报测算（基于真实盈利数据）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90000" y="1700000"/>
            <a:ext cx="19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月营收（基准）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0000" y="1700000"/>
            <a:ext cx="19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¥9.79万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0000" y="1940000"/>
            <a:ext cx="380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盈利测算还原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0000" y="2220000"/>
            <a:ext cx="19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月净利润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0000" y="2220000"/>
            <a:ext cx="19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+¥20,010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90000" y="2460000"/>
            <a:ext cx="380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净利率20.4%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0000" y="2740000"/>
            <a:ext cx="19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数字化增量（保守）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0000" y="2740000"/>
            <a:ext cx="19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+¥4,500/月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90000" y="2980000"/>
            <a:ext cx="380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省人力¥3000 + 套餐提单¥1500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0000" y="3260000"/>
            <a:ext cx="19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回本周期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0000" y="3260000"/>
            <a:ext cx="19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6.5个月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0000" y="3500000"/>
            <a:ext cx="380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总投资¥13万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90000" y="3780000"/>
            <a:ext cx="190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202A3A"/>
                </a:solidFill>
                <a:latin typeface="Microsoft YaHei"/>
                <a:ea typeface="Microsoft YaHei"/>
                <a:cs typeface="Microsoft YaHei"/>
              </a:rPr>
              <a:t>年化ROI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0000" y="3780000"/>
            <a:ext cx="19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12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184.7%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0000" y="4020000"/>
            <a:ext cx="3800000" cy="2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l"/>
            <a:r>
              <a:rPr sz="98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优质投资区间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20000" y="4290000"/>
            <a:ext cx="4000000" cy="460000"/>
          </a:xfrm>
          <a:prstGeom prst="roundRect">
            <a:avLst/>
          </a:prstGeom>
          <a:solidFill>
            <a:srgbClr val="EC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90000" y="4350000"/>
            <a:ext cx="385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l"/>
            <a:r>
              <a:rPr sz="1100" b="1">
                <a:solidFill>
                  <a:srgbClr val="1E8E3E"/>
                </a:solidFill>
                <a:latin typeface="Microsoft YaHei"/>
                <a:ea typeface="Microsoft YaHei"/>
                <a:cs typeface="Microsoft YaHei"/>
              </a:rPr>
              <a:t>⏱️ 约6.5个月回本，第二年起硬件零投入，纯赚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50000"/>
            <a:ext cx="9144000" cy="300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900000"/>
            <a:ext cx="9144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normAutofit fontScale="100000" lnSpcReduction="0"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东北烤肉 × 美团餐饮SaaS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450000"/>
            <a:ext cx="9144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500" b="0">
                <a:solidFill>
                  <a:srgbClr val="C8D4E6"/>
                </a:solidFill>
                <a:latin typeface="Microsoft YaHei"/>
                <a:ea typeface="Microsoft YaHei"/>
                <a:cs typeface="Microsoft YaHei"/>
              </a:rPr>
              <a:t>新店开业，先赢口碑，再赢复购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2000" y="2350000"/>
            <a:ext cx="1500000" cy="90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000" y="250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社区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000" y="283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做透3公里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2000" y="2350000"/>
            <a:ext cx="1500000" cy="90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2000" y="250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口碑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2000" y="283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点评新店榜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22000" y="2350000"/>
            <a:ext cx="1500000" cy="90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000" y="250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人设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000" y="283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抖音东北正宗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02000" y="2350000"/>
            <a:ext cx="1500000" cy="90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2000" y="250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锁客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2000" y="283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会员+复购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82000" y="2350000"/>
            <a:ext cx="1500000" cy="900000"/>
          </a:xfrm>
          <a:prstGeom prst="roundRect">
            <a:avLst/>
          </a:prstGeom>
          <a:solidFill>
            <a:srgbClr val="2C3A52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2000" y="250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4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算账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2000" y="2830000"/>
            <a:ext cx="1500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6.5月回本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3650000"/>
            <a:ext cx="9144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300" b="0">
                <a:solidFill>
                  <a:srgbClr val="B8C4D6"/>
                </a:solidFill>
                <a:latin typeface="Microsoft YaHei"/>
                <a:ea typeface="Microsoft YaHei"/>
                <a:cs typeface="Microsoft YaHei"/>
              </a:rPr>
              <a:t>帮这家店真正变好，是我们做这份方案的唯一目的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600000"/>
            <a:ext cx="9144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normAutofit fontScale="100000" lnSpcReduction="0"/>
          </a:bodyPr>
          <a:lstStyle/>
          <a:p>
            <a:pPr algn="ctr"/>
            <a:r>
              <a:rPr sz="1100" b="0">
                <a:solidFill>
                  <a:srgbClr val="8895A8"/>
                </a:solidFill>
                <a:latin typeface="Microsoft YaHei"/>
                <a:ea typeface="Microsoft YaHei"/>
                <a:cs typeface="Microsoft YaHei"/>
              </a:rPr>
              <a:t>美团餐饮SaaS运营策划团队  ·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