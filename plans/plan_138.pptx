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00000" y="520000"/>
            <a:ext cx="330000" cy="330000"/>
          </a:xfrm>
          <a:prstGeom prst="ellipse">
            <a:avLst/>
          </a:prstGeom>
          <a:solidFill>
            <a:srgbClr val="C9A24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0000" y="520000"/>
            <a:ext cx="330000" cy="330000"/>
          </a:xfrm>
          <a:prstGeom prst="ellipse">
            <a:avLst/>
          </a:prstGeom>
          <a:solidFill>
            <a:srgbClr val="D93A3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0000" y="520000"/>
            <a:ext cx="330000" cy="330000"/>
          </a:xfrm>
          <a:prstGeom prst="ellipse">
            <a:avLst/>
          </a:prstGeom>
          <a:solidFill>
            <a:srgbClr val="1EA8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000" y="1550000"/>
            <a:ext cx="7600000" cy="9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 德扑酒馆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2450000"/>
            <a:ext cx="7900000" cy="7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" y="3150000"/>
            <a:ext cx="7900000" cy="5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C8CEDA"/>
                </a:solidFill>
                <a:latin typeface="Microsoft YaHei"/>
                <a:ea typeface="Microsoft YaHei"/>
                <a:cs typeface="Microsoft YaHei"/>
              </a:rPr>
              <a:t>德扑社交酒馆 × 圈层运营 × 美团餐饮SaaS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00" y="4450000"/>
            <a:ext cx="79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A2B0"/>
                </a:solidFill>
                <a:latin typeface="Microsoft YaHei"/>
                <a:ea typeface="Microsoft YaHei"/>
                <a:cs typeface="Microsoft YaHei"/>
              </a:rPr>
              <a:t>浙江·杭州·上城区四季青  |  2026年6月  |  美团餐饮SaaS运营策划团队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一、品牌理解：德扑酒馆的机遇与挑战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钱江新城外围社交型酒馆 × 全新筹建期（开业4天内）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4050000" cy="38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4050000" cy="420000"/>
          </a:xfrm>
          <a:prstGeom prst="round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000" y="1030000"/>
            <a:ext cx="3850000" cy="3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 当前痛点（新店冷启动）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150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零客源、零口碑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开业4天、日均流水1千以下，没有牌局＝没有人气，没有人气＝更没有牌局，陷死循环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" y="216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品类隐蔽、不靠地段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德扑酒馆靠熟人圈层成局，景昙路夜间人流弱，纯等客上门必亏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282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"局"的质量难把控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缺核心局头(KOC)，散客凑不成桌、牌技参差，体验差→不复购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" y="348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合规红线高悬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一旦涉赌即触刑事红线，制度/话术不规范风险极大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" y="414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会员零沉淀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到店客人来了就走，没沉淀进私域，无法二次触达约局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0000" y="1000000"/>
            <a:ext cx="4050000" cy="38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30000" y="1000000"/>
            <a:ext cx="4050000" cy="420000"/>
          </a:xfrm>
          <a:prstGeom prst="round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0000" y="1030000"/>
            <a:ext cx="3850000" cy="3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赛道机遇（精准切入）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0000" y="150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25-35岁高知男社交刚需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德扑是当下线下娱乐灰色热点，目标客群消费力强、社交粘性高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0000" y="216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钱江新城CBD写字楼包围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紧邻大量公司，工作日白天空场可做企业团建/德扑教学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0000" y="282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封闭式竞争、对手少而隐蔽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黄龙/滨江德扑店多藏在会所，景昙路片区直接对手稀少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0000" y="348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私域复购天然高频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一个固定牌友群每周可成多局，会员沉淀后复购模型极强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0000" y="414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SaaS已签4件套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收银POS+扫码点餐+会员旗舰版+小程序已就位，开局即可数字化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4920000"/>
            <a:ext cx="8420000" cy="2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66E7A"/>
                </a:solidFill>
                <a:latin typeface="Microsoft YaHei"/>
                <a:ea typeface="Microsoft YaHei"/>
                <a:cs typeface="Microsoft YaHei"/>
              </a:rPr>
              <a:t>⚠️ 假设：人均/评分/月流水暂无数据，下文按德扑酒馆行业基准（台费80-150元/位+酒水低消，人均100-200元）测算，建议开业后以实际数据校准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二、商圈 &amp; 客群洞察：你的客人是谁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景昙路100号 · 四季青商圈外围 · 临钱江新城CBD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274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2740000" cy="43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1030000"/>
            <a:ext cx="2560000" cy="37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📍 位置特征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153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四季青商圈外围，写字楼+服装批发混合区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" y="197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紧邻钱江新城CBD，公司密集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241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夜间自然人流偏弱 → 不能靠"路过客"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" y="285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100㎡空间，适合5-8桌德扑局+小酒吧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0000" y="1000000"/>
            <a:ext cx="274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30000" y="1000000"/>
            <a:ext cx="2740000" cy="43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0000" y="1030000"/>
            <a:ext cx="2560000" cy="37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👥 核心客群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0000" y="153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25-35岁高知男性为主力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0000" y="197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CBD白领、互联网/金融从业者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0000" y="241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牌技爱好者 + 社交需求强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0000" y="285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消费力中上，认"圈子"不认"便宜"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0000" y="1000000"/>
            <a:ext cx="2740000" cy="23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00000" y="1000000"/>
            <a:ext cx="2740000" cy="430000"/>
          </a:xfrm>
          <a:prstGeom prst="round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000" y="1030000"/>
            <a:ext cx="2560000" cy="37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消费场景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0000" y="153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工作日晚间：下班约局、朋友小聚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0000" y="197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周末：进阶局 / 周末锦标赛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000" y="241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工作日白天（空场）：企业团建+教学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000" y="2850000"/>
            <a:ext cx="2520000" cy="43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客单 = 台费 + 酒水低消（人均100-200）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000" y="3500000"/>
            <a:ext cx="8420000" cy="138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3580000"/>
            <a:ext cx="8060000" cy="36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💡 核心洞察：这是一门"封闭式圈层生意"，拼的是局的质量和圈子，不是地段流量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3990000"/>
            <a:ext cx="8060000" cy="8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获客唯一有效逻辑 = </a:t>
            </a:r>
            <a:r>
              <a:rPr sz="1200" b="0">
                <a:solidFill>
                  <a:srgbClr val="D8DDE6"/>
                </a:solidFill>
                <a:latin typeface="Microsoft YaHei"/>
                <a:ea typeface="Microsoft YaHei"/>
                <a:cs typeface="Microsoft YaHei"/>
              </a:rPr>
              <a:t>先攒"局头"(KOC) → 局头带固定牌友 → 口碑滚雪球。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门店一切动作都要服务这条主线：</a:t>
            </a:r>
            <a:r>
              <a:rPr sz="1200" b="0">
                <a:solidFill>
                  <a:srgbClr val="D8DDE6"/>
                </a:solidFill>
                <a:latin typeface="Microsoft YaHei"/>
                <a:ea typeface="Microsoft YaHei"/>
                <a:cs typeface="Microsoft YaHei"/>
              </a:rPr>
              <a:t>用SaaS把"局头-牌友-会员"关系沉淀下来，把高频复购变成系统自动运转，而不是老板靠脑子记。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三、竞争格局：周边谁在跟你抢客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德扑直接对手少而隐蔽，真正抢"夜间酒水+社交预算"的是这几家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1500000" cy="430000"/>
          </a:xfrm>
          <a:prstGeom prst="rect">
            <a:avLst/>
          </a:prstGeom>
          <a:solidFill>
            <a:srgbClr val="121A2E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0000" y="1080000"/>
            <a:ext cx="1370000" cy="43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竞品/业态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0000" y="1080000"/>
            <a:ext cx="1250000" cy="430000"/>
          </a:xfrm>
          <a:prstGeom prst="rect">
            <a:avLst/>
          </a:prstGeom>
          <a:solidFill>
            <a:srgbClr val="121A2E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0000" y="1080000"/>
            <a:ext cx="1120000" cy="43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0000" y="1080000"/>
            <a:ext cx="1050000" cy="430000"/>
          </a:xfrm>
          <a:prstGeom prst="rect">
            <a:avLst/>
          </a:prstGeom>
          <a:solidFill>
            <a:srgbClr val="121A2E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0000" y="1080000"/>
            <a:ext cx="920000" cy="43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000" y="1080000"/>
            <a:ext cx="2310000" cy="430000"/>
          </a:xfrm>
          <a:prstGeom prst="rect">
            <a:avLst/>
          </a:prstGeom>
          <a:solidFill>
            <a:srgbClr val="121A2E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0000" y="1080000"/>
            <a:ext cx="2180000" cy="43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核心弱点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0000" y="1080000"/>
            <a:ext cx="2310000" cy="430000"/>
          </a:xfrm>
          <a:prstGeom prst="rect">
            <a:avLst/>
          </a:prstGeom>
          <a:solidFill>
            <a:srgbClr val="121A2E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0000" y="1080000"/>
            <a:ext cx="2180000" cy="43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我们的切入机会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1510000"/>
            <a:ext cx="150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000" y="1510000"/>
            <a:ext cx="137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马棚酒吧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60000" y="1510000"/>
            <a:ext cx="125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30000" y="1510000"/>
            <a:ext cx="112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清吧/酒吧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0000" y="1510000"/>
            <a:ext cx="105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0000" y="1510000"/>
            <a:ext cx="92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120-160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000" y="1510000"/>
            <a:ext cx="231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0000" y="1510000"/>
            <a:ext cx="218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只有喝酒社交，无"玩法"留客，停留靠氛围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0000" y="1510000"/>
            <a:ext cx="231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0000" y="1510000"/>
            <a:ext cx="218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用"德扑局"做差异化，给客人来的理由不只是喝酒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2150000"/>
            <a:ext cx="1500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000" y="2150000"/>
            <a:ext cx="137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海伦司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60000" y="2150000"/>
            <a:ext cx="1250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30000" y="2150000"/>
            <a:ext cx="112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年轻廉价酒馆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10000" y="2150000"/>
            <a:ext cx="1050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0000" y="2150000"/>
            <a:ext cx="92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60-80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000" y="2150000"/>
            <a:ext cx="2310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30000" y="2150000"/>
            <a:ext cx="218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客群偏学生、人均低，抢不到高知商务客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0000" y="2150000"/>
            <a:ext cx="2310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0000" y="2150000"/>
            <a:ext cx="218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主打25-35岁高知圈层，客单与档次都更高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2790000"/>
            <a:ext cx="150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0000" y="2790000"/>
            <a:ext cx="137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胡桃里/贰麻酒馆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0000" y="2790000"/>
            <a:ext cx="125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30000" y="2790000"/>
            <a:ext cx="112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氛围社交酒馆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10000" y="2790000"/>
            <a:ext cx="105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80000" y="2790000"/>
            <a:ext cx="92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120-150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000" y="2790000"/>
            <a:ext cx="231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30000" y="2790000"/>
            <a:ext cx="218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泛社交、无固定圈子，复购靠运气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0000" y="2790000"/>
            <a:ext cx="2310000" cy="64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40000" y="2790000"/>
            <a:ext cx="2180000" cy="64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靠固定牌友群锁客，复购可被系统量化运营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0000" y="3430000"/>
            <a:ext cx="15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0000" y="3430000"/>
            <a:ext cx="1370000" cy="7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黄龙/滨江德扑会所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60000" y="3430000"/>
            <a:ext cx="125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30000" y="3430000"/>
            <a:ext cx="1120000" cy="7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隐蔽德扑店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10000" y="3430000"/>
            <a:ext cx="105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80000" y="3430000"/>
            <a:ext cx="920000" cy="7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150+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60000" y="3430000"/>
            <a:ext cx="231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30000" y="3430000"/>
            <a:ext cx="2180000" cy="7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隐蔽、靠熟人，新客进不去；离上城区远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70000" y="3430000"/>
            <a:ext cx="231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40000" y="3430000"/>
            <a:ext cx="2180000" cy="7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在上城区做"看得见、进得来"的合规德扑酒馆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0000" y="4830000"/>
            <a:ext cx="842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结论：竞争是"封闭式"的——不靠抢路人，靠把固定圈子做深做透。SaaS会员体系正是把"圈子"留住的武器。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四、你已签的SaaS四件套，在这家店怎么用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收银POS · 扫码点餐 · 会员旗舰版 · 小程序 —— 围绕"圈层锁客"全部用上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4050000" cy="183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4050000" cy="40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💳 收银POS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" y="147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问题：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台费+酒水混合收费，手记易乱、对不上账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" y="191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用法：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台费/酒水/低消分项收银，每局每桌清晰结账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00" y="235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账目清晰、合规留痕（只收台费/酒水，不抽水）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0000" y="1000000"/>
            <a:ext cx="4050000" cy="183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30000" y="1000000"/>
            <a:ext cx="4050000" cy="400000"/>
          </a:xfrm>
          <a:prstGeom prst="round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 扫码点餐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0000" y="147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问题：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牌局中频繁招呼服务员加酒，打断牌局体验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0000" y="191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用法：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桌台贴二维码，牌友扫码自助点酒水/小食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0000" y="235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减少打断、提升酒水连带，省1名服务人力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950000"/>
            <a:ext cx="4050000" cy="183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0000" y="2950000"/>
            <a:ext cx="4050000" cy="40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000" y="297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👑 会员旗舰版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00" y="342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问题：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客人来了就走，圈子留不下来、约不到局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00" y="386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用法：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扫码入会建"牌友档案"，记录牌技/活跃/消费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00" y="430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积分排行榜+定向约局，把散客变固定牌友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0000" y="2950000"/>
            <a:ext cx="4050000" cy="183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30000" y="2950000"/>
            <a:ext cx="4050000" cy="400000"/>
          </a:xfrm>
          <a:prstGeom prst="round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0000" y="297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🟢 商家小程序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0000" y="342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问题：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约局靠微信群刷屏，报名混乱、座位难统计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0000" y="386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用法：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小程序在线"开局报名"+预约座位+查积分排行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0000" y="4300000"/>
            <a:ext cx="3820000" cy="4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效果：</a:t>
            </a: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约局线上化，老板一眼看清今晚几桌、谁来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五、核心打法①：种子局攒圈层（开业生死线）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What：开业先攒3-5个"局头"(KOC)，靠他们带固定牌友滚雪球 —— 这是该品类唯一有效的获客逻辑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8420000" cy="5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1450000" cy="56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000" y="1000000"/>
            <a:ext cx="141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谁来做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000" y="1000000"/>
            <a:ext cx="674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老板亲自抓（KOC关系=老板的核心资产，不能交给店员）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1580000"/>
            <a:ext cx="8420000" cy="5600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000" y="1580000"/>
            <a:ext cx="1450000" cy="56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000" y="1580000"/>
            <a:ext cx="141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第几天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000" y="1580000"/>
            <a:ext cx="674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开业前7天就启动，开业首周必须有3-5个局头到位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160000"/>
            <a:ext cx="8420000" cy="5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000" y="2160000"/>
            <a:ext cx="1450000" cy="56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000" y="2160000"/>
            <a:ext cx="141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怎么找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000" y="2160000"/>
            <a:ext cx="674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在现有德扑圈/朋友里找"牌技好+人脉广"的3-5人，一对一邀约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740000"/>
            <a:ext cx="8420000" cy="6900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0000" y="2740000"/>
            <a:ext cx="1450000" cy="69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000" y="2740000"/>
            <a:ext cx="1410000" cy="69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给什么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000" y="2740000"/>
            <a:ext cx="6740000" cy="69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给局头"免台费+积分换酒"特权：每带满一桌牌友→送酒水券/积分，🔧会员旗舰版后台给局头打"KOC标签"+专属积分倍率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3450000"/>
            <a:ext cx="8420000" cy="69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0000" y="3450000"/>
            <a:ext cx="1450000" cy="69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000" y="3450000"/>
            <a:ext cx="1410000" cy="69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话怎么说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000" y="3450000"/>
            <a:ext cx="6740000" cy="69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"哥，新店开张，想请你来当我们的开局局头——你带的牌友台费我全免，每带一桌还送你酒水，咱把这个局做成上城区最稳的局。"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" y="4160000"/>
            <a:ext cx="8420000" cy="6900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0000" y="4160000"/>
            <a:ext cx="1450000" cy="69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000" y="4160000"/>
            <a:ext cx="1410000" cy="69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不配合怎么办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000" y="4160000"/>
            <a:ext cx="6740000" cy="69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局头不愿来→降低门槛，先免费请他和牌友体验1-2局；体验后再谈长期特权，让他先尝到"有面子+有实惠"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六、核心打法②：分级会员锁客 + 公私域联动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What：用分级局型+积分排行榜把"来过一次"变成"每周都来"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4050000" cy="36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4050000" cy="40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三级局型 + 积分锁客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1480000"/>
            <a:ext cx="3820000" cy="5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新手教学局（引流）：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低台费/免台费，老板或局头教德扑入门，降低新人门槛 → 拉新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" y="2005000"/>
            <a:ext cx="3820000" cy="5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进阶常规局（主力）：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标准台费80-120元/位，固定牌友群每周稳定开局 → 复购主力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2530000"/>
            <a:ext cx="3820000" cy="5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周末锦标赛（拉高）：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报名费+积分门槛，设酒水奖品/荣誉榜，制造仪式感 → 拉客单+传播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" y="3055000"/>
            <a:ext cx="3820000" cy="5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How·谁来做：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店长每周一在🔧小程序"开局报名"排好本周3类局，会员群同步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" y="3580000"/>
            <a:ext cx="3820000" cy="5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How·积分排行：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🔧会员旗舰版按到场次数/消费累计积分，月底榜前3名送酒水套餐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0" y="4105000"/>
            <a:ext cx="3820000" cy="5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● How·不来怎么办：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沉睡&gt;14天的牌友→旗舰版"潜客营销"自动发"本周缺一角"定向券召回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0000" y="1000000"/>
            <a:ext cx="4050000" cy="36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30000" y="1000000"/>
            <a:ext cx="4050000" cy="40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 公私域联动闭环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0000" y="1500000"/>
            <a:ext cx="382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① 公域获客（合规曝光）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大众点评/抖音定位"德扑桌游酒馆/清吧"，发氛围+锦标赛视频；⚠️严守只展示社交娱乐，不出现任何博彩/兑现字样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0000" y="2240000"/>
            <a:ext cx="382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② 到店转私域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扫万能码入会建牌友档案 → 进专属牌友群，🔧扫码点餐弹窗引导关注小程序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0000" y="2980000"/>
            <a:ext cx="382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③ 私域锁客复购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三级局型+积分榜+定向约局券，把牌友每周拉回来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0000" y="3720000"/>
            <a:ext cx="382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④ 裂变扩圈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旗舰版"团购会员卡/裂变拉新"：老牌友带新人组局，双方各得积分/酒水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0000" y="4500000"/>
            <a:ext cx="3820000" cy="2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闭环逻辑：公域引来新人 → 留进私域 → 圈层复购 → 老带新扩圈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七、核心打法③：企业团建，把白天空场变现金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What：紧邻钱江新城写字楼，工作日白天空场对接公司HR做"德扑团建+教学"包场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8420000" cy="5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1450000" cy="56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000" y="1000000"/>
            <a:ext cx="141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谁来做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000" y="1000000"/>
            <a:ext cx="674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老板/店长负责，安排1名熟悉规则的员工当"教学桌长"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1578000"/>
            <a:ext cx="8420000" cy="5600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000" y="1578000"/>
            <a:ext cx="1450000" cy="56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000" y="1578000"/>
            <a:ext cx="141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第几步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000" y="1578000"/>
            <a:ext cx="674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开业第2周起，整理周边3公里写字楼公司名单，主攻HR/行政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156000"/>
            <a:ext cx="8420000" cy="6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000" y="2156000"/>
            <a:ext cx="1450000" cy="66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000" y="2156000"/>
            <a:ext cx="1410000" cy="6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在哪触达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000" y="2156000"/>
            <a:ext cx="6740000" cy="6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加目标公司HR微信/对接行政群，发"工作日团建包场"图文（用小程序生成团建套餐链接）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834000"/>
            <a:ext cx="8420000" cy="5600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0000" y="2834000"/>
            <a:ext cx="1450000" cy="56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000" y="2834000"/>
            <a:ext cx="141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套餐怎么设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000" y="2834000"/>
            <a:ext cx="674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🔧收银POS建"团建包场套餐"：人均含教学+台费+酒水小食，20-40人档，工作日折扣价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3412000"/>
            <a:ext cx="8420000" cy="6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0000" y="3412000"/>
            <a:ext cx="1450000" cy="66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000" y="3412000"/>
            <a:ext cx="1410000" cy="6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话怎么说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000" y="3412000"/>
            <a:ext cx="6740000" cy="6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"周末包场紧张，工作日下午我们正好空场，给您公司做场德扑团建+零基础教学，破冰又有面子，人均比晚上更划算。"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" y="4090000"/>
            <a:ext cx="8420000" cy="5600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E2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0000" y="4090000"/>
            <a:ext cx="1450000" cy="56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0000" y="4090000"/>
            <a:ext cx="141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不签怎么办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000" y="4090000"/>
            <a:ext cx="6740000" cy="56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HR犹豫→先免费给HR团队体验一场小局，体验满意再谈整公司包场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八、开业30天营销节奏（照着做就行）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结合Q2营销日历：6月端午+618储值节点，蹭节点做圈层启动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2040000" cy="33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2040000" cy="60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000" y="1020000"/>
            <a:ext cx="1920000" cy="2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蓄水期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" y="1310000"/>
            <a:ext cx="192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D-7 ~ D0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" y="172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老板一对一锁定3-5个局头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248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点评/抖音建店铺页，发氛围+锦标赛预告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" y="324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建"OPEN牌友群"，预约首周开局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0000" y="1000000"/>
            <a:ext cx="2040000" cy="33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10000" y="1000000"/>
            <a:ext cx="2040000" cy="600000"/>
          </a:xfrm>
          <a:prstGeom prst="round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0000" y="1020000"/>
            <a:ext cx="1920000" cy="2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体验期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0000" y="1310000"/>
            <a:ext cx="192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D1 ~ D7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0000" y="172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首周每天有局头带桌，免台费体验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0000" y="248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扫码入会建牌友档案，目标入会80人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0000" y="324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邀首批牌友写点评(真实体验,不诱导)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0000" y="1000000"/>
            <a:ext cx="2040000" cy="33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0000" y="1000000"/>
            <a:ext cx="2040000" cy="60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0000" y="1020000"/>
            <a:ext cx="1920000" cy="2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爆发期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0000" y="1310000"/>
            <a:ext cx="192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D8 ~ D20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0000" y="172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上线三级局型+积分排行榜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0000" y="248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端午"五黄宴"+牌局组合，拉酒水连带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0000" y="324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启动企业团建外呼,谈下首个包场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0000" y="1000000"/>
            <a:ext cx="2040000" cy="330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10000" y="1000000"/>
            <a:ext cx="2040000" cy="600000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0000" y="1020000"/>
            <a:ext cx="1920000" cy="2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稳增期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0000" y="1310000"/>
            <a:ext cx="192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D21 ~ D30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0000" y="172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蹭618做储值:充500送100绑定老牌友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0000" y="248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周末首场锦标赛,设酒水奖+荣誉榜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0000" y="3240000"/>
            <a:ext cx="184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沉睡牌友定向召回,固定周复购节奏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0000" y="4420000"/>
            <a:ext cx="8420000" cy="48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0000" y="4470000"/>
            <a:ext cx="8060000" cy="38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📊 点评口碑（新店阶段）：</a:t>
            </a: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30天内攒够30+条真实评价 → 冲"新店榜" → 拼"热门榜"；严禁任何促评/邀评返券,只做真实体验引导（2025.10后高强度促评不产生星级收益）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九、合规红线：德扑酒馆的生命线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E0E0"/>
                </a:solidFill>
                <a:latin typeface="Microsoft YaHei"/>
                <a:ea typeface="Microsoft YaHei"/>
                <a:cs typeface="Microsoft YaHei"/>
              </a:rPr>
              <a:t>一旦涉赌即触刑事红线 —— 这条做不好，前面所有运营都归零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4050000" cy="355000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4050000" cy="400000"/>
          </a:xfrm>
          <a:prstGeom prst="round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🚫 三条铁律（必须守）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150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不抽水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门店只收固定台费+酒水，绝不从牌局彩池抽成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0" y="220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不兑现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店内不提供任何筹码兑换现金/转账服务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2900000"/>
            <a:ext cx="3820000" cy="6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D93A3A"/>
                </a:solidFill>
                <a:latin typeface="Microsoft YaHei"/>
                <a:ea typeface="Microsoft YaHei"/>
                <a:cs typeface="Microsoft YaHei"/>
              </a:rPr>
              <a:t>● 台费制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   收入来源只有台费和酒水低消,收银分项留痕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" y="3700000"/>
            <a:ext cx="3820000" cy="7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🔧 收银POS把"台费/酒水/低消"分项记账,每笔可追溯,既是合规证据也是经营数据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0000" y="1000000"/>
            <a:ext cx="4050000" cy="35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30000" y="1000000"/>
            <a:ext cx="4050000" cy="40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 落地动作（How）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0000" y="1500000"/>
            <a:ext cx="3820000" cy="5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谁来做：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老板牵头,开业前定好制度并培训全员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0000" y="2100000"/>
            <a:ext cx="3820000" cy="5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门店制度：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墙上明示"仅限社交娱乐·只收台费/酒水·不涉现金博彩"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0000" y="2700000"/>
            <a:ext cx="3820000" cy="5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员工话术：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客人问能否换钱→"咱这是德扑社交酒馆,只玩牌交朋友,不涉及任何现金兑换哈"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0000" y="3300000"/>
            <a:ext cx="3820000" cy="5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收银留痕：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所有收入走🔧收银POS,只设台费/酒水/低消项,绝不录"彩金"类目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0000" y="3900000"/>
            <a:ext cx="3820000" cy="58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风险预案：</a:t>
            </a:r>
            <a:r>
              <a:rPr sz="103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遇可疑要求兑现→礼貌拒绝并劝离,保留制度告知记录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14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000"/>
            <a:ext cx="8200000" cy="5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十、投资回报测算 + 30天OKR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"/>
            <a:ext cx="8200000" cy="24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SaaS已签四件套,核心是用好,几乎零新增硬投入 —— 算的是"运营带来多少增量"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00000"/>
            <a:ext cx="4050000" cy="35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00000"/>
            <a:ext cx="4050000" cy="400000"/>
          </a:xfrm>
          <a:prstGeom prst="roundRect">
            <a:avLst/>
          </a:prstGeom>
          <a:solidFill>
            <a:srgbClr val="1E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月增收测算（运营达稳态后）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" y="1500000"/>
            <a:ext cx="2700000" cy="6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固定牌友复购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666E7A"/>
                </a:solidFill>
                <a:latin typeface="Microsoft YaHei"/>
                <a:ea typeface="Microsoft YaHei"/>
                <a:cs typeface="Microsoft YaHei"/>
              </a:rPr>
              <a:t>5个局头×每周2局×4周×4人×人均130元台酒 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0000" y="1500000"/>
            <a:ext cx="11500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¥10.4万/月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" y="2140000"/>
            <a:ext cx="2700000" cy="6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企业团建包场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666E7A"/>
                </a:solidFill>
                <a:latin typeface="Microsoft YaHei"/>
                <a:ea typeface="Microsoft YaHei"/>
                <a:cs typeface="Microsoft YaHei"/>
              </a:rPr>
              <a:t>工作日2场/月×30人×人均150元 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0000" y="2140000"/>
            <a:ext cx="11500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¥0.9万/月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" y="2780000"/>
            <a:ext cx="2700000" cy="6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酒水连带提升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666E7A"/>
                </a:solidFill>
                <a:latin typeface="Microsoft YaHei"/>
                <a:ea typeface="Microsoft YaHei"/>
                <a:cs typeface="Microsoft YaHei"/>
              </a:rPr>
              <a:t>扫码点餐减少打断,酒水连带+15% 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0000" y="2780000"/>
            <a:ext cx="11500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¥0.8万/月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0" y="3420000"/>
            <a:ext cx="2700000" cy="62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21A2E"/>
                </a:solidFill>
                <a:latin typeface="Microsoft YaHei"/>
                <a:ea typeface="Microsoft YaHei"/>
                <a:cs typeface="Microsoft YaHei"/>
              </a:rPr>
              <a:t>● 储值锁定现金流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666E7A"/>
                </a:solidFill>
                <a:latin typeface="Microsoft YaHei"/>
                <a:ea typeface="Microsoft YaHei"/>
                <a:cs typeface="Microsoft YaHei"/>
              </a:rPr>
              <a:t>618充500送100,首月50人储值 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0000" y="3420000"/>
            <a:ext cx="1150000" cy="62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86B"/>
                </a:solidFill>
                <a:latin typeface="Microsoft YaHei"/>
                <a:ea typeface="Microsoft YaHei"/>
                <a:cs typeface="Microsoft YaHei"/>
              </a:rPr>
              <a:t>¥2.5万入账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000" y="4080000"/>
            <a:ext cx="3850000" cy="380000"/>
          </a:xfrm>
          <a:prstGeom prst="round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000" y="4130000"/>
            <a:ext cx="365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稳态月增收合计 ≈ </a:t>
            </a:r>
            <a:r>
              <a:rPr sz="1600" b="1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¥12万+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30000" y="1000000"/>
            <a:ext cx="4050000" cy="355000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30000" y="1000000"/>
            <a:ext cx="4050000" cy="40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0000" y="1025000"/>
            <a:ext cx="3850000" cy="35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开业首月OKR（量化目标）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0000" y="1480000"/>
            <a:ext cx="3820000" cy="400000"/>
          </a:xfrm>
          <a:prstGeom prst="roundRect">
            <a:avLst/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0000" y="1480000"/>
            <a:ext cx="13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局头(KOC)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0000" y="1480000"/>
            <a:ext cx="23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签下并稳定运营 ≥ 5 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0000" y="1900000"/>
            <a:ext cx="3820000" cy="4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0000" y="1900000"/>
            <a:ext cx="13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会员牌友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0000" y="1900000"/>
            <a:ext cx="23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扫码入会 ≥ 200 人,固定牌友群 ≥ 80 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0000" y="2320000"/>
            <a:ext cx="3820000" cy="400000"/>
          </a:xfrm>
          <a:prstGeom prst="roundRect">
            <a:avLst/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20000" y="2320000"/>
            <a:ext cx="13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开局频次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0000" y="2320000"/>
            <a:ext cx="23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工作日稳定每晚 ≥ 2 桌,周末 ≥ 4 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0000" y="2740000"/>
            <a:ext cx="3820000" cy="4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20000" y="2740000"/>
            <a:ext cx="13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点评口碑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0000" y="2740000"/>
            <a:ext cx="23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真实评价 ≥ 30 条,冲上"新店榜"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0000" y="3160000"/>
            <a:ext cx="3820000" cy="400000"/>
          </a:xfrm>
          <a:prstGeom prst="roundRect">
            <a:avLst/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0000" y="3160000"/>
            <a:ext cx="13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储值入账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0000" y="3160000"/>
            <a:ext cx="23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618储值 ≥ ¥2.5 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0000" y="3580000"/>
            <a:ext cx="3820000" cy="4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20000" y="3580000"/>
            <a:ext cx="13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企业包场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0000" y="3580000"/>
            <a:ext cx="23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谈下首个团建包场 ≥ 1 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40000" y="4000000"/>
            <a:ext cx="3820000" cy="400000"/>
          </a:xfrm>
          <a:prstGeom prst="roundRect">
            <a:avLst/>
          </a:prstGeom>
          <a:solidFill>
            <a:srgbClr val="FB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20000" y="4000000"/>
            <a:ext cx="13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月营收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0000" y="4000000"/>
            <a:ext cx="23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首月跑通 ≥ ¥8万,稳态目标 ¥12万+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30000" y="4480000"/>
            <a:ext cx="3820000" cy="200000"/>
          </a:xfrm>
          <a:prstGeom prst="rect">
            <a:avLst/>
          </a:prstGeom>
          <a:noFill/>
        </p:spPr>
        <p:txBody>
          <a:bodyPr wrap="square" anchor="t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66E7A"/>
                </a:solidFill>
                <a:latin typeface="Microsoft YaHei"/>
                <a:ea typeface="Microsoft YaHei"/>
                <a:cs typeface="Microsoft YaHei"/>
              </a:rPr>
              <a:t>⚠️ 测算基于行业基准假设,开业后以实际数据校准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0000" y="1050000"/>
            <a:ext cx="7900000" cy="7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 德扑酒馆 × 美团餐饮SaaS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1750000"/>
            <a:ext cx="790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把"圈子"沉淀成系统,把"高频复购"变成自动运转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000" y="2550000"/>
            <a:ext cx="1450000" cy="1300000"/>
          </a:xfrm>
          <a:prstGeom prst="round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680000"/>
            <a:ext cx="1450000" cy="5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300000"/>
            <a:ext cx="14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圈层为王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0000" y="2550000"/>
            <a:ext cx="1450000" cy="1300000"/>
          </a:xfrm>
          <a:prstGeom prst="round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0000" y="2680000"/>
            <a:ext cx="1450000" cy="5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0000" y="3300000"/>
            <a:ext cx="14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会员锁客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0000" y="2550000"/>
            <a:ext cx="1450000" cy="1300000"/>
          </a:xfrm>
          <a:prstGeom prst="round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0000" y="2680000"/>
            <a:ext cx="1450000" cy="5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0000" y="3300000"/>
            <a:ext cx="14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公私域闭环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000" y="2550000"/>
            <a:ext cx="1450000" cy="1300000"/>
          </a:xfrm>
          <a:prstGeom prst="round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000" y="2680000"/>
            <a:ext cx="1450000" cy="5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000" y="3300000"/>
            <a:ext cx="14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合规护航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0" y="2550000"/>
            <a:ext cx="1450000" cy="1300000"/>
          </a:xfrm>
          <a:prstGeom prst="roundRect">
            <a:avLst/>
          </a:prstGeom>
          <a:solidFill>
            <a:srgbClr val="1C2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0000" y="2680000"/>
            <a:ext cx="1450000" cy="5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0">
                <a:solidFill>
                  <a:srgbClr val="C9A24B"/>
                </a:solidFill>
                <a:latin typeface="Microsoft YaHei"/>
                <a:ea typeface="Microsoft YaHei"/>
                <a:cs typeface="Microsoft YaHei"/>
              </a:rPr>
              <a:t>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0000" y="3300000"/>
            <a:ext cx="1450000" cy="4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快速回本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0" y="4250000"/>
            <a:ext cx="79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8CEDA"/>
                </a:solidFill>
                <a:latin typeface="Microsoft YaHei"/>
                <a:ea typeface="Microsoft YaHei"/>
                <a:cs typeface="Microsoft YaHei"/>
              </a:rPr>
              <a:t>先帮这家店把局做起来、把圈子留下来 —— 生意自然会赢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" y="4650000"/>
            <a:ext cx="7900000" cy="300000"/>
          </a:xfrm>
          <a:prstGeom prst="rect">
            <a:avLst/>
          </a:prstGeom>
          <a:noFill/>
        </p:spPr>
        <p:txBody>
          <a:bodyPr wrap="square" anchor="ctr">
            <a:normAutofit fontScale="100000" lnSpcReduction="0"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2A2"/>
                </a:solidFill>
                <a:latin typeface="Microsoft YaHei"/>
                <a:ea typeface="Microsoft YaHei"/>
                <a:cs typeface="Microsoft YaHei"/>
              </a:rPr>
              <a:t>美团餐饮SaaS运营策划团队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