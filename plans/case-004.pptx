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0" y="705743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8743" y="1124843"/>
            <a:ext cx="182651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李记火锅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343294" y="1772543"/>
            <a:ext cx="245726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33"/>
              </a:lnSpc>
              <a:spcAft>
                <a:spcPts val="2100"/>
              </a:spcAft>
              <a:buNone/>
            </a:pPr>
            <a:r>
              <a:rPr lang="en-US" sz="16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0 到 1 全案策划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000500" y="2424410"/>
            <a:ext cx="1143000" cy="1905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87277" y="2862560"/>
            <a:ext cx="2569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杭州下沙龙湖天街 · 139㎡ · 9桌 · 川渝火锅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70130" y="3258741"/>
            <a:ext cx="18035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2400"/>
              </a:spcAft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开店筹备 × 运营落地 × 数据驱动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59262" y="3889177"/>
            <a:ext cx="4103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大橘🍊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37745" y="3889177"/>
            <a:ext cx="737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486275" y="3889177"/>
            <a:ext cx="814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美团餐饮SaaS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16513" y="4291013"/>
            <a:ext cx="510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718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开店篇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客户画像 &amp; 门店定位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600" y="1592014"/>
            <a:ext cx="436226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基本信息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28600" y="1969145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2016770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商家名称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238250" y="2016770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李记火锅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8600" y="2239566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3850" y="2287191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238250" y="2287191"/>
            <a:ext cx="9440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川渝麻辣 / 牛油锅底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8600" y="2509986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850" y="2557611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商圈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238250" y="2557611"/>
            <a:ext cx="1175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下沙龙湖天街（钱塘区）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28600" y="2780407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3850" y="2828032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面积/桌台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238250" y="2828032"/>
            <a:ext cx="540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139㎡ / 9桌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28600" y="3050828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3850" y="3098453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经营模式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238250" y="3098453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单店自营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28600" y="3321248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3850" y="3368873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预计开业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238250" y="3368873"/>
            <a:ext cx="7247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2026年6月上旬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28600" y="3591669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3850" y="3639294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人均客单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238250" y="3639294"/>
            <a:ext cx="1783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28600" y="3862090"/>
            <a:ext cx="4276725" cy="241846"/>
          </a:xfrm>
          <a:prstGeom prst="roundRect">
            <a:avLst>
              <a:gd name="adj" fmla="val 1181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3850" y="3909715"/>
            <a:ext cx="7772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人员编制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238250" y="3909715"/>
            <a:ext cx="17670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7人（厨师2+服务员3+收银1+店长1）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38675" y="1341239"/>
            <a:ext cx="436226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核心经营数据（推算）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4638675" y="1718370"/>
            <a:ext cx="2100263" cy="788640"/>
          </a:xfrm>
          <a:prstGeom prst="roundRect">
            <a:avLst>
              <a:gd name="adj" fmla="val 6039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21796" y="1813620"/>
            <a:ext cx="74870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11-15万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450681" y="2278410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月预计营收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815138" y="1718370"/>
            <a:ext cx="2100263" cy="788640"/>
          </a:xfrm>
          <a:prstGeom prst="roundRect">
            <a:avLst>
              <a:gd name="adj" fmla="val 6039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643813" y="1813620"/>
            <a:ext cx="45161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48万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674769" y="2278410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总投资额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38675" y="2754660"/>
            <a:ext cx="436226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门店定位分析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638675" y="3112740"/>
            <a:ext cx="4276725" cy="1241971"/>
          </a:xfrm>
          <a:prstGeom prst="roundRect">
            <a:avLst>
              <a:gd name="adj" fmla="val 383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3925" y="3207990"/>
            <a:ext cx="4167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定位：中小型社区火锅店（购物中心版）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33925" y="3402211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购物中心自带客流，选址门槛已过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33925" y="3583186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139㎡适中，租金可控，调整空间大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33925" y="3764161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无品牌认知度，冷启动全靠运营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33925" y="3945136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9桌营收天花板明确，翻台率是生命线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33925" y="4126111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桌台密度15.4㎡/桌（行业16-20㎡），偏紧凑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行业洞察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火锅赛道大盘数据 &amp; 关键趋势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920651"/>
            <a:ext cx="2100263" cy="906661"/>
          </a:xfrm>
          <a:prstGeom prst="roundRect">
            <a:avLst>
              <a:gd name="adj" fmla="val 6303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1560" y="1034951"/>
            <a:ext cx="9528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6,175亿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9391" y="1579662"/>
            <a:ext cx="896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2024年火锅市场规模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4113" y="920651"/>
            <a:ext cx="2100263" cy="906661"/>
          </a:xfrm>
          <a:prstGeom prst="roundRect">
            <a:avLst>
              <a:gd name="adj" fmla="val 6303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03352" y="1034951"/>
            <a:ext cx="96046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41.8万+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140869" y="1579662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全国火锅门店数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19625" y="920651"/>
            <a:ext cx="2100263" cy="906661"/>
          </a:xfrm>
          <a:prstGeom prst="roundRect">
            <a:avLst>
              <a:gd name="adj" fmla="val 6303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91584" y="1034951"/>
            <a:ext cx="7714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288756" y="157966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川渝火锅门店占比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15138" y="920651"/>
            <a:ext cx="2100263" cy="906661"/>
          </a:xfrm>
          <a:prstGeom prst="roundRect">
            <a:avLst>
              <a:gd name="adj" fmla="val 6303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0187" y="1034951"/>
            <a:ext cx="8467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15个月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484269" y="157966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门店平均生存周期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8600" y="1922562"/>
            <a:ext cx="438169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关键趋势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2269182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2888" y="2269182"/>
            <a:ext cx="0" cy="451396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425" y="2345382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竞争加剧：关店率28.8% &gt; 开店率22%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52425" y="2511028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2025年火锅门店净减少，市场承压明显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8600" y="2758678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42888" y="2758678"/>
            <a:ext cx="0" cy="451396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425" y="2834878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性价比主旋律：人均降至70-77元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52425" y="3000524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31-50元价格带大幅升高，消费降级趋势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28600" y="3248174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42888" y="3248174"/>
            <a:ext cx="0" cy="451396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425" y="3324374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差异化锅底是突破口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52425" y="3490020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酸汤火锅抖音搜索指数同比增长118.14%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28600" y="3737670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42888" y="3737670"/>
            <a:ext cx="0" cy="451396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425" y="3813870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会员体系是关键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52425" y="3979515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到店送羊肉等活动提升复购率45%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19625" y="1922562"/>
            <a:ext cx="438169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杭州市场特征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9625" y="2269182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14875" y="2345382"/>
            <a:ext cx="4187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14875" y="2497782"/>
            <a:ext cx="4187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品牌门店密集，海底捞/怂火锅/小龙坎集中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19625" y="2758678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14875" y="2834878"/>
            <a:ext cx="4187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消费偏好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14875" y="2987278"/>
            <a:ext cx="4187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鲜切牛肉集中涌现，新派锅底接受度高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619625" y="3248174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14875" y="3324374"/>
            <a:ext cx="4187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人均消费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14875" y="3476774"/>
            <a:ext cx="4187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购物中心80-120元 | 社区50-80元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619625" y="3737670"/>
            <a:ext cx="4295775" cy="451396"/>
          </a:xfrm>
          <a:prstGeom prst="roundRect">
            <a:avLst>
              <a:gd name="adj" fmla="val 844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14875" y="3813870"/>
            <a:ext cx="4187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季节性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14875" y="3966270"/>
            <a:ext cx="41873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夏季营收下降30%-40%，需提前储备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投资测算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一次性投入 &amp; 月度运营成本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882402"/>
            <a:ext cx="436226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一次性投入明细（总计48万元）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219498"/>
            <a:ext cx="4276725" cy="609600"/>
          </a:xfrm>
          <a:prstGeom prst="roundRect">
            <a:avLst>
              <a:gd name="adj" fmla="val 4688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39094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1257598"/>
            <a:ext cx="6800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金额(万)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" y="1848148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4800" y="188624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装修费（1,300元/㎡）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1886248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" y="2210098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4800" y="224819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排烟系统（9桌独立+中央）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2248198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" y="2572048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4800" y="261014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厨房设备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2610148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" y="2933998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4800" y="297209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火锅桌椅（9套）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49040" y="2972098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" y="3295948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4800" y="333404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电磁炉（9台）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3334048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" y="3657898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4800" y="3695998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收银系统（POS+平板）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49040" y="3695998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8600" y="4019848"/>
            <a:ext cx="4276725" cy="32385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4800" y="4048423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物料+证照+押金+营销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49040" y="4048423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28600" y="4362748"/>
            <a:ext cx="4276725" cy="323850"/>
          </a:xfrm>
          <a:prstGeom prst="roundRect">
            <a:avLst>
              <a:gd name="adj" fmla="val 5882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4800" y="4391323"/>
            <a:ext cx="3371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流动资金（3个月）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749040" y="4391323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38675" y="694730"/>
            <a:ext cx="436226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月度运营成本（总计14.95万/月）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8675" y="1031825"/>
            <a:ext cx="4276725" cy="609600"/>
          </a:xfrm>
          <a:prstGeom prst="roundRect">
            <a:avLst>
              <a:gd name="adj" fmla="val 4688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14875" y="120327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76198" y="1069925"/>
            <a:ext cx="53435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金额(万)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53425" y="120327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638675" y="166047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14875" y="169857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食材成本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676198" y="169857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53425" y="169857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38.0%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638675" y="202242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14875" y="206052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人力成本（7人）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676198" y="206052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4.20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353425" y="206052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32.3%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638675" y="238437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14875" y="242247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房租（8元/㎡/天）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676198" y="242247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3.34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53425" y="242247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638675" y="274632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14875" y="278442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水电燃气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676198" y="278442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353425" y="278442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638675" y="310827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14875" y="314637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底料/调味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676198" y="314637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353425" y="314637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638675" y="347022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14875" y="350832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营销+佣金+包材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676198" y="350832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8353425" y="350832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638675" y="3832175"/>
            <a:ext cx="427672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714875" y="3870275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折旧+损耗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7676198" y="3870275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8353425" y="3870275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4638675" y="4403675"/>
            <a:ext cx="4276725" cy="470446"/>
          </a:xfrm>
          <a:prstGeom prst="roundRect">
            <a:avLst>
              <a:gd name="adj" fmla="val 10123"/>
            </a:avLst>
          </a:prstGeom>
          <a:solidFill>
            <a:srgbClr val="8B1A1A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743450" y="4489400"/>
            <a:ext cx="4148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保守月营收13万 vs 月成本14.95万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4743450" y="4655046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月度亏损约2万，需月营收达15万+才能保本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286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38125"/>
            <a:ext cx="12824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盈亏平衡分析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800225" y="274141"/>
            <a:ext cx="108084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保本线 &amp; 4场景ROI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601266"/>
            <a:ext cx="2844701" cy="426690"/>
          </a:xfrm>
          <a:prstGeom prst="roundRect">
            <a:avLst>
              <a:gd name="adj" fmla="val 11161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3375" y="754559"/>
            <a:ext cx="4371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月盈亏平衡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819150" y="667941"/>
            <a:ext cx="74870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16.03万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149501" y="601266"/>
            <a:ext cx="2844850" cy="426690"/>
          </a:xfrm>
          <a:prstGeom prst="roundRect">
            <a:avLst>
              <a:gd name="adj" fmla="val 11161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54276" y="754559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日均保本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654326" y="667941"/>
            <a:ext cx="74870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5,343元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70550" y="601266"/>
            <a:ext cx="2844850" cy="426690"/>
          </a:xfrm>
          <a:prstGeom prst="roundRect">
            <a:avLst>
              <a:gd name="adj" fmla="val 11161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75325" y="754559"/>
            <a:ext cx="4371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保本翻台率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661100" y="667941"/>
            <a:ext cx="51097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2.2次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28600" y="1085106"/>
            <a:ext cx="8686800" cy="342900"/>
          </a:xfrm>
          <a:prstGeom prst="roundRect">
            <a:avLst>
              <a:gd name="adj" fmla="val 8333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3850" y="1123206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1082" y="1123206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月营收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59280" y="112320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月净利润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73680" y="112320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回本周期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44456" y="1123206"/>
            <a:ext cx="5226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年化ROI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8600" y="1437531"/>
            <a:ext cx="8686800" cy="609600"/>
          </a:xfrm>
          <a:prstGeom prst="rect">
            <a:avLst/>
          </a:prstGeom>
          <a:solidFill>
            <a:srgbClr val="3D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3850" y="1475631"/>
            <a:ext cx="58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😟 悲观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1082" y="1608981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59280" y="1608981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-2.95万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773680" y="1608981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不回本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44456" y="1608981"/>
            <a:ext cx="5226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-74%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8600" y="2056656"/>
            <a:ext cx="8686800" cy="6096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3850" y="2094756"/>
            <a:ext cx="58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😐 保守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41082" y="2228106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15万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59280" y="222810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+0.05万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73680" y="222810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44456" y="2228106"/>
            <a:ext cx="5226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8600" y="2675781"/>
            <a:ext cx="8686800" cy="6096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3850" y="2713881"/>
            <a:ext cx="58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🙂 中性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41082" y="2847231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17万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859280" y="2847231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+1.13万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773680" y="2847231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644456" y="2847231"/>
            <a:ext cx="5226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28600" y="3294906"/>
            <a:ext cx="8686800" cy="609600"/>
          </a:xfrm>
          <a:prstGeom prst="rect">
            <a:avLst/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3850" y="3333006"/>
            <a:ext cx="582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😃 乐观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41082" y="3466356"/>
            <a:ext cx="680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20万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859280" y="346635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+2.76万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773680" y="3466356"/>
            <a:ext cx="777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17月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644456" y="3466356"/>
            <a:ext cx="5226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28600" y="3961656"/>
            <a:ext cx="1699171" cy="828377"/>
          </a:xfrm>
          <a:prstGeom prst="roundRect">
            <a:avLst>
              <a:gd name="adj" fmla="val 459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94011" y="4009281"/>
            <a:ext cx="3757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+1.5万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49523" y="4353967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提翻台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898178" y="4635847"/>
            <a:ext cx="3672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90min提醒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975396" y="3961656"/>
            <a:ext cx="1699320" cy="828377"/>
          </a:xfrm>
          <a:prstGeom prst="roundRect">
            <a:avLst>
              <a:gd name="adj" fmla="val 459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640806" y="4009281"/>
            <a:ext cx="3757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+1.0万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2696468" y="4353967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提客单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2650331" y="4635847"/>
            <a:ext cx="35628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酒水+套餐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722340" y="3961656"/>
            <a:ext cx="1699171" cy="828377"/>
          </a:xfrm>
          <a:prstGeom prst="roundRect">
            <a:avLst>
              <a:gd name="adj" fmla="val 459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387751" y="4009281"/>
            <a:ext cx="3757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+1.5万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4443264" y="4353967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做外卖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4408884" y="4635847"/>
            <a:ext cx="33260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冒菜/拌菜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469136" y="3961656"/>
            <a:ext cx="1699320" cy="828377"/>
          </a:xfrm>
          <a:prstGeom prst="roundRect">
            <a:avLst>
              <a:gd name="adj" fmla="val 459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34546" y="4009281"/>
            <a:ext cx="3757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+1.0万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6190208" y="4353967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做午市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6117580" y="4635847"/>
            <a:ext cx="41032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单人/双人锅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216080" y="3961656"/>
            <a:ext cx="1699320" cy="828377"/>
          </a:xfrm>
          <a:prstGeom prst="roundRect">
            <a:avLst>
              <a:gd name="adj" fmla="val 459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855744" y="4009281"/>
            <a:ext cx="4282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省0.8万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7937153" y="4353967"/>
            <a:ext cx="2623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降成本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7891016" y="4635847"/>
            <a:ext cx="35628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扫码+集采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286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38125"/>
            <a:ext cx="8549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选址评估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81125" y="274141"/>
            <a:ext cx="204951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下沙龙湖天街 · 总分56.5/90（63%）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612577"/>
            <a:ext cx="4675882" cy="590550"/>
          </a:xfrm>
          <a:prstGeom prst="roundRect">
            <a:avLst>
              <a:gd name="adj" fmla="val 4839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774502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01525" y="641152"/>
            <a:ext cx="2914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39675" y="7745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" y="1212652"/>
            <a:ext cx="4675882" cy="3048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4800" y="1231702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日均客流量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01525" y="12317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9675" y="12317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" y="1526977"/>
            <a:ext cx="4675882" cy="3048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4800" y="1546027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竞品密度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01525" y="154602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39675" y="154602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" y="1841302"/>
            <a:ext cx="4675882" cy="3048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4800" y="1860352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租金合理性 ⚠️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01525" y="186035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39675" y="186035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" y="2155627"/>
            <a:ext cx="4675882" cy="3048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4800" y="2174677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目标客群 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01525" y="217467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39675" y="217467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8600" y="2469952"/>
            <a:ext cx="4675882" cy="3048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4800" y="2489002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交通便利性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01525" y="24890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39675" y="24890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28600" y="2784277"/>
            <a:ext cx="4675882" cy="3048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4800" y="2803327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可视性/展示面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01525" y="280332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39675" y="280332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28600" y="3098602"/>
            <a:ext cx="4675882" cy="3048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4800" y="3117652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排烟/燃气/电力 ✅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101525" y="311765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39675" y="311765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28600" y="3412927"/>
            <a:ext cx="4675882" cy="3048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04800" y="3431977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物业状态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101525" y="343197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39675" y="343197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228600" y="3727252"/>
            <a:ext cx="4675882" cy="3048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4800" y="3746302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周边配套 ✅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101525" y="37463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539675" y="3746302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28600" y="4041577"/>
            <a:ext cx="4675882" cy="3048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04800" y="4060627"/>
            <a:ext cx="3720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租约条件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101525" y="406062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39675" y="4060627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228600" y="4536877"/>
            <a:ext cx="4675882" cy="222796"/>
          </a:xfrm>
          <a:prstGeom prst="roundRect">
            <a:avLst>
              <a:gd name="adj" fmla="val 17101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59565" y="4574977"/>
            <a:ext cx="4613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 及格线 —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可做但需谨慎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5018782" y="1545431"/>
            <a:ext cx="3974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核心优势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5018782" y="1749177"/>
            <a:ext cx="3896618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094982" y="1787277"/>
            <a:ext cx="38191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龙湖运营强，日均客流2-4万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5018782" y="1964382"/>
            <a:ext cx="3896618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094982" y="2002482"/>
            <a:ext cx="38191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14所高校30万师生，年轻客群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5018782" y="2179588"/>
            <a:ext cx="3896618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094982" y="2217688"/>
            <a:ext cx="38191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C级商圈租金低于主城30-50%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5018782" y="2394793"/>
            <a:ext cx="3896618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094982" y="2432893"/>
            <a:ext cx="38191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标准商场配套齐全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5018782" y="2648099"/>
            <a:ext cx="3974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核心风险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5018782" y="2851845"/>
            <a:ext cx="3896618" cy="312241"/>
          </a:xfrm>
          <a:prstGeom prst="roundRect">
            <a:avLst>
              <a:gd name="adj" fmla="val 9152"/>
            </a:avLst>
          </a:prstGeom>
          <a:solidFill>
            <a:srgbClr val="3D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5033070" y="2851845"/>
            <a:ext cx="0" cy="312241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3557" y="2889945"/>
            <a:ext cx="37899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租售比25.7%远超15%红线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5123557" y="3019425"/>
            <a:ext cx="37899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须谈扣点制10-12%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018782" y="3183136"/>
            <a:ext cx="3896618" cy="312241"/>
          </a:xfrm>
          <a:prstGeom prst="roundRect">
            <a:avLst>
              <a:gd name="adj" fmla="val 9152"/>
            </a:avLst>
          </a:prstGeom>
          <a:solidFill>
            <a:srgbClr val="3D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5033070" y="3183136"/>
            <a:ext cx="0" cy="312241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3557" y="3221236"/>
            <a:ext cx="37899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寒暑假客流跌50%+</a:t>
            </a:r>
            <a:endParaRPr lang="en-US" sz="675" dirty="0"/>
          </a:p>
        </p:txBody>
      </p:sp>
      <p:sp>
        <p:nvSpPr>
          <p:cNvPr id="68" name="Text 66"/>
          <p:cNvSpPr/>
          <p:nvPr/>
        </p:nvSpPr>
        <p:spPr>
          <a:xfrm>
            <a:off x="5123557" y="3350716"/>
            <a:ext cx="37899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大学生放假客流断崖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018782" y="3514427"/>
            <a:ext cx="3896618" cy="312241"/>
          </a:xfrm>
          <a:prstGeom prst="roundRect">
            <a:avLst>
              <a:gd name="adj" fmla="val 9152"/>
            </a:avLst>
          </a:prstGeom>
          <a:solidFill>
            <a:srgbClr val="3D15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5033070" y="3514427"/>
            <a:ext cx="0" cy="312241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3557" y="3552527"/>
            <a:ext cx="37899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9桌营收天花板明确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5123557" y="3682008"/>
            <a:ext cx="378995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翻台≥2.2才能保本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58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筹备SOP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6周倒排时间轴 · 从签约到开业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14440" y="901601"/>
            <a:ext cx="14442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· 4/23-29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1668490" y="901601"/>
            <a:ext cx="14444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· 4/30-5/6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122691" y="901601"/>
            <a:ext cx="14442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· 5/7-13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576740" y="901601"/>
            <a:ext cx="14444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· 5/14-20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6030940" y="901601"/>
            <a:ext cx="14444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· 5/21-27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485139" y="901601"/>
            <a:ext cx="14444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 · 5/28-6/3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28600" y="1097756"/>
            <a:ext cx="427482" cy="19615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证照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685800" y="1097756"/>
            <a:ext cx="1377851" cy="196155"/>
          </a:xfrm>
          <a:prstGeom prst="roundRect">
            <a:avLst>
              <a:gd name="adj" fmla="val 14568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2950" y="1135856"/>
            <a:ext cx="1288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营业执照申请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403550" y="1097756"/>
            <a:ext cx="1377851" cy="196155"/>
          </a:xfrm>
          <a:prstGeom prst="roundRect">
            <a:avLst>
              <a:gd name="adj" fmla="val 14568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60700" y="1135856"/>
            <a:ext cx="1288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食品许可证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819501" y="1097756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76651" y="1135856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环评+消防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235601" y="1097756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2751" y="1135856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领证 ✅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28600" y="1332012"/>
            <a:ext cx="427482" cy="19615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装修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85800" y="1332012"/>
            <a:ext cx="1358801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2950" y="1370112"/>
            <a:ext cx="12693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设计确认进场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082701" y="1332012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39851" y="1370112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水电+排烟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479750" y="1332012"/>
            <a:ext cx="1358801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36900" y="1370112"/>
            <a:ext cx="12693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地墙面+吊顶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876651" y="1332012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3801" y="1370112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门头+软装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273701" y="1332012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30851" y="1370112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验收+通风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228600" y="1566267"/>
            <a:ext cx="427482" cy="19615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设备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85800" y="1566267"/>
            <a:ext cx="1377851" cy="196155"/>
          </a:xfrm>
          <a:prstGeom prst="roundRect">
            <a:avLst>
              <a:gd name="adj" fmla="val 14568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2950" y="1604367"/>
            <a:ext cx="1288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选型比价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2101751" y="1566267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58901" y="1604367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下单采购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19501" y="1566267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76651" y="1604367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进场安装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6235601" y="1566267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92751" y="1604367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调试运行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228600" y="1800523"/>
            <a:ext cx="427482" cy="19615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人员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1968401" y="1800523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2A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025551" y="1838623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发布招聘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3365450" y="1800523"/>
            <a:ext cx="1358801" cy="196155"/>
          </a:xfrm>
          <a:prstGeom prst="roundRect">
            <a:avLst>
              <a:gd name="adj" fmla="val 14568"/>
            </a:avLst>
          </a:prstGeom>
          <a:solidFill>
            <a:srgbClr val="2A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422600" y="1838623"/>
            <a:ext cx="12693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面试录用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762351" y="1800523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2A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19501" y="1838623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健康证+培训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159401" y="1800523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2A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16551" y="1838623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实操演练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7556450" y="1800523"/>
            <a:ext cx="1358950" cy="196155"/>
          </a:xfrm>
          <a:prstGeom prst="roundRect">
            <a:avLst>
              <a:gd name="adj" fmla="val 14568"/>
            </a:avLst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613600" y="1838623"/>
            <a:ext cx="12695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全员在岗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228600" y="2034778"/>
            <a:ext cx="427482" cy="19615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供应链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1987451" y="2034778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1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044601" y="2072878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供应商筛选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3403550" y="2034778"/>
            <a:ext cx="1377851" cy="196155"/>
          </a:xfrm>
          <a:prstGeom prst="roundRect">
            <a:avLst>
              <a:gd name="adj" fmla="val 14568"/>
            </a:avLst>
          </a:prstGeom>
          <a:solidFill>
            <a:srgbClr val="1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460700" y="2072878"/>
            <a:ext cx="1288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签约+试样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4819501" y="2034778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1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876651" y="2072878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确定供应商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235601" y="2034778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1A2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92751" y="2072878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首批备货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228600" y="2269034"/>
            <a:ext cx="427482" cy="19615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营销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3289250" y="2269034"/>
            <a:ext cx="1377851" cy="196155"/>
          </a:xfrm>
          <a:prstGeom prst="roundRect">
            <a:avLst>
              <a:gd name="adj" fmla="val 14568"/>
            </a:avLst>
          </a:prstGeom>
          <a:solidFill>
            <a:srgbClr val="2A2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46400" y="2307134"/>
            <a:ext cx="1288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企微群蓄客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4705201" y="2269034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2A2A1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762351" y="2307134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线上预热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6121301" y="2269034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178451" y="2307134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试营业5天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7537400" y="2269034"/>
            <a:ext cx="1378000" cy="196155"/>
          </a:xfrm>
          <a:prstGeom prst="roundRect">
            <a:avLst>
              <a:gd name="adj" fmla="val 14568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594550" y="2307134"/>
            <a:ext cx="12889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正式开业</a:t>
            </a:r>
            <a:endParaRPr lang="en-US" sz="675" dirty="0"/>
          </a:p>
        </p:txBody>
      </p:sp>
      <p:sp>
        <p:nvSpPr>
          <p:cNvPr id="69" name="Text 67"/>
          <p:cNvSpPr/>
          <p:nvPr/>
        </p:nvSpPr>
        <p:spPr>
          <a:xfrm>
            <a:off x="228600" y="2541389"/>
            <a:ext cx="8686800" cy="434280"/>
          </a:xfrm>
          <a:prstGeom prst="roundRect">
            <a:avLst>
              <a:gd name="adj" fmla="val 1096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42900" y="2617589"/>
            <a:ext cx="8627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关键里程碑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42900" y="2779514"/>
            <a:ext cx="8627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W1签约启动 → W2装修+招聘 → W3主体施工+证照 → W4收尾+培训 → W5试营业(5天) → W6正式开业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证照办理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6证Checklist · 合计约2,200元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939701"/>
            <a:ext cx="8686800" cy="260896"/>
          </a:xfrm>
          <a:prstGeom prst="roundRect">
            <a:avLst>
              <a:gd name="adj" fmla="val 14604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996851"/>
            <a:ext cx="2914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81050" y="996851"/>
            <a:ext cx="42553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证照名称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105400" y="996851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办理部门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775133" y="996851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587615" y="996851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8416290" y="996851"/>
            <a:ext cx="3886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时机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28600" y="1257746"/>
            <a:ext cx="8686800" cy="514201"/>
          </a:xfrm>
          <a:prstGeom prst="roundRect">
            <a:avLst>
              <a:gd name="adj" fmla="val 555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850" y="1394817"/>
            <a:ext cx="291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2000" y="1305371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营业执照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62000" y="1604367"/>
            <a:ext cx="4294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"浙里办"APP线上申请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124450" y="1448098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钱塘区市场监管局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94183" y="1441549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1-3天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606665" y="1441549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435340" y="144809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600" y="1829098"/>
            <a:ext cx="8686800" cy="514201"/>
          </a:xfrm>
          <a:prstGeom prst="roundRect">
            <a:avLst>
              <a:gd name="adj" fmla="val 5557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3850" y="1992809"/>
            <a:ext cx="291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2000" y="1876723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食品经营许可证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62000" y="2175718"/>
            <a:ext cx="4294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厨房布局完成后提交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124450" y="201944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钱塘区市场监管局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94183" y="2012900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7-15天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606665" y="2012900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8435340" y="2019449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8600" y="2400449"/>
            <a:ext cx="8686800" cy="514201"/>
          </a:xfrm>
          <a:prstGeom prst="roundRect">
            <a:avLst>
              <a:gd name="adj" fmla="val 555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3850" y="2537520"/>
            <a:ext cx="291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62000" y="2448074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环评登记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62000" y="2747070"/>
            <a:ext cx="4294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150㎡以下网上填报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124450" y="259080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钱塘区生态环境分局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94183" y="2584252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当天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606665" y="2584252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8435340" y="2590800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28600" y="2971800"/>
            <a:ext cx="8686800" cy="514201"/>
          </a:xfrm>
          <a:prstGeom prst="roundRect">
            <a:avLst>
              <a:gd name="adj" fmla="val 5557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23850" y="3135511"/>
            <a:ext cx="291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62000" y="3019425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消防备案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62000" y="3318421"/>
            <a:ext cx="4294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告知承诺制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124450" y="3162151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钱塘区消防救援大队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94183" y="3155603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1-3天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7606665" y="3155603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8435340" y="3162151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8600" y="3543151"/>
            <a:ext cx="8686800" cy="514201"/>
          </a:xfrm>
          <a:prstGeom prst="roundRect">
            <a:avLst>
              <a:gd name="adj" fmla="val 555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23850" y="3706862"/>
            <a:ext cx="291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62000" y="3590776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员工健康证 ×7人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762000" y="3889772"/>
            <a:ext cx="4294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疾控中心体检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124450" y="373350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钱塘区疾控中心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94183" y="3726954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3-5天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7606665" y="3726954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¥700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8435340" y="3733502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8600" y="4114502"/>
            <a:ext cx="8686800" cy="514201"/>
          </a:xfrm>
          <a:prstGeom prst="roundRect">
            <a:avLst>
              <a:gd name="adj" fmla="val 5557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23850" y="4278213"/>
            <a:ext cx="291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62000" y="4162127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门头审批 + 排水许可证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762000" y="4461123"/>
            <a:ext cx="42942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城管局审批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5124450" y="4304854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钱塘区城管局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794183" y="4298305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3-15天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7606665" y="4298305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~¥1,500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8435340" y="4304854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230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 &amp; 人员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设备总投 13.88万 · 人员编制 7人 · 月人力 4.2万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101328"/>
            <a:ext cx="471596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设备采购清单（总计138,800元）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438424"/>
            <a:ext cx="4623495" cy="342900"/>
          </a:xfrm>
          <a:prstGeom prst="roundRect">
            <a:avLst>
              <a:gd name="adj" fmla="val 8333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476524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67185" y="1476524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2965" y="1476524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18003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4800" y="18289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中央排烟+桌排烟罩+净化器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67185" y="18289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92965" y="18289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¥60,000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" y="21432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800" y="21718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嵌入式火锅桌+椅子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67185" y="21718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92965" y="21718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¥19,800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" y="24861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4800" y="25147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冷藏展示柜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67185" y="25147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92965" y="25147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¥10,000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8600" y="28290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4800" y="28576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商用电磁炉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67185" y="28576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92965" y="28576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¥9,000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8600" y="31719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4800" y="32005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四门冷冻柜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67185" y="32005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92965" y="32005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¥8,000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28600" y="35148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4800" y="35434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切配台+切肉机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67185" y="35434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92965" y="35434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¥8,000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28600" y="38577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04800" y="38863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POS收银系统+平板+打印机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67185" y="38863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1套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192965" y="38863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¥6,000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28600" y="4200674"/>
            <a:ext cx="4623495" cy="323850"/>
          </a:xfrm>
          <a:prstGeom prst="roundRect">
            <a:avLst>
              <a:gd name="adj" fmla="val 5882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04800" y="4229249"/>
            <a:ext cx="3278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汤锅+消毒柜+碗碟+其他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67185" y="4229249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1批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192965" y="422924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¥18,000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985445" y="692051"/>
            <a:ext cx="400855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人员编制 &amp; 薪资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5445" y="1029146"/>
            <a:ext cx="3929955" cy="609600"/>
          </a:xfrm>
          <a:prstGeom prst="roundRect">
            <a:avLst>
              <a:gd name="adj" fmla="val 4688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061645" y="1200596"/>
            <a:ext cx="2667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826216" y="1067246"/>
            <a:ext cx="340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人数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04848" y="1200596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月薪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985445" y="1657796"/>
            <a:ext cx="392995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061645" y="1695896"/>
            <a:ext cx="2667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店长（老板兼）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826216" y="1695896"/>
            <a:ext cx="340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304848" y="1695896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¥9,000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985445" y="2019746"/>
            <a:ext cx="392995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61645" y="2057846"/>
            <a:ext cx="2667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厨师（切配+锅底）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826216" y="2057846"/>
            <a:ext cx="340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304848" y="2057846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¥7,000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4985445" y="2381696"/>
            <a:ext cx="3929955" cy="342900"/>
          </a:xfrm>
          <a:prstGeom prst="roundRect">
            <a:avLst>
              <a:gd name="adj" fmla="val 55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61645" y="2419796"/>
            <a:ext cx="2667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服务员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7826216" y="2419796"/>
            <a:ext cx="340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304848" y="2419796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¥5,000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4985445" y="2743646"/>
            <a:ext cx="3929955" cy="34290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061645" y="2781746"/>
            <a:ext cx="26678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收银员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826216" y="2781746"/>
            <a:ext cx="340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304848" y="2781746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¥4,200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4985445" y="3315146"/>
            <a:ext cx="3929955" cy="550366"/>
          </a:xfrm>
          <a:prstGeom prst="roundRect">
            <a:avLst>
              <a:gd name="adj" fmla="val 8653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033584" y="3400871"/>
            <a:ext cx="38336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¥42,200/月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5033584" y="3659832"/>
            <a:ext cx="38336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月人力成本合计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4985445" y="4094113"/>
            <a:ext cx="3929955" cy="434280"/>
          </a:xfrm>
          <a:prstGeom prst="roundRect">
            <a:avLst>
              <a:gd name="adj" fmla="val 877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061645" y="4170313"/>
            <a:ext cx="38531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优化方向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061645" y="4332238"/>
            <a:ext cx="38531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开业2个月后推行扫码点餐，减少1名服务员，月省约¥5,000</a:t>
            </a:r>
            <a:endParaRPr lang="en-US" sz="675" dirty="0"/>
          </a:p>
        </p:txBody>
      </p:sp>
      <p:sp>
        <p:nvSpPr>
          <p:cNvPr id="69" name="Text 67"/>
          <p:cNvSpPr/>
          <p:nvPr/>
        </p:nvSpPr>
        <p:spPr>
          <a:xfrm>
            <a:off x="4985445" y="4718893"/>
            <a:ext cx="3929955" cy="215205"/>
          </a:xfrm>
          <a:prstGeom prst="roundRect">
            <a:avLst>
              <a:gd name="adj" fmla="val 17704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061645" y="4766518"/>
            <a:ext cx="38531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BOSS直聘+58同城+社区推荐 · W2发布→W3面试→W4到岗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718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运营篇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开业冷启动 · 蓄客4周倒排 + 开业活动设计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271290"/>
            <a:ext cx="460211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蓄客4周倒排（目标：800-1000人）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617911"/>
            <a:ext cx="4511873" cy="548432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2888" y="1617911"/>
            <a:ext cx="0" cy="548432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425" y="1684586"/>
            <a:ext cx="43786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W-4 · 线上阵地搭建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52425" y="1850231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大众点评创建商户页 · 企微号注册 · 建3个200人福利群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52425" y="1979712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预售：双人锅底套餐¥39.9（原价¥68）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28600" y="2204442"/>
            <a:ext cx="4511873" cy="548432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888" y="2204442"/>
            <a:ext cx="0" cy="548432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425" y="2271117"/>
            <a:ext cx="43786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W-3 · 内容引爆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52425" y="2436763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抖音3条视频（锅底沸腾ASMR/鲜切慢镜头/装修vlog）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52425" y="2566243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小红书3篇 · 联系3-5位本地达人预约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28600" y="2790974"/>
            <a:ext cx="4511873" cy="548432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2888" y="2790974"/>
            <a:ext cx="0" cy="548432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425" y="2857649"/>
            <a:ext cx="43786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W-2 · 精准投放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52425" y="3023295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朋友圈广告：下沙3km定向 · 曝光10,000-30,000次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52425" y="3152775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线下地推：龙湖天街入口+大学城 · 传单2000张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28600" y="3377505"/>
            <a:ext cx="4511873" cy="548432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42888" y="3377505"/>
            <a:ext cx="0" cy="548432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425" y="3444180"/>
            <a:ext cx="43786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W-1 · 试营业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52425" y="3609826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7天：前3天晚餐5桌7.5折 → 后4天全时段9桌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52425" y="3739307"/>
            <a:ext cx="43786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目标累计15-25条大众点评好评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28600" y="4125962"/>
            <a:ext cx="4511873" cy="228600"/>
          </a:xfrm>
          <a:prstGeom prst="roundRect">
            <a:avLst>
              <a:gd name="adj" fmla="val 16667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3850" y="4173587"/>
            <a:ext cx="4407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蓄客总预算：约6,350-9,350元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54773" y="1203722"/>
            <a:ext cx="414183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开业活动设计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54773" y="1550343"/>
            <a:ext cx="4060627" cy="599926"/>
          </a:xfrm>
          <a:prstGeom prst="roundRect">
            <a:avLst>
              <a:gd name="adj" fmla="val 793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59548" y="1636068"/>
            <a:ext cx="3928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开业当天 · 锅底免费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9548" y="1815108"/>
            <a:ext cx="39280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限前50桌 · 预约制 · 企微群提前3天放号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959548" y="1944588"/>
            <a:ext cx="39280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成本约¥800（16元/份×50桌）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54773" y="2188369"/>
            <a:ext cx="4060627" cy="390376"/>
          </a:xfrm>
          <a:prstGeom prst="roundRect">
            <a:avLst>
              <a:gd name="adj" fmla="val 976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50023" y="2245519"/>
            <a:ext cx="39475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首周：全场8折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50023" y="2401639"/>
            <a:ext cx="39475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让利¥6,000 + 每桌赠酸梅汤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54773" y="2616845"/>
            <a:ext cx="4060627" cy="390376"/>
          </a:xfrm>
          <a:prstGeom prst="roundRect">
            <a:avLst>
              <a:gd name="adj" fmla="val 976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0023" y="2673995"/>
            <a:ext cx="39475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次周：9折 + 储值首推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950023" y="2830116"/>
            <a:ext cx="39475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充500送100 · 复购券满200减30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854773" y="3045321"/>
            <a:ext cx="4060627" cy="390376"/>
          </a:xfrm>
          <a:prstGeom prst="roundRect">
            <a:avLst>
              <a:gd name="adj" fmla="val 976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50023" y="3102471"/>
            <a:ext cx="39475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达人探店 2-3位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950023" y="3258592"/>
            <a:ext cx="39475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杭州本地美食达人 · 粉丝1-5万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854773" y="3473797"/>
            <a:ext cx="4060627" cy="390376"/>
          </a:xfrm>
          <a:prstGeom prst="roundRect">
            <a:avLst>
              <a:gd name="adj" fmla="val 976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950023" y="3530947"/>
            <a:ext cx="39475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好评有礼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950023" y="3687068"/>
            <a:ext cx="39475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点评50字+带图 = 送冰粉/酸梅汤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854773" y="4064198"/>
            <a:ext cx="4060627" cy="358080"/>
          </a:xfrm>
          <a:prstGeom prst="roundRect">
            <a:avLst>
              <a:gd name="adj" fmla="val 13300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1038" y="4149923"/>
            <a:ext cx="3928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开业总预算：约2.6-3.2万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首月运营节奏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4周详细计划 · 从冲量到看数据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920651"/>
            <a:ext cx="4305300" cy="1870621"/>
          </a:xfrm>
          <a:prstGeom prst="roundRect">
            <a:avLst>
              <a:gd name="adj" fmla="val 3055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2425" y="1025426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71066" y="1085404"/>
            <a:ext cx="6878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第1周 · 冲量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52425" y="1528316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维持8折优惠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52425" y="1690241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点评霸王餐10份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2425" y="1852166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好评引导：送酸梅汤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2425" y="2014091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每日22:00复盘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425" y="2176016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达人视频发布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2425" y="2523679"/>
            <a:ext cx="40576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425" y="2566541"/>
            <a:ext cx="4138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日均≥3,000元 · 评价≥20条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10100" y="920651"/>
            <a:ext cx="4305300" cy="1870621"/>
          </a:xfrm>
          <a:prstGeom prst="roundRect">
            <a:avLst>
              <a:gd name="adj" fmla="val 3055"/>
            </a:avLst>
          </a:prstGeom>
          <a:solidFill>
            <a:srgbClr val="2A2A2A"/>
          </a:solidFill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33925" y="1025426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052566" y="1085404"/>
            <a:ext cx="8141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第2周 · 稳流量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33925" y="1528316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折扣回调至9折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33925" y="1690241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美团外卖上线（新店7天扶持）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33925" y="1852166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大众点评团购上架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33925" y="2014091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抖音团购上线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33925" y="2176016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储值试推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33925" y="2523679"/>
            <a:ext cx="40576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3925" y="2566541"/>
            <a:ext cx="4138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评价累计≥40条 · 外卖上线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28600" y="2867471"/>
            <a:ext cx="4305300" cy="1708696"/>
          </a:xfrm>
          <a:prstGeom prst="roundRect">
            <a:avLst>
              <a:gd name="adj" fmla="val 3345"/>
            </a:avLst>
          </a:prstGeom>
          <a:solidFill>
            <a:srgbClr val="2A2A2A"/>
          </a:solidFill>
          <a:ln w="9525">
            <a:solidFill>
              <a:srgbClr val="44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2425" y="2972246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1066" y="3032224"/>
            <a:ext cx="8141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第3周 · 建复购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352425" y="3475137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正式推出储值（充500送60）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2425" y="3637062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企微群常态运营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52425" y="3798987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复购券：满200减30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52425" y="3960912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储值智能弹窗上线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2425" y="4308574"/>
            <a:ext cx="40576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425" y="4351437"/>
            <a:ext cx="4138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会员≥100人 · 储值≥1.5万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10100" y="2867471"/>
            <a:ext cx="4305300" cy="1708696"/>
          </a:xfrm>
          <a:prstGeom prst="roundRect">
            <a:avLst>
              <a:gd name="adj" fmla="val 3345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33925" y="2972246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052566" y="3032224"/>
            <a:ext cx="8141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第4周 · 看数据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4733925" y="3475137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菜品TOP10 / 淘汰末5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33925" y="3637062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高低峰排班优化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33925" y="3798987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客单价分析 → 调套餐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33925" y="3960912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好差评改进 + 首月ROI复盘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33925" y="4308574"/>
            <a:ext cx="40576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3925" y="4351437"/>
            <a:ext cx="41388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日均≥4,000元 · 翻台≥1.5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会员体系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三级会员 · 等级 / 权益 / 成长路径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125438"/>
            <a:ext cx="2825651" cy="1952476"/>
          </a:xfrm>
          <a:prstGeom prst="roundRect">
            <a:avLst>
              <a:gd name="adj" fmla="val 292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1139726"/>
            <a:ext cx="2825651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929" y="1268313"/>
            <a:ext cx="26489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🌶️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6929" y="1778794"/>
            <a:ext cx="2648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辣友 Lv1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929" y="2182564"/>
            <a:ext cx="2648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扫码自动注册（0门槛）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2900" y="2525464"/>
            <a:ext cx="2648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注册送酸梅汤1杯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2900" y="2677864"/>
            <a:ext cx="2648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积分1倍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2900" y="2830264"/>
            <a:ext cx="2648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生日送甜品1份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49501" y="973038"/>
            <a:ext cx="2825800" cy="2257276"/>
          </a:xfrm>
          <a:prstGeom prst="roundRect">
            <a:avLst>
              <a:gd name="adj" fmla="val 253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149501" y="987326"/>
            <a:ext cx="2825800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7829" y="1115913"/>
            <a:ext cx="26491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37829" y="1626394"/>
            <a:ext cx="26491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火友 Lv2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37829" y="2030164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消费满500元 或 5次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63801" y="2373064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9.5折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63801" y="2525464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每次到店送小菜（~¥8）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63801" y="2677864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积分1.5倍 · 储值额外+5%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63801" y="2830264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生日锅底免费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63801" y="2982664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新品试吃资格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70550" y="901601"/>
            <a:ext cx="2844850" cy="2400151"/>
          </a:xfrm>
          <a:prstGeom prst="roundRect">
            <a:avLst>
              <a:gd name="adj" fmla="val 2381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68403" y="1025426"/>
            <a:ext cx="26491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68403" y="1535906"/>
            <a:ext cx="26491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锅王 Lv3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8403" y="19396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消费满2,000元 或 15次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94375" y="22825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9折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94375" y="24349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每次到店送荤菜（~¥28）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94375" y="25873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积分2倍 · 储值额外+10%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94375" y="27397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优先安排桌台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94375" y="28921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生日月免单1次（限¥300）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94375" y="3044577"/>
            <a:ext cx="2649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周年庆VIP晚宴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28600" y="3397002"/>
            <a:ext cx="4295775" cy="904726"/>
          </a:xfrm>
          <a:prstGeom prst="roundRect">
            <a:avLst>
              <a:gd name="adj" fmla="val 5264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900" y="3473202"/>
            <a:ext cx="4148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入会方式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42900" y="3800773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主入口：扫桌上万能码 → 手机号一键授权 → 自动注册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2900" y="4105573"/>
            <a:ext cx="4148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话术："扫码点餐就自动成为会员，新会员送酸梅汤一份哦~"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619625" y="3397002"/>
            <a:ext cx="4295775" cy="904726"/>
          </a:xfrm>
          <a:prstGeom prst="roundRect">
            <a:avLst>
              <a:gd name="adj" fmla="val 5264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33925" y="3473202"/>
            <a:ext cx="41485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积分商城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733925" y="3800773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1000分=酸梅汤 · 2000分=毛肚 · 5000分=锅底免费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33925" y="4105573"/>
            <a:ext cx="4148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首月会员目标：300-500人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286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38125"/>
            <a:ext cx="8549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储值方案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81125" y="274141"/>
            <a:ext cx="212997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4档储值 + 智能弹窗 · 首月目标1.8-3万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647700"/>
            <a:ext cx="2124075" cy="971401"/>
          </a:xfrm>
          <a:prstGeom prst="roundRect">
            <a:avLst>
              <a:gd name="adj" fmla="val 49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661988"/>
            <a:ext cx="2124075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800" y="742950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入门档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04800" y="1034355"/>
            <a:ext cx="201110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充300送30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04800" y="1432471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让利10% · 锁2-3次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409825" y="652463"/>
            <a:ext cx="2143125" cy="961876"/>
          </a:xfrm>
          <a:prstGeom prst="roundRect">
            <a:avLst>
              <a:gd name="adj" fmla="val 4951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95550" y="728663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主推档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495550" y="1020068"/>
            <a:ext cx="201110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充500送60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2495550" y="1418183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让利12% · 锁4-5次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10100" y="647700"/>
            <a:ext cx="2124075" cy="971401"/>
          </a:xfrm>
          <a:prstGeom prst="roundRect">
            <a:avLst>
              <a:gd name="adj" fmla="val 49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10100" y="661988"/>
            <a:ext cx="2124075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6300" y="742950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尊享档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034355"/>
            <a:ext cx="201110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充1000送150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4686300" y="1432471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让利15% · 锁8-10次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791325" y="647700"/>
            <a:ext cx="2124075" cy="971401"/>
          </a:xfrm>
          <a:prstGeom prst="roundRect">
            <a:avLst>
              <a:gd name="adj" fmla="val 49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91325" y="661988"/>
            <a:ext cx="2124075" cy="0"/>
          </a:xfrm>
          <a:prstGeom prst="line">
            <a:avLst/>
          </a:prstGeom>
          <a:noFill/>
          <a:ln w="28575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525" y="742950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锅王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867525" y="1034355"/>
            <a:ext cx="201110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2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充2000送400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6867525" y="1432471"/>
            <a:ext cx="20111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让利20% · 锁15-20次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28600" y="1676251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智能储值弹窗触发规则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28600" y="1860947"/>
            <a:ext cx="8686800" cy="249436"/>
          </a:xfrm>
          <a:prstGeom prst="roundRect">
            <a:avLst>
              <a:gd name="adj" fmla="val 114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4800" y="1899047"/>
            <a:ext cx="2331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85800" y="1918990"/>
            <a:ext cx="2441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结账时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32100" y="1925687"/>
            <a:ext cx="48837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"充500送60，相当于本次打8.8折！"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8159115" y="1925687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每次结账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228600" y="2129433"/>
            <a:ext cx="8686800" cy="249436"/>
          </a:xfrm>
          <a:prstGeom prst="roundRect">
            <a:avLst>
              <a:gd name="adj" fmla="val 114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4800" y="2167533"/>
            <a:ext cx="2331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85800" y="2187476"/>
            <a:ext cx="2441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消费≥3次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32100" y="2194173"/>
            <a:ext cx="48837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"老朋友充1000送150，每次都省更多"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8159115" y="2194173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累计触发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228600" y="2397919"/>
            <a:ext cx="8686800" cy="249436"/>
          </a:xfrm>
          <a:prstGeom prst="roundRect">
            <a:avLst>
              <a:gd name="adj" fmla="val 1145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04800" y="2436019"/>
            <a:ext cx="2331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85800" y="2455962"/>
            <a:ext cx="2441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单桌≥300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32100" y="2462659"/>
            <a:ext cx="48837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"充500覆盖本次+下次，还多送¥60！"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8159115" y="2462659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高消费桌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228600" y="2666405"/>
            <a:ext cx="8686800" cy="249436"/>
          </a:xfrm>
          <a:prstGeom prst="roundRect">
            <a:avLst>
              <a:gd name="adj" fmla="val 11456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04800" y="2704505"/>
            <a:ext cx="2331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🎂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685800" y="2724448"/>
            <a:ext cx="2441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生日月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32100" y="2731145"/>
            <a:ext cx="48837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"生日快乐！充值享双倍赠送"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8159115" y="2731145"/>
            <a:ext cx="680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当月触发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228600" y="2972991"/>
            <a:ext cx="8686800" cy="182761"/>
          </a:xfrm>
          <a:prstGeom prst="roundRect">
            <a:avLst>
              <a:gd name="adj" fmla="val 2084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23850" y="3011091"/>
            <a:ext cx="86662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开业首2周充值额外送锅底券 · 杭州火锅储值转化率约8-12%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团购套餐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4款套餐方案 · 引流+利润双引擎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920651"/>
            <a:ext cx="2109788" cy="2584549"/>
          </a:xfrm>
          <a:prstGeom prst="roundRect">
            <a:avLst>
              <a:gd name="adj" fmla="val 270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934938"/>
            <a:ext cx="2109788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3850" y="1044476"/>
            <a:ext cx="1957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单人小火锅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3850" y="1349276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午市引流款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3850" y="1678781"/>
            <a:ext cx="19576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¥58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3850" y="2261592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原价¥82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323850" y="2595860"/>
            <a:ext cx="1919288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850" y="2657773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小锅底（番茄/菌汤二选一）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23850" y="2787253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肥牛1份 + 素菜拼盘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23850" y="2916734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米饭 + 酸梅汤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23850" y="3246239"/>
            <a:ext cx="1919288" cy="163711"/>
          </a:xfrm>
          <a:prstGeom prst="roundRect">
            <a:avLst>
              <a:gd name="adj" fmla="val 1745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1000" y="3274814"/>
            <a:ext cx="18410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7.1折 · 毛利25-30%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414588" y="925413"/>
            <a:ext cx="2128838" cy="2575024"/>
          </a:xfrm>
          <a:prstGeom prst="roundRect">
            <a:avLst>
              <a:gd name="adj" fmla="val 2685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19363" y="1030188"/>
            <a:ext cx="1957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🥩 2人餐 ⭐主推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19363" y="1334988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主力引流款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519363" y="1664494"/>
            <a:ext cx="19576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¥168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519363" y="2247305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原价¥223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2519363" y="2581573"/>
            <a:ext cx="1919288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9363" y="2643485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鸳鸯锅底 + 鲜切牛肉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519363" y="2772966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毛肚 + 肥牛卷 + 虾滑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519363" y="2902446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藕片 + 金针菇 + 酸梅汤×2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519363" y="3231952"/>
            <a:ext cx="1919288" cy="163711"/>
          </a:xfrm>
          <a:prstGeom prst="roundRect">
            <a:avLst>
              <a:gd name="adj" fmla="val 1745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76513" y="3260527"/>
            <a:ext cx="18410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7.5折 · 毛利35-40%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19625" y="920651"/>
            <a:ext cx="2109788" cy="2584549"/>
          </a:xfrm>
          <a:prstGeom prst="roundRect">
            <a:avLst>
              <a:gd name="adj" fmla="val 270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19625" y="934938"/>
            <a:ext cx="2109788" cy="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4875" y="1044476"/>
            <a:ext cx="1957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🍲 3-4人餐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14875" y="1349276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利润套餐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714875" y="1678781"/>
            <a:ext cx="19576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¥268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4714875" y="2261592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原价¥355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4714875" y="2595860"/>
            <a:ext cx="1919288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4875" y="2657773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鸳鸯锅 + 鲜切牛肉 + 毛肚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714875" y="2787253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鸭肠 + 嫩牛肉 + 肥牛卷 + 虾滑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714875" y="2916734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+ 4素 + 粉 + 酸梅汤壶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714875" y="3246239"/>
            <a:ext cx="1919288" cy="163711"/>
          </a:xfrm>
          <a:prstGeom prst="roundRect">
            <a:avLst>
              <a:gd name="adj" fmla="val 1745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72025" y="3274814"/>
            <a:ext cx="18410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7.5折 · 毛利45-50%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05613" y="920651"/>
            <a:ext cx="2109788" cy="2584549"/>
          </a:xfrm>
          <a:prstGeom prst="roundRect">
            <a:avLst>
              <a:gd name="adj" fmla="val 2709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805613" y="934938"/>
            <a:ext cx="2109788" cy="0"/>
          </a:xfrm>
          <a:prstGeom prst="line">
            <a:avLst/>
          </a:prstGeom>
          <a:noFill/>
          <a:ln w="28575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0863" y="1044476"/>
            <a:ext cx="1957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👨‍👩‍👧‍👦 6人豪华餐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00863" y="1349276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大桌利润款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6900863" y="1678781"/>
            <a:ext cx="19576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¥458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6900863" y="2261592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原价¥608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6900863" y="2595860"/>
            <a:ext cx="1919288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0863" y="2657773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鸳鸯锅 + 全荤菜×2份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6900863" y="2787253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素菜拼盘×2 + 主食拼盘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900863" y="2916734"/>
            <a:ext cx="19576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酸梅汤壶×2 + 冰粉×6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900863" y="3246239"/>
            <a:ext cx="1919288" cy="163711"/>
          </a:xfrm>
          <a:prstGeom prst="roundRect">
            <a:avLst>
              <a:gd name="adj" fmla="val 1745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958013" y="3274814"/>
            <a:ext cx="184108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7.5折 · 毛利45-50%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228600" y="3581400"/>
            <a:ext cx="8686800" cy="285750"/>
          </a:xfrm>
          <a:prstGeom prst="roundRect">
            <a:avLst>
              <a:gd name="adj" fmla="val 166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42900" y="3657600"/>
            <a:ext cx="8627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定价策略：引流款不赚钱（带来点评曝光+评价量），利润靠3-4人和6人大桌套餐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外卖策划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外卖品类 + 上线节奏 + 满减设计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571923"/>
            <a:ext cx="437197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 外卖品类（火锅衍生品切入）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918543"/>
            <a:ext cx="4286250" cy="502890"/>
          </a:xfrm>
          <a:prstGeom prst="roundRect">
            <a:avLst>
              <a:gd name="adj" fmla="val 9470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2888" y="1918543"/>
            <a:ext cx="0" cy="50289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425" y="2013793"/>
            <a:ext cx="41485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冒菜 / 麻辣烫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425" y="2192834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客单¥28-38 · 火锅底料复用，低成本高毛利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2469059"/>
            <a:ext cx="4286250" cy="502890"/>
          </a:xfrm>
          <a:prstGeom prst="roundRect">
            <a:avLst>
              <a:gd name="adj" fmla="val 947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2888" y="2469059"/>
            <a:ext cx="0" cy="50289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425" y="2564309"/>
            <a:ext cx="41485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火锅下饭菜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425" y="2743349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毛血旺/水煮肉片/麻辣香锅 · 客单¥25-35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8600" y="3019574"/>
            <a:ext cx="4286250" cy="502890"/>
          </a:xfrm>
          <a:prstGeom prst="roundRect">
            <a:avLst>
              <a:gd name="adj" fmla="val 947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42888" y="3019574"/>
            <a:ext cx="0" cy="50289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425" y="3114824"/>
            <a:ext cx="41485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火锅套餐外送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425" y="3293864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2人锅底+菜品+炉具 · 客单¥128-168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" y="3570089"/>
            <a:ext cx="4286250" cy="502890"/>
          </a:xfrm>
          <a:prstGeom prst="roundRect">
            <a:avLst>
              <a:gd name="adj" fmla="val 947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2888" y="3570089"/>
            <a:ext cx="0" cy="50289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425" y="3665339"/>
            <a:ext cx="41485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小吃甜品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425" y="3844379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冰粉/红糖糍粑/酸梅汤 · ¥8-15 · 凑单品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29150" y="741611"/>
            <a:ext cx="437197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上线节奏（不急，稳扎稳打）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9150" y="108823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7461" y="1314004"/>
            <a:ext cx="1748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276850" y="1159669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不急上线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276850" y="1468189"/>
            <a:ext cx="37113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专注堂食，稳定出品和服务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29150" y="1707356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3021" y="1933129"/>
            <a:ext cx="2236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第2月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276850" y="1778794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测试上线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276850" y="2087314"/>
            <a:ext cx="37113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冒菜+下饭菜20个SKU，测出餐效率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29150" y="2326481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3021" y="2552254"/>
            <a:ext cx="2236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第3月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276850" y="2397919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正式运营 · 日均15单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276850" y="2706439"/>
            <a:ext cx="37113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完善菜单，上满减活动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629150" y="2945606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7518" y="3171379"/>
            <a:ext cx="2746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第4月+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276850" y="3017044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日均30单+ · 占比15-20%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5276850" y="3325564"/>
            <a:ext cx="37113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稳定期，持续优化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629150" y="3783806"/>
            <a:ext cx="437197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满减设计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29150" y="4120902"/>
            <a:ext cx="4286250" cy="241846"/>
          </a:xfrm>
          <a:prstGeom prst="roundRect">
            <a:avLst>
              <a:gd name="adj" fmla="val 1181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05350" y="4168527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满25减5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8458200" y="4175075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单人午餐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29150" y="4391323"/>
            <a:ext cx="4286250" cy="241846"/>
          </a:xfrm>
          <a:prstGeom prst="roundRect">
            <a:avLst>
              <a:gd name="adj" fmla="val 11815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05350" y="443894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满50减8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8458200" y="444549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双人点餐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29150" y="4661743"/>
            <a:ext cx="4286250" cy="241846"/>
          </a:xfrm>
          <a:prstGeom prst="roundRect">
            <a:avLst>
              <a:gd name="adj" fmla="val 11815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05350" y="470936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满100减15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8458200" y="471591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火锅套餐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大众点评运营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300"/>
              </a:spcBef>
              <a:buNone/>
            </a:pPr>
            <a:r>
              <a:rPr lang="en-US" sz="11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新店90天黄金期 + 评价管理SOP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28600" y="1461492"/>
            <a:ext cx="437197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90天攻略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08113"/>
            <a:ext cx="4286250" cy="807690"/>
          </a:xfrm>
          <a:prstGeom prst="roundRect">
            <a:avLst>
              <a:gd name="adj" fmla="val 5896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2888" y="1808113"/>
            <a:ext cx="0" cy="80769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425" y="1903363"/>
            <a:ext cx="11531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第1-30天 · 流量扶持期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01393" y="1916609"/>
            <a:ext cx="426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目标3.5星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2425" y="2101453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积累50+评价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2425" y="2244328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团购引流 + 好评引导 + 达人探店1-2次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425" y="2387203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霸王餐10份 + 推广通开通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" y="2663428"/>
            <a:ext cx="4286250" cy="807690"/>
          </a:xfrm>
          <a:prstGeom prst="roundRect">
            <a:avLst>
              <a:gd name="adj" fmla="val 5896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2888" y="2663428"/>
            <a:ext cx="0" cy="807690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425" y="2758678"/>
            <a:ext cx="9847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第31-60天 · 爬坡期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01393" y="2771924"/>
            <a:ext cx="426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目标4.0星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2425" y="2956768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100+评价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2425" y="3099643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持续团购 + 精选评价置顶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2425" y="3242518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差评48h响应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600" y="3518743"/>
            <a:ext cx="4286250" cy="664815"/>
          </a:xfrm>
          <a:prstGeom prst="roundRect">
            <a:avLst>
              <a:gd name="adj" fmla="val 7164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42888" y="3518743"/>
            <a:ext cx="0" cy="664815"/>
          </a:xfrm>
          <a:prstGeom prst="line">
            <a:avLst/>
          </a:prstGeom>
          <a:noFill/>
          <a:ln w="28575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425" y="3613993"/>
            <a:ext cx="9847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第61-90天 · 稳定期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01393" y="3627239"/>
            <a:ext cx="426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目标4.2星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52425" y="3812084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150+评价 · 减少折扣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52425" y="3954959"/>
            <a:ext cx="4148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靠口碑自然增长 · 月均15-20条新评价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29150" y="1181546"/>
            <a:ext cx="437197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评价管理SOP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29150" y="1528167"/>
            <a:ext cx="4286250" cy="599926"/>
          </a:xfrm>
          <a:prstGeom prst="roundRect">
            <a:avLst>
              <a:gd name="adj" fmla="val 793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4400" y="1604367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好评引导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24400" y="1779538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结账送小冰粉，引导"拍照发点评可再送酸梅汤"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24400" y="1931938"/>
            <a:ext cx="4177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成本约¥3/桌 · 引导50字+3张图触发"精选"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29150" y="2175718"/>
            <a:ext cx="4286250" cy="746671"/>
          </a:xfrm>
          <a:prstGeom prst="roundRect">
            <a:avLst>
              <a:gd name="adj" fmla="val 6378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24400" y="2251918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差评处理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724400" y="2427089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24h内私信致歉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24400" y="2569964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承诺下次到店赠菜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24400" y="2712839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内部复盘问题根因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29150" y="2970014"/>
            <a:ext cx="4286250" cy="460921"/>
          </a:xfrm>
          <a:prstGeom prst="roundRect">
            <a:avLst>
              <a:gd name="adj" fmla="val 1033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24400" y="3046214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恶意差评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724400" y="3221385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截图申诉 + 平台投诉，保留证据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29150" y="3678585"/>
            <a:ext cx="437197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关键词优化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29150" y="4015680"/>
            <a:ext cx="4286250" cy="447675"/>
          </a:xfrm>
          <a:prstGeom prst="roundRect">
            <a:avLst>
              <a:gd name="adj" fmla="val 8511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24400" y="4091880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标题/描述植入搜索词：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24400" y="4253805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"杭州下沙火锅" · "龙湖天街火锅" · "下沙好吃的火锅" · "钱塘区火锅推荐"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286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38125"/>
            <a:ext cx="12824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全年营销日历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800225" y="274141"/>
            <a:ext cx="162810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 · 节奏清晰 · 预算可控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666750"/>
            <a:ext cx="1415951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676275"/>
            <a:ext cx="1415951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225" y="723900"/>
            <a:ext cx="13471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 🎆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76225" y="1005780"/>
            <a:ext cx="13471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开业庆+新年活动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76225" y="1274266"/>
            <a:ext cx="13471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¥5K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1682651" y="666750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682651" y="676275"/>
            <a:ext cx="14161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0276" y="723900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 ❤️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730276" y="1005780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情人节套餐¥214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730276" y="1274266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¥3K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3136850" y="666750"/>
            <a:ext cx="1415951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136850" y="676275"/>
            <a:ext cx="1415951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4475" y="723900"/>
            <a:ext cx="13471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 🌸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184475" y="1005780"/>
            <a:ext cx="13471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女神节送甜品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184475" y="1274266"/>
            <a:ext cx="13471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¥3K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590901" y="666750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90901" y="676275"/>
            <a:ext cx="141610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8526" y="723900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 🌱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38526" y="1005780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春季上新+尝鲜价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638526" y="1274266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¥2K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6045101" y="666750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45101" y="676275"/>
            <a:ext cx="141610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2726" y="723900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 🌺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092726" y="1005780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五一+母亲节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092726" y="1274266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¥3K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7499300" y="666750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499300" y="676275"/>
            <a:ext cx="141610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6925" y="723900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 👨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7546925" y="1005780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父亲节+618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7546925" y="1274266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¥2K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228600" y="1453307"/>
            <a:ext cx="1415951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28600" y="1462832"/>
            <a:ext cx="1415951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225" y="1510457"/>
            <a:ext cx="13471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 🍺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276225" y="1792337"/>
            <a:ext cx="13471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啤酒节+冰汤底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76225" y="2060823"/>
            <a:ext cx="13471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¥5K⚠️</a:t>
            </a:r>
            <a:endParaRPr lang="en-US" sz="525" dirty="0"/>
          </a:p>
        </p:txBody>
      </p:sp>
      <p:sp>
        <p:nvSpPr>
          <p:cNvPr id="40" name="Text 38"/>
          <p:cNvSpPr/>
          <p:nvPr/>
        </p:nvSpPr>
        <p:spPr>
          <a:xfrm>
            <a:off x="1682651" y="1453307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682651" y="1462832"/>
            <a:ext cx="1416100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0276" y="1510457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 🎓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1730276" y="1792337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开学季+学生折扣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730276" y="2060823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¥5K⚠️</a:t>
            </a:r>
            <a:endParaRPr lang="en-US" sz="525" dirty="0"/>
          </a:p>
        </p:txBody>
      </p:sp>
      <p:sp>
        <p:nvSpPr>
          <p:cNvPr id="45" name="Text 43"/>
          <p:cNvSpPr/>
          <p:nvPr/>
        </p:nvSpPr>
        <p:spPr>
          <a:xfrm>
            <a:off x="3136850" y="1453307"/>
            <a:ext cx="1415951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136850" y="1462832"/>
            <a:ext cx="1415951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4475" y="1510457"/>
            <a:ext cx="13471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9月 🌙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3184475" y="1792337"/>
            <a:ext cx="13471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中秋团圆锅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184475" y="2060823"/>
            <a:ext cx="13471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¥3K</a:t>
            </a:r>
            <a:endParaRPr lang="en-US" sz="525" dirty="0"/>
          </a:p>
        </p:txBody>
      </p:sp>
      <p:sp>
        <p:nvSpPr>
          <p:cNvPr id="50" name="Text 48"/>
          <p:cNvSpPr/>
          <p:nvPr/>
        </p:nvSpPr>
        <p:spPr>
          <a:xfrm>
            <a:off x="4590901" y="1453307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590901" y="1462832"/>
            <a:ext cx="14161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38526" y="1510457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10月 🇨🇳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4638526" y="1792337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国庆+会员日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38526" y="2060823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¥5K</a:t>
            </a:r>
            <a:endParaRPr lang="en-US" sz="525" dirty="0"/>
          </a:p>
        </p:txBody>
      </p:sp>
      <p:sp>
        <p:nvSpPr>
          <p:cNvPr id="55" name="Text 53"/>
          <p:cNvSpPr/>
          <p:nvPr/>
        </p:nvSpPr>
        <p:spPr>
          <a:xfrm>
            <a:off x="6045101" y="1453307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045101" y="1462832"/>
            <a:ext cx="14161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2726" y="1510457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 🛒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092726" y="1792337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双11储值大促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6092726" y="2060823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¥4K</a:t>
            </a:r>
            <a:endParaRPr lang="en-US" sz="525" dirty="0"/>
          </a:p>
        </p:txBody>
      </p:sp>
      <p:sp>
        <p:nvSpPr>
          <p:cNvPr id="60" name="Text 58"/>
          <p:cNvSpPr/>
          <p:nvPr/>
        </p:nvSpPr>
        <p:spPr>
          <a:xfrm>
            <a:off x="7499300" y="1453307"/>
            <a:ext cx="1416100" cy="738932"/>
          </a:xfrm>
          <a:prstGeom prst="roundRect">
            <a:avLst>
              <a:gd name="adj" fmla="val 3867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7499300" y="1462832"/>
            <a:ext cx="14161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6925" y="1510457"/>
            <a:ext cx="13472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 🎄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7546925" y="1792337"/>
            <a:ext cx="134726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跨年锅+年终答谢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546925" y="2060823"/>
            <a:ext cx="134726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¥5K</a:t>
            </a:r>
            <a:endParaRPr lang="en-US" sz="525" dirty="0"/>
          </a:p>
        </p:txBody>
      </p:sp>
      <p:sp>
        <p:nvSpPr>
          <p:cNvPr id="65" name="Text 63"/>
          <p:cNvSpPr/>
          <p:nvPr/>
        </p:nvSpPr>
        <p:spPr>
          <a:xfrm>
            <a:off x="228600" y="2268438"/>
            <a:ext cx="2844701" cy="729555"/>
          </a:xfrm>
          <a:prstGeom prst="roundRect">
            <a:avLst>
              <a:gd name="adj" fmla="val 652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393775" y="2354163"/>
            <a:ext cx="5246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全年营销预算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1423243" y="2645569"/>
            <a:ext cx="464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4.5万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3149501" y="2268438"/>
            <a:ext cx="2844850" cy="729555"/>
          </a:xfrm>
          <a:prstGeom prst="roundRect">
            <a:avLst>
              <a:gd name="adj" fmla="val 652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400401" y="235416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月均投入</a:t>
            </a:r>
            <a:endParaRPr lang="en-US" sz="675" dirty="0"/>
          </a:p>
        </p:txBody>
      </p:sp>
      <p:sp>
        <p:nvSpPr>
          <p:cNvPr id="70" name="Text 68"/>
          <p:cNvSpPr/>
          <p:nvPr/>
        </p:nvSpPr>
        <p:spPr>
          <a:xfrm>
            <a:off x="4238179" y="2645569"/>
            <a:ext cx="6806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3,750元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070550" y="2268438"/>
            <a:ext cx="2844850" cy="729555"/>
          </a:xfrm>
          <a:prstGeom prst="roundRect">
            <a:avLst>
              <a:gd name="adj" fmla="val 652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321451" y="2354163"/>
            <a:ext cx="349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占营收比</a:t>
            </a:r>
            <a:endParaRPr lang="en-US" sz="675" dirty="0"/>
          </a:p>
        </p:txBody>
      </p:sp>
      <p:sp>
        <p:nvSpPr>
          <p:cNvPr id="73" name="Text 71"/>
          <p:cNvSpPr/>
          <p:nvPr/>
        </p:nvSpPr>
        <p:spPr>
          <a:xfrm>
            <a:off x="7275761" y="2645569"/>
            <a:ext cx="44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228600" y="3055144"/>
            <a:ext cx="8686800" cy="215205"/>
          </a:xfrm>
          <a:prstGeom prst="roundRect">
            <a:avLst>
              <a:gd name="adj" fmla="val 1770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23850" y="3102769"/>
            <a:ext cx="86662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淡季(7-8月)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加大投入保客流 · 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旺季(10-1月)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重转化提利润 · 每月活动至少1场</a:t>
            </a:r>
            <a:endParaRPr lang="en-US" sz="6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286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38125"/>
            <a:ext cx="8549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峰终体验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81125" y="274141"/>
            <a:ext cx="15895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buNone/>
            </a:pPr>
            <a:r>
              <a:rPr lang="en-US" sz="975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3峰值 + 终值 · 花小钱办大事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28600" y="666750"/>
            <a:ext cx="2844701" cy="1809601"/>
          </a:xfrm>
          <a:prstGeom prst="roundRect">
            <a:avLst>
              <a:gd name="adj" fmla="val 315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7023" y="771525"/>
            <a:ext cx="26878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7023" y="1282005"/>
            <a:ext cx="26878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峰值1 · 锅底上桌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7023" y="1632496"/>
            <a:ext cx="2687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牛油现场浇油点火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7023" y="1927771"/>
            <a:ext cx="2687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火焰+香气+全场注目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7023" y="2251621"/>
            <a:ext cx="26878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成本：¥0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149501" y="666750"/>
            <a:ext cx="2844850" cy="1809601"/>
          </a:xfrm>
          <a:prstGeom prst="roundRect">
            <a:avLst>
              <a:gd name="adj" fmla="val 315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27923" y="771525"/>
            <a:ext cx="26880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27923" y="1282005"/>
            <a:ext cx="26880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峰值2 · 招牌菜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923" y="1632496"/>
            <a:ext cx="2688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鲜切牛肉+干冰烟雾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27923" y="1927771"/>
            <a:ext cx="2688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"8秒嫩滑 / 15秒弹牙"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27923" y="2251621"/>
            <a:ext cx="26880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成本：¥1-2/桌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070550" y="666750"/>
            <a:ext cx="2844850" cy="1809601"/>
          </a:xfrm>
          <a:prstGeom prst="roundRect">
            <a:avLst>
              <a:gd name="adj" fmla="val 3158"/>
            </a:avLst>
          </a:prstGeom>
          <a:solidFill>
            <a:srgbClr val="8B1A1A"/>
          </a:solidFill>
          <a:ln w="9525">
            <a:solidFill>
              <a:srgbClr val="D4A01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48972" y="771525"/>
            <a:ext cx="26880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48972" y="1282005"/>
            <a:ext cx="26880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峰值3 · 生日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48972" y="1632496"/>
            <a:ext cx="2688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灯光暗场+全场齐喊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48972" y="1927771"/>
            <a:ext cx="2688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长寿面+拍立得合影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48972" y="2251621"/>
            <a:ext cx="26880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成本：¥5/桌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28600" y="2552551"/>
            <a:ext cx="88605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终值设计 · 离店最后印象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" y="2769691"/>
            <a:ext cx="2857500" cy="1276052"/>
          </a:xfrm>
          <a:prstGeom prst="roundRect">
            <a:avLst>
              <a:gd name="adj" fmla="val 373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50343" y="2845891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66850" y="326677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结账惊喜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51578" y="3571577"/>
            <a:ext cx="8113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弹出暗号 下次送小菜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1566267" y="3862983"/>
            <a:ext cx="18580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¥3/桌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143250" y="2769691"/>
            <a:ext cx="2857500" cy="1276052"/>
          </a:xfrm>
          <a:prstGeom prst="roundRect">
            <a:avLst>
              <a:gd name="adj" fmla="val 373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64993" y="2845891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81500" y="326677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离店关怀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22242" y="3571577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送到门口推荐新品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529584" y="3862983"/>
            <a:ext cx="8652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57900" y="2769691"/>
            <a:ext cx="2857500" cy="1276052"/>
          </a:xfrm>
          <a:prstGeom prst="roundRect">
            <a:avLst>
              <a:gd name="adj" fmla="val 3732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79643" y="2845891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🍬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343775" y="3266777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薄荷糖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136892" y="3571577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出门自取去火锅味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7363718" y="3862983"/>
            <a:ext cx="2506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¥0.5/人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28600" y="4121944"/>
            <a:ext cx="8686800" cy="215205"/>
          </a:xfrm>
          <a:prstGeom prst="roundRect">
            <a:avLst>
              <a:gd name="adj" fmla="val 1770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23850" y="4169569"/>
            <a:ext cx="86662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峰终定律：顾客评价取决于"最高光时刻"和"最后离开时刻"，中间过程大脑自动模糊</a:t>
            </a:r>
            <a:endParaRPr lang="en-US" sz="6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关键指标看板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日报 × 周报 × 月报 · 数据驱动经营决策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1141512"/>
            <a:ext cx="2832050" cy="325636"/>
          </a:xfrm>
          <a:prstGeom prst="roundRect">
            <a:avLst>
              <a:gd name="adj" fmla="val 17550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6865" y="1217712"/>
            <a:ext cx="2655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日报（每日必看）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28600" y="1619548"/>
            <a:ext cx="2832050" cy="1571625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929110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850" y="1743373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72833" y="174337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91983" y="174337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红线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3850" y="2167235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850" y="1981498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营业额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72833" y="19814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≥¥4,500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91983" y="19814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&lt;¥3,500×3天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3850" y="2405360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850" y="2219623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桌数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72833" y="221962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≥14桌/天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91983" y="221962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&lt;10桌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3850" y="2643485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850" y="2457748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翻台率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72833" y="245774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≥1.6次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91983" y="245774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&lt;1.2次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3850" y="2881610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3850" y="2695873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客单价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72833" y="269587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¥85-100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91983" y="2695873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&lt;¥70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3850" y="2933998"/>
            <a:ext cx="1023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好评数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72833" y="29339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≥2条/天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291983" y="2933998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0条×3天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155900" y="1029146"/>
            <a:ext cx="2832199" cy="325636"/>
          </a:xfrm>
          <a:prstGeom prst="roundRect">
            <a:avLst>
              <a:gd name="adj" fmla="val 17550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244164" y="1105346"/>
            <a:ext cx="26556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周报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3155900" y="1507182"/>
            <a:ext cx="2832199" cy="1333500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51150" y="1816745"/>
            <a:ext cx="2641699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1150" y="16310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123230" y="1631007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51150" y="2054870"/>
            <a:ext cx="2641699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1150" y="1869132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新客占比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23230" y="186913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51150" y="2292995"/>
            <a:ext cx="2641699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1150" y="21072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23230" y="2107257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≥15%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51150" y="2531120"/>
            <a:ext cx="2641699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1150" y="2345382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储值金额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23230" y="234538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≥¥5,000/周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51150" y="258350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差评数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23230" y="2583507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≤2条/周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155900" y="3069282"/>
            <a:ext cx="2832199" cy="234255"/>
          </a:xfrm>
          <a:prstGeom prst="roundRect">
            <a:avLst>
              <a:gd name="adj" fmla="val 1626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232100" y="3126432"/>
            <a:ext cx="27333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新客占比开业期40-60%，稳定期降至30%正常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083350" y="910084"/>
            <a:ext cx="2832050" cy="325636"/>
          </a:xfrm>
          <a:prstGeom prst="roundRect">
            <a:avLst>
              <a:gd name="adj" fmla="val 17550"/>
            </a:avLst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71615" y="986284"/>
            <a:ext cx="2655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月报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6083350" y="1388120"/>
            <a:ext cx="2832050" cy="1571625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178600" y="1697682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8600" y="1511945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050530" y="151194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78600" y="1935807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8600" y="1750070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月营业额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050530" y="175007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≥¥12万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78600" y="2173932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8600" y="1988195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会员数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050530" y="198819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月增≥150人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178600" y="2412057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8600" y="2226320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储值余额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050530" y="222632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≥¥3万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178600" y="2650182"/>
            <a:ext cx="264155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8600" y="2464445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食材成本率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50530" y="2464445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≤40%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78600" y="2702570"/>
            <a:ext cx="17616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净利润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050530" y="270257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≥¥1万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083350" y="3188345"/>
            <a:ext cx="2832050" cy="234255"/>
          </a:xfrm>
          <a:prstGeom prst="roundRect">
            <a:avLst>
              <a:gd name="adj" fmla="val 16264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59550" y="3245495"/>
            <a:ext cx="27332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首3月可接受微利/持平，第4月起必须盈利</a:t>
            </a:r>
            <a:endParaRPr lang="en-US" sz="6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625" cy="266700"/>
          </a:xfrm>
          <a:prstGeom prst="roundRect">
            <a:avLst>
              <a:gd name="adj" fmla="val 40000"/>
            </a:avLst>
          </a:prstGeom>
          <a:solidFill>
            <a:srgbClr val="E539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1475" y="247650"/>
            <a:ext cx="169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风险预警 &amp; 对策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1475" y="533400"/>
            <a:ext cx="4362260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7大翻车场景 · 提前备好预案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891034"/>
            <a:ext cx="2844701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42888" y="891034"/>
            <a:ext cx="0" cy="984796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425" y="986284"/>
            <a:ext cx="26781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食材成本失控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2425" y="1336774"/>
            <a:ext cx="26781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预警：成本率连续2周&gt;42%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52425" y="1647230"/>
            <a:ext cx="2678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排查浪费损耗 → 优化菜单结构 → 下架低毛利菜品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49501" y="891034"/>
            <a:ext cx="2844850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63788" y="891034"/>
            <a:ext cx="0" cy="98479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326" y="986284"/>
            <a:ext cx="26782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翻台率过低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73326" y="1336774"/>
            <a:ext cx="26782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预警：连续1周&lt;1.5次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273326" y="1647230"/>
            <a:ext cx="2678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推午市套餐 → 2h用餐提醒 → 外卖分流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70550" y="891034"/>
            <a:ext cx="2844850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84838" y="891034"/>
            <a:ext cx="0" cy="984796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4375" y="986284"/>
            <a:ext cx="26782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差评风暴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94375" y="1336774"/>
            <a:ext cx="26782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预警：1周内≥5条差评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194375" y="1647230"/>
            <a:ext cx="2678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暂停引流 → 全员培训 → 逐条回复 → 问题菜下架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600" y="1952030"/>
            <a:ext cx="4305300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42888" y="1952030"/>
            <a:ext cx="0" cy="98479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425" y="2047280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夏季淡季（7-8月）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425" y="2397770"/>
            <a:ext cx="4167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预警：营收下降30%+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52425" y="2708225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冰汤锅底 + 啤酒套餐 + 空调冰饮强化 + 学生折扣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10100" y="1952030"/>
            <a:ext cx="4305300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24388" y="1952030"/>
            <a:ext cx="0" cy="98479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3925" y="2047280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竞品开业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3925" y="2397770"/>
            <a:ext cx="4167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预警：500m内新开火锅店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33925" y="2708225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加大会员权益 + 储值优惠 + 差异化锅底食材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28600" y="3013025"/>
            <a:ext cx="4305300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42888" y="3013025"/>
            <a:ext cx="0" cy="984796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425" y="3108275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月连续亏损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425" y="3458766"/>
            <a:ext cx="4167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预警：连续2月净亏损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52425" y="3769221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全面成本审计 → 砍非必要支出 → 考虑调整定位/菜单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10100" y="3013025"/>
            <a:ext cx="4305300" cy="984796"/>
          </a:xfrm>
          <a:prstGeom prst="roundRect">
            <a:avLst>
              <a:gd name="adj" fmla="val 5803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24388" y="3013025"/>
            <a:ext cx="0" cy="98479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3925" y="3108275"/>
            <a:ext cx="4167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人员流失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33925" y="3458766"/>
            <a:ext cx="4167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预警：核心员工离职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733925" y="3769221"/>
            <a:ext cx="4167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储备AB角机制 → 关键岗位交叉培训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28600" y="4074021"/>
            <a:ext cx="8686800" cy="843558"/>
          </a:xfrm>
          <a:prstGeom prst="roundRect">
            <a:avLst>
              <a:gd name="adj" fmla="val 5646"/>
            </a:avLst>
          </a:prstGeom>
          <a:solidFill>
            <a:srgbClr val="8B1A1A"/>
          </a:solidFill>
          <a:ln w="9525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263801" y="4140696"/>
            <a:ext cx="3172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红线1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058418" y="4409182"/>
            <a:ext cx="7361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"/>
              </a:spcBef>
              <a:buNone/>
            </a:pPr>
            <a:r>
              <a:rPr lang="en-US" sz="9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租售比 ≤15%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3034010" y="4744343"/>
            <a:ext cx="78604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当前25.7% 须谈扣点制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440882" y="4140696"/>
            <a:ext cx="3172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红线2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231928" y="4409182"/>
            <a:ext cx="743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"/>
              </a:spcBef>
              <a:buNone/>
            </a:pPr>
            <a:r>
              <a:rPr lang="en-US" sz="9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 ≥¥5,343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4195167" y="4744343"/>
            <a:ext cx="8185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保本线（9桌×翻台2.2）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593407" y="4140696"/>
            <a:ext cx="3172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红线3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388173" y="4409182"/>
            <a:ext cx="7361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75"/>
              </a:spcBef>
              <a:buNone/>
            </a:pPr>
            <a:r>
              <a:rPr lang="en-US" sz="975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食材率 ≤40%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5482233" y="4744343"/>
            <a:ext cx="54422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超42%立即排查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0" y="415528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60600" y="910828"/>
            <a:ext cx="2422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60256" y="1520428"/>
            <a:ext cx="26234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李记火锅 · 从0到1，我们全程陪跑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91000" y="2217539"/>
            <a:ext cx="762000" cy="19050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83198" y="2693789"/>
            <a:ext cx="1813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本方案由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大橘🍊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智能生成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0979" y="2956620"/>
            <a:ext cx="1613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美团餐饮SaaS · 陈国庆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87812" y="3219450"/>
            <a:ext cx="18035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开店筹备 × 运营落地 × 数据驱动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770287" y="3849886"/>
            <a:ext cx="3603427" cy="350490"/>
          </a:xfrm>
          <a:prstGeom prst="roundRect">
            <a:avLst>
              <a:gd name="adj" fmla="val 21741"/>
            </a:avLst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67424" y="3945136"/>
            <a:ext cx="32091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方案仅为策划参考，实际经营需结合门店真实数据持续优化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16513" y="4581376"/>
            <a:ext cx="510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800"/>
              </a:spcBef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李记火锅 · 从0到1全案策划</dc:title>
  <dc:subject>PptxGenJS Presentation</dc:subject>
  <dc:creator>大橘🍊 × 美团餐饮SaaS</dc:creator>
  <cp:lastModifiedBy>大橘🍊 × 美团餐饮SaaS</cp:lastModifiedBy>
  <cp:revision>1</cp:revision>
  <dcterms:created xsi:type="dcterms:W3CDTF">2026-04-23T11:21:29Z</dcterms:created>
  <dcterms:modified xsi:type="dcterms:W3CDTF">2026-04-23T11:21:29Z</dcterms:modified>
</cp:coreProperties>
</file>