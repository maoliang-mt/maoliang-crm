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343275"/>
            <a:ext cx="9144000" cy="1800225"/>
          </a:xfrm>
          <a:prstGeom prst="roundRect">
            <a:avLst/>
          </a:prstGeom>
          <a:solidFill>
            <a:srgbClr val="125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25830"/>
            <a:ext cx="8229600" cy="7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元气面馆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54530"/>
            <a:ext cx="8229600" cy="5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1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开业数字化经营解决方案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74620"/>
            <a:ext cx="8229600" cy="4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4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美团收银 × 会员旗舰版 × 扫码点餐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📍 杭州萧山·钱江世纪城 | 盈丰街道拾久街与平澜路交叉口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1767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1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品牌理解：20元面食快餐的机遇与挑战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钱江世纪城写字楼刚需快餐 × 新店冷启动阶段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3886200" cy="41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200" y="780000"/>
            <a:ext cx="3786200" cy="409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⚠️ 核心痛点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🔴 线上隐身：30天曝光189人→访问8人→消费0人，点评无评分无评价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🔴 转化断裂：曝光→访问4.23%（低），访问→消费0%——页面无套餐/无图片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🔴 流量工具零：商户通+推广通均未开通，无基础装修权限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🔴 价格夹击：上有陈香贵¥28品牌压制，下有沙县¥15极致性价比截流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🔴 客流不确定：钱江世纪城部分楼宇入驻率仍在爬坡，午间密度存疑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750000"/>
            <a:ext cx="3886200" cy="41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0600" y="780000"/>
            <a:ext cx="3786200" cy="409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0D9453"/>
                </a:solidFill>
                <a:latin typeface="Microsoft YaHei"/>
                <a:ea typeface="Microsoft YaHei"/>
                <a:cs typeface="Microsoft YaHei"/>
              </a:rPr>
              <a:t>🔥 赛道机遇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品类刚需：面食赛道3,257亿，粉面门店同比+25.3%，午间"快速吃饱"不可替代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🏢 写字楼红利：盈丰街道产业园+新住宅密集，午间30分钟解决战斗需求刚性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📱 外卖天然适配：杭州外卖渗透率极高，面食出餐5-8分钟，SKU精简=高人效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价格缝隙明确："15元起吃饱+3元加料"精准卡位陈香贵和沙县之间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🛠️ SaaS武器齐备：收银POS+扫码点餐+会员旗舰版已签，数字化领先同价竞品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🏪 商圈竞争格局：拾久街-平澜路3公里面食战场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竞争烈度中高 | 20元价格带被上压下挤，必须精准卡位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1967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80000"/>
            <a:ext cx="1967400" cy="28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200" y="795000"/>
            <a:ext cx="1927400" cy="12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陈香贵兰州牛肉面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200" y="925000"/>
            <a:ext cx="1927400" cy="11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人均¥28-32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200" y="1090000"/>
            <a:ext cx="1917400" cy="29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0D9453"/>
                </a:solidFill>
                <a:latin typeface="Microsoft YaHei"/>
                <a:ea typeface="Microsoft YaHei"/>
                <a:cs typeface="Microsoft YaHei"/>
              </a:rPr>
              <a:t>✅ 优势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品牌势能强·出餐快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❌ 弱点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客单偏高，性价比敏感客犹豫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切入机会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用¥15引流面截留"嫌贵"客群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4600" y="780000"/>
            <a:ext cx="1967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4600" y="780000"/>
            <a:ext cx="1967400" cy="28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4600" y="795000"/>
            <a:ext cx="1927400" cy="12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五爷拌面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4600" y="925000"/>
            <a:ext cx="1927400" cy="11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人均¥18-22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600" y="1090000"/>
            <a:ext cx="1917400" cy="29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0D9453"/>
                </a:solidFill>
                <a:latin typeface="Microsoft YaHei"/>
                <a:ea typeface="Microsoft YaHei"/>
                <a:cs typeface="Microsoft YaHei"/>
              </a:rPr>
              <a:t>✅ 优势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价格重叠·外卖强·标准化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❌ 弱点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堂食体验一般·口味记忆度低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切入机会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现做汤面&gt;速拌面，堂食体验+浇头丰富度碾压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32000" y="780000"/>
            <a:ext cx="1967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2000" y="780000"/>
            <a:ext cx="1967400" cy="28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2000" y="795000"/>
            <a:ext cx="1927400" cy="12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张拉拉/马记永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2000" y="925000"/>
            <a:ext cx="1927400" cy="11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人均¥28-35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7000" y="1090000"/>
            <a:ext cx="1917400" cy="29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0D9453"/>
                </a:solidFill>
                <a:latin typeface="Microsoft YaHei"/>
                <a:ea typeface="Microsoft YaHei"/>
                <a:cs typeface="Microsoft YaHei"/>
              </a:rPr>
              <a:t>✅ 优势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品牌感强·抢升级客群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❌ 弱点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与¥20价位错位·性价比不足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切入机会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做他们的"日常平替"，互补客群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9400" y="780000"/>
            <a:ext cx="1967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19400" y="780000"/>
            <a:ext cx="1967400" cy="28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400" y="795000"/>
            <a:ext cx="1927400" cy="12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沙县/夫妻面馆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400" y="925000"/>
            <a:ext cx="1927400" cy="11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人均¥12-18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4400" y="1090000"/>
            <a:ext cx="1917400" cy="29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0D9453"/>
                </a:solidFill>
                <a:latin typeface="Microsoft YaHei"/>
                <a:ea typeface="Microsoft YaHei"/>
                <a:cs typeface="Microsoft YaHei"/>
              </a:rPr>
              <a:t>✅ 优势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价格极低·性价比截流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❌ 弱点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7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环境差·无品牌·食安隐患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切入机会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干净明亮+扫码点餐=同价不同档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0000"/>
            <a:ext cx="8229600" cy="65000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200" y="4230000"/>
            <a:ext cx="8109600" cy="58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💡 定位：「比沙县好吃、比陈香贵便宜」—— 15元起吃饱+3元加料丰俭由人，做打工人的"每天都来"食堂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策略一：灵活定价 + 开业7天引流闪电战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⚠️ 当前日均流水&lt;¥1,000（未开业），目标开业首月日均突破¥3,000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8229600" cy="18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50000"/>
            <a:ext cx="8229600" cy="26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200" y="765000"/>
            <a:ext cx="8129600" cy="2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定价结构：「15元进门 + 加料提客单」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200" y="1040000"/>
            <a:ext cx="8129600" cy="15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What：设2款引流面（红烧牛肉面¥15/番茄鸡蛋面¥13），加卤蛋+¥3、加肉+¥5、加小菜+¥2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谁来做：老板定菜单→收银员在扫码点餐🔧「菜品管理→加料组」配置加料项，开业前3天完成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服务员话术："加个卤蛋只要3块，我们的卤蛋每天现卤的" | 客人嫌贵→"番茄鸡蛋面13块管饱"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预期：客单从¥15提到¥20-22，加料渗透率60%+ | 📊 数据锚定：人均¥20 × 日均150人 = 日均¥3,000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00000"/>
            <a:ext cx="82296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00000"/>
            <a:ext cx="8229600" cy="26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200" y="2715000"/>
            <a:ext cx="8129600" cy="2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开业7天闪电战：「送卤蛋 + 扫码进群领半价券」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200" y="2990000"/>
            <a:ext cx="8129600" cy="18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What：开业D1-D7每份面免费送卤蛋1个（成本¥0.8），用餐后扫码进群领"本周第二碗半价券"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谁来做：①店长每天备卤蛋150个 ②服务员每桌提示扫码进群 ③收银员在会员系统🔧「营销中心→优惠券→创建」设半价券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📅 D-2：群二维码打印+卤蛋备货 → D1-D7执行 → D8统计进群人数和券核销率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话术："今天开业送您一个卤蛋！扫码进群，这周来第二碗直接半价" | 不愿进群→"加老板微信也能领"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预期：7天拉群200-300人，半价券核销率30%+（=70人7天内复购），首周日均客流80-120人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数据锚定：卤蛋成本¥0.8×150×7=¥840，半价券让利≈¥700，总引流成本&lt;¥1,600撬动首周¥21,000流水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策略二：外卖冲量 + 企业团餐地推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杭州外卖渗透率极高，面食出餐5-8分钟天然适配 | 团餐是竞品没做的增量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38862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80000"/>
            <a:ext cx="3886200" cy="26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810000"/>
            <a:ext cx="3826200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外卖：面+小食套餐卡满减档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200" y="1060000"/>
            <a:ext cx="3826200" cy="373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What：8-10个SKU套餐，"一碗面+小食"命中满减后实付¥18-20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老板定组合→店长在外卖后台🔧「菜品管理→套餐」上架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📅 开业前5天定稿→D1外卖同步上线→首月投流¥500集中11-13点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商品描述：现做现煮·5分钟出锅·汤底每日熬制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首月外卖日均30-50单，月销900-1500单，占总营收30-40%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⚡ 出餐保障：面档+炸档分工，8分钟内出餐，设厨房计时器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当前外卖消费=0人，上线+投流后预计月曝光2000+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780000"/>
            <a:ext cx="38862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0600" y="780000"/>
            <a:ext cx="3886200" cy="26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0600" y="810000"/>
            <a:ext cx="3826200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🏢 企业团餐：扫楼拿订单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0600" y="1060000"/>
            <a:ext cx="3826200" cy="373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What：印单页（附小程序码），"10份起免配送费+每份减¥2"团餐价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老板/店长每天10:00-10:30扫楼发单页给写字楼前台/行政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📅 开业前1周印300张→D1-D14每天扫2栋楼→D15统计企业客户数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话术："我们是楼下新开的面馆，10份起送，每份比外卖还便宜¥2，能开发票"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目标：首月锁定5-8个企业团餐客户，日均贡献20-30份稳定订单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⚡ 客人嫌麻烦→"微信群里发菜单，提前30分钟下单，到点来取就行"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10个企业×日均3份×¥18=日均¥540，月增¥16,200稳定基本盘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💡 这是五爷拌面和陈香贵都没认真做的增量场景，边际成本极低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📢 公域获客：大众点评冷启动 + 外卖评分攻坚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⚠️ 当前点评无评分·无评价·收藏仅1次 —— 线上等于"隐身"，必须从零建立存在感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82296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50000"/>
            <a:ext cx="180000" cy="210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200" y="750000"/>
            <a:ext cx="160000" cy="21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
众
点
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00" y="770000"/>
            <a:ext cx="7969600" cy="20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现状诊断：点评零评分·零评价·曝光189→访问8→消费0，转化漏斗100%断裂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Step1（开业前3天）：完善门店页面——上传15-20张高清菜品图（手机拍+调色即可）+完整菜单+营业时间+人均标注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谁来做：老板拍照→店长上传到大众点评商家后台🔧「门店装修→图片管理」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Step2（开业D1-D14）：用「免费试」攒前30条真实评价（⚠️ 严禁促评/邀评，2025.10后高强度促评=新评价不产生星级收益）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店长在大众点评商家后台🔧「营销中心→免费试」设20个名额，服务员上菜时说"今天您是试吃官，吃完花1分钟写写真实感受"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客人嫌麻烦→"扫码写满15字送一份小菜" | 差评2小时内后台回复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Step3（D15-D30）：冲新店榜→热门榜——开通商户通（基础装修权限）+上线团购套餐（面+饮品¥22套餐）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30天目标：攒够30-50条真实评价 → 出星(预计4.0-4.3分) → 进新店榜 → 曝光翻5-10倍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50000"/>
            <a:ext cx="82296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50000"/>
            <a:ext cx="180000" cy="180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00" y="2950000"/>
            <a:ext cx="160000" cy="18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
卖
评
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00" y="2970000"/>
            <a:ext cx="7969600" cy="174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现状：外卖消费人数=0，需从零建立评分体系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首月目标4.8分+：① 出餐时间控制8分钟内（面食优势）② 打包附手写感谢卡"感谢选择元气面馆，吃面要趁热🍜"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后厨负责出餐速度（设计时器），打包员负责卡片+确认打包完整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📅 每天打烊后店长检查外卖评价，差评关键词"等太久/洒了/少东西"逐一排查改进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好评引导：外卖小票印"五星好评截图发群，下次送卤蛋"（自然分享，非促评）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首月外卖评分≥4.7分，差评率&lt;3%，配送准时率&gt;95%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 私域留客：会员旗舰版 + 社群复购闪电战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⚠️ 新店0会员·0复购，私域核心任务=把首次进店客人变成"每周来"的回头客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38862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80000"/>
            <a:ext cx="3886200" cy="26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200" y="810000"/>
            <a:ext cx="3826200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👤 会员旗舰版·权益设计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200" y="1060000"/>
            <a:ext cx="3826200" cy="373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入会方式：扫码点餐自动弹窗入会（零摩擦，不用额外操作）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→ 会员系统🔧「会员设置→入会方式→扫码自动注册」开启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🎤 会员权益（¥20客单适配）：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⭐ 会员价：招牌面会员价减¥2（红烧牛肉面¥15→¥13）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⭐ 积分：消费1元=1积分，100积分兑小菜一份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⭐ 生日礼：生日当天免费送招牌面一碗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⭐ 旗舰版专属：团购会员卡+潜客营销+6大活动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首月目标：新增会员300人（日均10人入会）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数据锚定：日均客流100-150人×入会率30%=日均30-45人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（保守按日均10人，首月300人）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谁来做：店长开业前1天完成会员系统配置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⚡ 客人问"加会员有什么用"→"每碗面便宜2块，攒积分换小菜"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780000"/>
            <a:ext cx="3886200" cy="4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0600" y="780000"/>
            <a:ext cx="3886200" cy="26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0600" y="810000"/>
            <a:ext cx="3826200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💬 社群运营·复购引擎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0600" y="1060000"/>
            <a:ext cx="3826200" cy="373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🔧 群定位：元气面馆·老顾客群（开业7天拉群200-300人）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📅 每日固定动作（店长负责）：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10:30 发今日推荐面（附图片）+ 午间暗号"元气满满减¥2"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17:00 发晚市特价信息/明日预告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每周五 发"周末加料免费"福利（成本¥0.8/份卤蛋）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社群复购转化链：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进群→领半价券→到店核销→扫码入会→会员价复购→积分兑换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（公域引新客→私域锁复购，完整闭环）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数据锚定：群300人×月活跃率40%×复购2次=月增240单×¥20=¥4,800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⚡ 群冷场怎么办→每天中午发"出餐实拍"短视频（15秒手机拍，成本为零）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群有人投诉→店长5分钟内回复+邀请到店免费吃一碗（化危为机）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🛠️ 已签SaaS产品·场景化价值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不是功能清单，是"在你的面馆里，这些工具具体解决什么问题"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2636533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80000"/>
            <a:ext cx="2636533" cy="26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200" y="810000"/>
            <a:ext cx="2596533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200" y="1070000"/>
            <a:ext cx="2586533" cy="207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场景：午高峰排队→客人扫码自助下单，省1名服务员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效果：人力成本月省¥3,000-4,000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加料自动关联：客人扫码下单时弹窗推荐"加卤蛋¥3"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操作：🔧 扫码点餐→菜品管理→加料组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3733" y="780000"/>
            <a:ext cx="2636533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53733" y="780000"/>
            <a:ext cx="2636533" cy="26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733" y="810000"/>
            <a:ext cx="2596533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💳 会员旗舰版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8733" y="1070000"/>
            <a:ext cx="2586533" cy="207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场景：新客→扫码入会→会员价锁定→积分驱动复购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独有能力：团购会员卡+潜客营销+6大特有活动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效果：复购率提升20-30%，月增会员300人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操作：🔧 会员中心→权益设置→入会弹窗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0266" y="780000"/>
            <a:ext cx="2636533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50266" y="780000"/>
            <a:ext cx="2636533" cy="26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0266" y="810000"/>
            <a:ext cx="2596533" cy="20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🖥️ 收银POS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5266" y="1070000"/>
            <a:ext cx="2586533" cy="207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场景：堂食+外卖统一收银，自动出小票+后厨打单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效果：点餐到出餐全链路3-5分钟，翻台率↑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数据看板：手机端查日/周/月流水、菜品排行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操作：🔧 经营报表→菜品销量→找出爆品/滞销品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50000"/>
            <a:ext cx="8229600" cy="1450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200" y="3380000"/>
            <a:ext cx="8109600" cy="138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🔄 三件套协同闭环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客人进店 → 📱扫码点餐下单（省人力）→ 自动弹窗入会（零摩擦获客）→ 🖥️POS出单+后厨打印（快出餐）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💳会员价复购（锁客）→ 积分累积兑换（再次到店）→ 旗舰版潜客营销唤醒沉睡会员（拉回流失客）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📊 效率提升量化：省1名服务员（¥4,000/月）+ 出餐提速30% + 会员复购率提升20-30%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开业4周营销节奏 + 7月暑期节点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每周有明确目标+具体动作，不是"做营销"而是"每天做什么"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80000"/>
            <a:ext cx="1982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80000"/>
            <a:ext cx="1982400" cy="38000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00" y="800000"/>
            <a:ext cx="1952400" cy="34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🌊 蓄水期
D-7~D-1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00" y="1190000"/>
            <a:ext cx="1952400" cy="28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完善点评页面（15张图+菜单）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外卖套餐上架+试运营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印300张团餐单页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群二维码+物料准备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员工话术培训+试营业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会员系统配置完成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9600" y="780000"/>
            <a:ext cx="1982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9600" y="780000"/>
            <a:ext cx="1982400" cy="380000"/>
          </a:xfrm>
          <a:prstGeom prst="round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4600" y="800000"/>
            <a:ext cx="1952400" cy="34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体验期
D1~D7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4600" y="1190000"/>
            <a:ext cx="1952400" cy="28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每份面送卤蛋（日均150个）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扫码进群领半价券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每天扫2栋写字楼发单页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外卖同步上线+投流¥500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免费试攒前10条评价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目标：日均80-120人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2000" y="780000"/>
            <a:ext cx="1982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2000" y="780000"/>
            <a:ext cx="1982400" cy="38000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7000" y="800000"/>
            <a:ext cx="1952400" cy="34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爆发期
D8~D21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7000" y="1190000"/>
            <a:ext cx="1952400" cy="28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半价券核销+二次到店转化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团餐客户跟进锁定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外卖冲月销500+单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点评评价攒到20-30条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🍜 7月暑期：推凉面/冰饮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目标：日均120-150人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4400" y="780000"/>
            <a:ext cx="198240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4400" y="780000"/>
            <a:ext cx="1982400" cy="38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9400" y="800000"/>
            <a:ext cx="1952400" cy="34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💎 稳增期
D22~D30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9400" y="1190000"/>
            <a:ext cx="1952400" cy="28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会员复购数据复盘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外卖评分维护≥4.7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社群每日推荐+周五福利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团购套餐上线点评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开通商户通冲新店榜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目标：日均¥3,000流水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0000"/>
            <a:ext cx="8229600" cy="7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200" y="4220000"/>
            <a:ext cx="8129600" cy="6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🌡️ 7月暑期专属节点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盛夏高温28-38°C → 午市堂食受抑+外卖爆发 → 推凉面/凉皮+冰饮套餐¥18（面+冰绿豆汤）→ 外卖满50加¥1得冰饮 → 大暑(7/22)消暑凉菜特价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5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000"/>
            <a:ext cx="822960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量化OKR目标 + 投资回报分析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0000"/>
            <a:ext cx="8229600" cy="2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  <a:r>
              <a:rPr sz="11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所有数字有推算逻辑，算得过来账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750000"/>
            <a:ext cx="82296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50000"/>
            <a:ext cx="8229600" cy="26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200" y="765000"/>
            <a:ext cx="8129600" cy="2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月度OKR目标（开业首月→第3个月）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200" y="1040000"/>
            <a:ext cx="8129600" cy="14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💰 月营收：首月¥90,000（日均¥3,000）→ 第3月¥135,000（日均¥4,500）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推算：日均150人×客单¥20=¥3,000 → 稳定期200人×¥22=¥4,400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⭐ 大众点评：首月出星(4.0-4.3分) → 第3月4.5分+ → 进热门榜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路径：30天攒50条评价→出星→新店榜→热门榜→好评榜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👤 会员数：首月300人 → 第3月800人（累计）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推算：日均入会10人×30天=300，复合增长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📱 外卖月销：首月900单 → 第3月2,000单，评分≥4.7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🏢 团餐：首月锁定5-8个企业客户，日均贡献20-30份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0000"/>
            <a:ext cx="82296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650000"/>
            <a:ext cx="8229600" cy="260000"/>
          </a:xfrm>
          <a:prstGeom prst="roundRect">
            <a:avLst/>
          </a:prstGeom>
          <a:solidFill>
            <a:srgbClr val="0D9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200" y="2665000"/>
            <a:ext cx="8129600" cy="2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投资回报测算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200" y="2940000"/>
            <a:ext cx="8129600" cy="186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l"/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📋 已签SaaS投入（年费）：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收银POS + 扫码点餐 + 会员旗舰版(¥4,888/年) ≈ ¥8,000-10,000/年（⚠️ 具体以合同为准）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📋 开业营销投入（一次性）：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卤蛋7天(¥840) + 半价券让利(¥700) + 单页印刷(¥200) + 外卖投流首月(¥500) ≈ ¥2,240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月增收益拆解（第3个月稳定期）：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① 扫码点餐省人力：¥4,000/月（省1名服务员）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② 会员复购提升：¥4,800/月（群300人×活跃40%×复购2次×¥20）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③ 外卖增量：¥36,000/月（日均60单×¥20）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④ 团餐增量：¥16,200/月（日均30份×¥18）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合计月增收益：≈ ¥61,000（含外卖+团餐增量，不含堂食自然增长）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💡 回本周期：开业营销¥2,240 ÷ 首月净增收¥4,000（保守仅算省人力）≈ 0.6个月回本！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SaaS年费按月摊¥700-800，远低于月增收益，持续正ROI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343275"/>
            <a:ext cx="9144000" cy="1800225"/>
          </a:xfrm>
          <a:prstGeom prst="roundRect">
            <a:avLst/>
          </a:prstGeom>
          <a:solidFill>
            <a:srgbClr val="125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17220"/>
            <a:ext cx="8229600" cy="6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🍜 元气面馆 × 美团收银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54530"/>
            <a:ext cx="1549920" cy="900000"/>
          </a:xfrm>
          <a:prstGeom prst="roundRect">
            <a:avLst/>
          </a:prstGeom>
          <a:solidFill>
            <a:srgbClr val="125AC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200" y="1994530"/>
            <a:ext cx="152992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200" y="2284530"/>
            <a:ext cx="1529920" cy="5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扫码提效
省人力¥4K/月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7120" y="1954530"/>
            <a:ext cx="1549920" cy="900000"/>
          </a:xfrm>
          <a:prstGeom prst="roundRect">
            <a:avLst/>
          </a:prstGeom>
          <a:solidFill>
            <a:srgbClr val="125AC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7120" y="1994530"/>
            <a:ext cx="152992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7120" y="2284530"/>
            <a:ext cx="1529920" cy="5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会员锁客
首月300人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7040" y="1954530"/>
            <a:ext cx="1549920" cy="900000"/>
          </a:xfrm>
          <a:prstGeom prst="roundRect">
            <a:avLst/>
          </a:prstGeom>
          <a:solidFill>
            <a:srgbClr val="125AC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7040" y="1994530"/>
            <a:ext cx="152992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7040" y="2284530"/>
            <a:ext cx="1529920" cy="5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
实时看经营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6960" y="1954530"/>
            <a:ext cx="1549920" cy="900000"/>
          </a:xfrm>
          <a:prstGeom prst="roundRect">
            <a:avLst/>
          </a:prstGeom>
          <a:solidFill>
            <a:srgbClr val="125AC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6960" y="1994530"/>
            <a:ext cx="152992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6960" y="2284530"/>
            <a:ext cx="1529920" cy="5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开业护航
7天闪电引流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6880" y="1954530"/>
            <a:ext cx="1549920" cy="900000"/>
          </a:xfrm>
          <a:prstGeom prst="roundRect">
            <a:avLst/>
          </a:prstGeom>
          <a:solidFill>
            <a:srgbClr val="125AC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6880" y="1994530"/>
            <a:ext cx="1529920" cy="25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880" y="2284530"/>
            <a:ext cx="1529920" cy="520000"/>
          </a:xfrm>
          <a:prstGeom prst="rect">
            <a:avLst/>
          </a:prstGeom>
          <a:noFill/>
        </p:spPr>
        <p:txBody>
          <a:bodyPr wrap="square" anchor="ctr">
            <a:normAutofit fontScale="62000" lnSpcReduction="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快速回本
0.6个月回本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88970"/>
            <a:ext cx="8229600" cy="4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200" b="0">
                <a:solidFill>
                  <a:srgbClr val="BBDEFB"/>
                </a:solidFill>
                <a:latin typeface="Microsoft YaHei"/>
                <a:ea typeface="Microsoft YaHei"/>
                <a:cs typeface="Microsoft YaHei"/>
              </a:rPr>
              <a:t>"这个位置拼的是工作日午餐复购率。把出餐速度、性价比感知、外卖评分三件事做到极致，比任何故事都管用。"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1193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2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23410"/>
            <a:ext cx="8229600" cy="300000"/>
          </a:xfrm>
          <a:prstGeom prst="rect">
            <a:avLst/>
          </a:prstGeom>
          <a:noFill/>
        </p:spPr>
        <p:txBody>
          <a:bodyPr wrap="square" anchor="t">
            <a:normAutofit fontScale="62000" lnSpcReduction="0"/>
          </a:bodyPr>
          <a:lstStyle/>
          <a:p>
            <a:pPr algn="ctr"/>
            <a:r>
              <a:rPr sz="1100" b="0">
                <a:solidFill>
                  <a:srgbClr val="90CAF9"/>
                </a:solidFill>
                <a:latin typeface="Microsoft YaHei"/>
                <a:ea typeface="Microsoft YaHei"/>
                <a:cs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