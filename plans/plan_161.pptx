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1A73E8"/>
            </a:gs>
            <a:gs pos="100000">
              <a:srgbClr val="4285F4"/>
            </a:gs>
          </a:gsLst>
          <a:lin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100000"/>
            <a:ext cx="8229600" cy="7000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3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🍜 王灿灿东北老式麻辣烫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50000"/>
            <a:ext cx="8229600" cy="5000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24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数字化经营解决方案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072000" y="2500000"/>
            <a:ext cx="3000000" cy="4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650000"/>
            <a:ext cx="8229600" cy="3500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4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美团收银 ｜ 新店冷启动 × 公私域联动 × 快速盈利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00000"/>
            <a:ext cx="8229600" cy="3000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1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2026年7月  ·  美团餐饮SaaS运营策划团队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9144000" cy="500000"/>
          </a:xfrm>
          <a:prstGeom prst="round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0000"/>
            <a:ext cx="8229600" cy="38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🔍 品牌理解：东北老式麻辣烫的机遇与挑战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30000"/>
            <a:ext cx="8229600" cy="20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rPr>
              <a:t>"现熬骨汤 × 反工业化调料包" — 新店冷启动阶段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780000"/>
            <a:ext cx="3950000" cy="4000000"/>
          </a:xfrm>
          <a:prstGeom prst="roundRect">
            <a:avLst/>
          </a:prstGeom>
          <a:solidFill>
            <a:srgbClr val="FFF3E0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77200" y="800000"/>
            <a:ext cx="3710000" cy="25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500" b="1">
                <a:solidFill>
                  <a:srgbClr val="E81A1A"/>
                </a:solidFill>
                <a:latin typeface="Microsoft YaHei"/>
                <a:ea typeface="Microsoft YaHei"/>
                <a:cs typeface="Microsoft YaHei"/>
              </a:rPr>
              <a:t>⚠️ 当前痛点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7200" y="1100000"/>
            <a:ext cx="3710000" cy="35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100" b="1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>❶ 30天曝光仅53人，成交0人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rPr>
              <a:t>  平台几乎无存在感，周边人不知道店在哪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100" b="1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>❷ 点评零评分/零评价，商户通未开通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rPr>
              <a:t>  新客搜索看不到，看到不敢进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100" b="1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>❸ 日均流水&lt;1000元，远低于盈亏线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rPr>
              <a:t>  150㎡月固定成本≈3-4万，养店资金压力大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100" b="1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>❹ 新开发区位置，自然客流有限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rPr>
              <a:t>  靠等客不行，必须主动出击引流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100" b="1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>❺ SaaS已签约但尚未激活使用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rPr>
              <a:t>  收银+扫码+会员旗舰版待启用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07200" y="780000"/>
            <a:ext cx="3950000" cy="4000000"/>
          </a:xfrm>
          <a:prstGeom prst="roundRect">
            <a:avLst/>
          </a:prstGeom>
          <a:solidFill>
            <a:srgbClr val="E8F0FE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27200" y="800000"/>
            <a:ext cx="3710000" cy="25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500" b="1">
                <a:solidFill>
                  <a:srgbClr val="0D852E"/>
                </a:solidFill>
                <a:latin typeface="Microsoft YaHei"/>
                <a:ea typeface="Microsoft YaHei"/>
                <a:cs typeface="Microsoft YaHei"/>
              </a:rPr>
              <a:t>🔥 赛道机遇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200" y="1100000"/>
            <a:ext cx="3710000" cy="35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100" b="1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>❶ "东北老式"=真差异点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rPr>
              <a:t>  "现熬骨汤≠料包兑水"信任突围杨国福张亮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100" b="1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>❷ 人均20元=价格带优势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rPr>
              <a:t>  比杨国福(¥26-30)低30%，性价比王牌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100" b="1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>❸ 快餐小吃年增7.5%，1.08万亿市场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rPr>
              <a:t>  刚需高频复购，天花板极高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100" b="1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>❹ 150㎡面积=体验升级空间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rPr>
              <a:t>  超越街边小店，做"坐下来慢慢吃"场景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100" b="1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>❺ 会员旗舰版工具齐全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rPr>
              <a:t>  团购会员卡+潜客营销+6大活动=冷启动利器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9144000" cy="500000"/>
          </a:xfrm>
          <a:prstGeom prst="round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0000"/>
            <a:ext cx="8229600" cy="38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📍 商圈洞察 &amp; 竞品格局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30000"/>
            <a:ext cx="8229600" cy="20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>
                <a:solidFill>
                  <a:srgbClr val="1A73E8"/>
                </a:solidFill>
                <a:latin typeface="Microsoft YaHei"/>
                <a:ea typeface="Microsoft YaHei"/>
                <a:cs typeface="Microsoft YaHei"/>
              </a:rPr>
              <a:t>利一路×帆影路交叉口 — 新开发区/产业园周边次级商圈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60000"/>
            <a:ext cx="8229600" cy="5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000" b="0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>👥 核心客群：周边上班族（午餐刚需）+ 租房年轻人 + 周边居民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000" b="0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>🕐 消费场景：午餐快食 / 晚餐简餐 / 夜宵解馋    💰 价格敏感，人均20元舒适区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000" b="0">
                <a:solidFill>
                  <a:srgbClr val="E81A1A"/>
                </a:solidFill>
                <a:latin typeface="Microsoft YaHei"/>
                <a:ea typeface="Microsoft YaHei"/>
                <a:cs typeface="Microsoft YaHei"/>
              </a:rPr>
              <a:t>⚡ 核心风险：新区人流密度不足→养店期2-3月，必须主动引流不能等客上门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50000"/>
          <a:ext cx="8229600" cy="35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0000"/>
                <a:gridCol w="900000"/>
                <a:gridCol w="900000"/>
                <a:gridCol w="2400000"/>
                <a:gridCol w="2129600"/>
              </a:tblGrid>
              <a:tr h="50000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竞品名称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距离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人均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核心弱点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我方切入机会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</a:tr>
              <a:tr h="500000"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杨国福麻辣烫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商圈内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¥26-30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"贵且量少"用户槽点</a:t>
                      </a:r>
                    </a:p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口味标准化/料包兑水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"现熬骨汤"直接打痛点</a:t>
                      </a:r>
                    </a:p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价格低30%+量足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500000"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张亮麻辣烫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商圈内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¥20-25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体验感差/环境一般</a:t>
                      </a:r>
                    </a:p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产品无记忆点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150㎡环境碾压</a:t>
                      </a:r>
                    </a:p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"28元封顶"破价格焦虑</a:t>
                      </a:r>
                    </a:p>
                  </a:txBody>
                  <a:tcPr/>
                </a:tc>
              </a:tr>
              <a:tr h="500000"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董不懂麻辣烫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直接竞品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¥18-22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同为新兴品牌</a:t>
                      </a:r>
                    </a:p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⚠️需实地确认弱点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东北老式差异化定位</a:t>
                      </a:r>
                    </a:p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骨汤视觉化展示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500000"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滇员外·沙…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1.6km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¥20-30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云南菜品类差异大</a:t>
                      </a:r>
                    </a:p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午餐场景竞争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麻辣烫出餐更快</a:t>
                      </a:r>
                    </a:p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抢午餐快食份额</a:t>
                      </a:r>
                    </a:p>
                  </a:txBody>
                  <a:tcPr/>
                </a:tc>
              </a:tr>
              <a:tr h="500000"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外婆面馆/食全食美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1.7km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¥15-25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面馆品类单一</a:t>
                      </a:r>
                    </a:p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缺乏社交属性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自选丰富度&gt;面馆</a:t>
                      </a:r>
                    </a:p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适合2-3人分享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500000"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夫妻小店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500m内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¥12-18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价格杀手但卫生差</a:t>
                      </a:r>
                    </a:p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环境简陋无品牌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环境+食安+品牌信任</a:t>
                      </a:r>
                    </a:p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"看得见的骨汤锅"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9144000" cy="500000"/>
          </a:xfrm>
          <a:prstGeom prst="round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0000"/>
            <a:ext cx="8229600" cy="38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📊 门店诊断：数据不会说谎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580000"/>
            <a:ext cx="1900000" cy="140000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20000"/>
            <a:ext cx="1900000" cy="4500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3400" b="1">
                <a:solidFill>
                  <a:srgbClr val="E81A1A"/>
                </a:solidFill>
                <a:latin typeface="Microsoft YaHei"/>
                <a:ea typeface="Microsoft YaHei"/>
                <a:cs typeface="Microsoft YaHei"/>
              </a:rPr>
              <a:t>53人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80000"/>
            <a:ext cx="1900000" cy="2200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100" b="1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>30天曝光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7200" y="1350000"/>
            <a:ext cx="1740000" cy="5000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rPr>
              <a:t>同商圈500+
差距10倍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07200" y="580000"/>
            <a:ext cx="1900000" cy="140000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507200" y="620000"/>
            <a:ext cx="1900000" cy="4500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3400" b="1">
                <a:solidFill>
                  <a:srgbClr val="E81A1A"/>
                </a:solidFill>
                <a:latin typeface="Microsoft YaHei"/>
                <a:ea typeface="Microsoft YaHei"/>
                <a:cs typeface="Microsoft YaHei"/>
              </a:rPr>
              <a:t>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07200" y="1080000"/>
            <a:ext cx="1900000" cy="2200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100" b="1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>访问→消费转化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87200" y="1350000"/>
            <a:ext cx="1740000" cy="5000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rPr>
              <a:t>同行9.33%
零成交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57200" y="580000"/>
            <a:ext cx="1900000" cy="140000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57200" y="620000"/>
            <a:ext cx="1900000" cy="4500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3400" b="1">
                <a:solidFill>
                  <a:srgbClr val="E81A1A"/>
                </a:solidFill>
                <a:latin typeface="Microsoft YaHei"/>
                <a:ea typeface="Microsoft YaHei"/>
                <a:cs typeface="Microsoft YaHei"/>
              </a:rPr>
              <a:t>0人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57200" y="1080000"/>
            <a:ext cx="1900000" cy="2200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100" b="1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>新老顾客数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7200" y="1350000"/>
            <a:ext cx="1740000" cy="5000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rPr>
              <a:t>30天零成交
冷启动未开始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07200" y="580000"/>
            <a:ext cx="1900000" cy="140000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7200" y="620000"/>
            <a:ext cx="1900000" cy="4500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3400" b="1">
                <a:solidFill>
                  <a:srgbClr val="FF6D00"/>
                </a:solidFill>
                <a:latin typeface="Microsoft YaHei"/>
                <a:ea typeface="Microsoft YaHei"/>
                <a:cs typeface="Microsoft YaHei"/>
              </a:rPr>
              <a:t>3.77%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07200" y="1080000"/>
            <a:ext cx="1900000" cy="2200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100" b="1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>曝光→访问率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87200" y="1350000"/>
            <a:ext cx="1740000" cy="5000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rPr>
              <a:t>同行4.25%
页面吸引力弱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100000"/>
            <a:ext cx="8229600" cy="25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500" b="1">
                <a:solidFill>
                  <a:srgbClr val="E81A1A"/>
                </a:solidFill>
                <a:latin typeface="Microsoft YaHei"/>
                <a:ea typeface="Microsoft YaHei"/>
                <a:cs typeface="Microsoft YaHei"/>
              </a:rPr>
              <a:t>🎯 三大死穴 &amp; 对应解法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2400000"/>
            <a:ext cx="8229600" cy="25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100" b="1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>死穴① 平台存在感为零（曝光53人/月）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000" b="0">
                <a:solidFill>
                  <a:srgbClr val="1A73E8"/>
                </a:solidFill>
                <a:latin typeface="Microsoft YaHei"/>
                <a:ea typeface="Microsoft YaHei"/>
                <a:cs typeface="Microsoft YaHei"/>
              </a:rPr>
              <a:t>  → 开业前7天门口"骨汤免费喝"+扫码加群，500米内砸认知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000" b="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rPr>
              <a:t>  → 谁做：老板亲站 | 何时：每天16:00-18:00 | 成本：日均100元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100" b="1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>死穴② 进店转化率为零（2访客全流失）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000" b="0">
                <a:solidFill>
                  <a:srgbClr val="1A73E8"/>
                </a:solidFill>
                <a:latin typeface="Microsoft YaHei"/>
                <a:ea typeface="Microsoft YaHei"/>
                <a:cs typeface="Microsoft YaHei"/>
              </a:rPr>
              <a:t>  → 首周"免费试"攒20条评价+上传15张菜品图+上线18元团购套餐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000" b="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rPr>
              <a:t>  → 🔧 商家后台→营销中心→免费试→设20名额 | 店长负责执行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100" b="1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>死穴③ 零复购基础（零成交=零老客）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000" b="0">
                <a:solidFill>
                  <a:srgbClr val="1A73E8"/>
                </a:solidFill>
                <a:latin typeface="Microsoft YaHei"/>
                <a:ea typeface="Microsoft YaHei"/>
                <a:cs typeface="Microsoft YaHei"/>
              </a:rPr>
              <a:t>  → 扫码点餐自动入会→首单减2元→7天未回自动推3元回头券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000" b="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rPr>
              <a:t>  → 🔧 会员旗舰版→潜客营销→流失预警→自动发券 | 系统自动执行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9144000" cy="500000"/>
          </a:xfrm>
          <a:prstGeom prst="round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0000"/>
            <a:ext cx="8229600" cy="38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🚀 冷启动战役：开业前7天 → 首月作战地图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560000"/>
            <a:ext cx="4000000" cy="2150000"/>
          </a:xfrm>
          <a:prstGeom prst="roundRect">
            <a:avLst/>
          </a:prstGeom>
          <a:solidFill>
            <a:srgbClr val="FFF3E0"/>
          </a:solidFill>
          <a:ln w="12700">
            <a:solidFill>
              <a:srgbClr val="FF6D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57200" y="575000"/>
            <a:ext cx="3800000" cy="22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1">
                <a:solidFill>
                  <a:srgbClr val="FF6D00"/>
                </a:solidFill>
                <a:latin typeface="Microsoft YaHei"/>
                <a:ea typeface="Microsoft YaHei"/>
                <a:cs typeface="Microsoft YaHei"/>
              </a:rPr>
              <a:t>🔥 开业前7天·蓄水引爆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7200" y="830000"/>
            <a:ext cx="3700000" cy="18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000" b="1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>D-7~D-3 ｜ "免费喝骨汤"路演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>  老板亲自站台→门口支大骨汤锅→路人免费盛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1A73E8"/>
                </a:solidFill>
                <a:latin typeface="Microsoft YaHei"/>
                <a:ea typeface="Microsoft YaHei"/>
                <a:cs typeface="Microsoft YaHei"/>
              </a:rPr>
              <a:t>  筒骨现场可见→扫码加群送5元券→建群200人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rPr>
              <a:t>  成本：~100元/天×5天=500元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000" b="1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>D-3~D-1 ｜ 点评"免费试"上线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1A73E8"/>
                </a:solidFill>
                <a:latin typeface="Microsoft YaHei"/>
                <a:ea typeface="Microsoft YaHei"/>
                <a:cs typeface="Microsoft YaHei"/>
              </a:rPr>
              <a:t>  🔧 商家后台→营销中心→免费试→20名额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>  试吃→引导15字评价→"好坏都要写"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FF6D00"/>
                </a:solidFill>
                <a:latin typeface="Microsoft YaHei"/>
                <a:ea typeface="Microsoft YaHei"/>
                <a:cs typeface="Microsoft YaHei"/>
              </a:rPr>
              <a:t>  嫌麻烦→"写满15字送丸子拼盘"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000" b="1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>D-1 ｜ 平台基建完成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>  上传15张菜品图+店内环境图+骨汤熬制过程图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1A73E8"/>
                </a:solidFill>
                <a:latin typeface="Microsoft YaHei"/>
                <a:ea typeface="Microsoft YaHei"/>
                <a:cs typeface="Microsoft YaHei"/>
              </a:rPr>
              <a:t>  🔧 商家后台→门店管理→图片管理→上传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07200" y="560000"/>
            <a:ext cx="4050000" cy="2150000"/>
          </a:xfrm>
          <a:prstGeom prst="roundRect">
            <a:avLst/>
          </a:prstGeom>
          <a:solidFill>
            <a:srgbClr val="E8F0FE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07200" y="575000"/>
            <a:ext cx="3850000" cy="22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1">
                <a:solidFill>
                  <a:srgbClr val="1A73E8"/>
                </a:solidFill>
                <a:latin typeface="Microsoft YaHei"/>
                <a:ea typeface="Microsoft YaHei"/>
                <a:cs typeface="Microsoft YaHei"/>
              </a:rPr>
              <a:t>💥 开业D1-D7·集中爆发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07200" y="830000"/>
            <a:ext cx="3750000" cy="18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000" b="1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>D1-D3 ｜ 开业三板斧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>  ① 群内发5元红包券→200人到店率30%=60人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>  ② 点评上线18元招牌套餐团购（成本~10元）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>  ③ 门口横幅"现熬骨汤·开业全场8.8折"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1A73E8"/>
                </a:solidFill>
                <a:latin typeface="Microsoft YaHei"/>
                <a:ea typeface="Microsoft YaHei"/>
                <a:cs typeface="Microsoft YaHei"/>
              </a:rPr>
              <a:t>  🔧 商家后台→团购→新建→定价18→库存50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000" b="1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>D4-D7 ｜ "28元封顶随便夹"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>  正常称重但封顶28元→让顾客敢拿敢吃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rPr>
              <a:t>  实际客单仍20-22元，但传播极强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1A73E8"/>
                </a:solidFill>
                <a:latin typeface="Microsoft YaHei"/>
                <a:ea typeface="Microsoft YaHei"/>
                <a:cs typeface="Microsoft YaHei"/>
              </a:rPr>
              <a:t>  拍"28块随便夹"短视频→发抖音/小红书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>  收银员每单结账说"超28只收28"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FF6D00"/>
                </a:solidFill>
                <a:latin typeface="Microsoft YaHei"/>
                <a:ea typeface="Microsoft YaHei"/>
                <a:cs typeface="Microsoft YaHei"/>
              </a:rPr>
              <a:t>  客人问为什么→"骨汤现熬成本高但要让大家吃饱"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820000"/>
            <a:ext cx="8229600" cy="205000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7200" y="2840000"/>
            <a:ext cx="8029600" cy="22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1">
                <a:solidFill>
                  <a:srgbClr val="1A73E8"/>
                </a:solidFill>
                <a:latin typeface="Microsoft YaHei"/>
                <a:ea typeface="Microsoft YaHei"/>
                <a:cs typeface="Microsoft YaHei"/>
              </a:rPr>
              <a:t>📈 D8-D30·稳增锁客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7200" y="3100000"/>
            <a:ext cx="8029600" cy="17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000" b="1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>第2周 ｜ 午餐快速套餐上线 — 抢写字楼份额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>  3款固定搭配：招牌肉丸套18元/菌菇套16元/全荤套22元，承诺"超10分钟减3元"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1A73E8"/>
                </a:solidFill>
                <a:latin typeface="Microsoft YaHei"/>
                <a:ea typeface="Microsoft YaHei"/>
                <a:cs typeface="Microsoft YaHei"/>
              </a:rPr>
              <a:t>  🔧 扫码点餐→套餐专区→提前备好→点了直接煮 ｜ 后厨提前备菜，收银员引导扫码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000" b="1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>第3周 ｜ 会员体系激活 — 从"路人"变"常客"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>  扫码点餐自动识别入会→首单减2元→第2单推"充100送15"储值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1A73E8"/>
                </a:solidFill>
                <a:latin typeface="Microsoft YaHei"/>
                <a:ea typeface="Microsoft YaHei"/>
                <a:cs typeface="Microsoft YaHei"/>
              </a:rPr>
              <a:t>  🔧 会员旗舰版→潜客营销→新客自动发券→7天未复购推3元回头券 ｜ 系统自动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000" b="1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>第4周 ｜ 评价+外卖双线突破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>  目标：攒满30条真实评价→出星→冲新店榜 ｜ 外卖上美团，满25减5引流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1A73E8"/>
                </a:solidFill>
                <a:latin typeface="Microsoft YaHei"/>
                <a:ea typeface="Microsoft YaHei"/>
                <a:cs typeface="Microsoft YaHei"/>
              </a:rPr>
              <a:t>  🔧 外卖：商家后台→外卖→新建门店→菜单同步→满减活动 ｜ 店长负责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9144000" cy="500000"/>
          </a:xfrm>
          <a:prstGeom prst="round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0000"/>
            <a:ext cx="8229600" cy="38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🌐 公域引流：让周边人"看见→想来→敢进"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560000"/>
            <a:ext cx="4000000" cy="4200000"/>
          </a:xfrm>
          <a:prstGeom prst="roundRect">
            <a:avLst/>
          </a:prstGeom>
          <a:solidFill>
            <a:srgbClr val="E8F0FE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57200" y="580000"/>
            <a:ext cx="3800000" cy="22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>
                <a:solidFill>
                  <a:srgbClr val="1A73E8"/>
                </a:solidFill>
                <a:latin typeface="Microsoft YaHei"/>
                <a:ea typeface="Microsoft YaHei"/>
                <a:cs typeface="Microsoft YaHei"/>
              </a:rPr>
              <a:t>📱 大众点评（核心公域阵地）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7200" y="830000"/>
            <a:ext cx="3700000" cy="38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000" b="1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>🎯 目标：30天出星→60天上新店榜→90天冲热门榜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600" b="0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/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000" b="1">
                <a:solidFill>
                  <a:srgbClr val="1A73E8"/>
                </a:solidFill>
                <a:latin typeface="Microsoft YaHei"/>
                <a:ea typeface="Microsoft YaHei"/>
                <a:cs typeface="Microsoft YaHei"/>
              </a:rPr>
              <a:t>Step1 · 基建（D-1完成）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>  上传15张图（骨汤熬制过程3张+菜品8张+环境4张）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>  完善门店信息：营业时间/人均/推荐菜/停车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1A73E8"/>
                </a:solidFill>
                <a:latin typeface="Microsoft YaHei"/>
                <a:ea typeface="Microsoft YaHei"/>
                <a:cs typeface="Microsoft YaHei"/>
              </a:rPr>
              <a:t>  🔧 商家后台→门店管理→图片/基础信息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600" b="0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/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000" b="1">
                <a:solidFill>
                  <a:srgbClr val="1A73E8"/>
                </a:solidFill>
                <a:latin typeface="Microsoft YaHei"/>
                <a:ea typeface="Microsoft YaHei"/>
                <a:cs typeface="Microsoft YaHei"/>
              </a:rPr>
              <a:t>Step2 · 攒评价（D1-D30）⚠️严禁促评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>  用"免费试"（20份）引导真实评价，非诱评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>  差评2h内回复→私信致歉→解决→邀请二次体验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FF6D00"/>
                </a:solidFill>
                <a:latin typeface="Microsoft YaHei"/>
                <a:ea typeface="Microsoft YaHei"/>
                <a:cs typeface="Microsoft YaHei"/>
              </a:rPr>
              <a:t>  自然分享动机："骨汤锅+食材自选"本身有拍照欲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600" b="0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/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000" b="1">
                <a:solidFill>
                  <a:srgbClr val="1A73E8"/>
                </a:solidFill>
                <a:latin typeface="Microsoft YaHei"/>
                <a:ea typeface="Microsoft YaHei"/>
                <a:cs typeface="Microsoft YaHei"/>
              </a:rPr>
              <a:t>Step3 · 团购引流（D1起）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>  ① 18元招牌套餐（引流款，成本~10元）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>  ② 38元双人套餐（利润款，覆盖2人午餐场景）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1A73E8"/>
                </a:solidFill>
                <a:latin typeface="Microsoft YaHei"/>
                <a:ea typeface="Microsoft YaHei"/>
                <a:cs typeface="Microsoft YaHei"/>
              </a:rPr>
              <a:t>  🔧 商家后台→团购→新建→定价→库存→上线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600" b="0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/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000" b="1">
                <a:solidFill>
                  <a:srgbClr val="1A73E8"/>
                </a:solidFill>
                <a:latin typeface="Microsoft YaHei"/>
                <a:ea typeface="Microsoft YaHei"/>
                <a:cs typeface="Microsoft YaHei"/>
              </a:rPr>
              <a:t>Step4 · 商户通（第2月开通）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>  搜索排名优化+精准流量，有30条评价后开更值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1A73E8"/>
                </a:solidFill>
                <a:latin typeface="Microsoft YaHei"/>
                <a:ea typeface="Microsoft YaHei"/>
                <a:cs typeface="Microsoft YaHei"/>
              </a:rPr>
              <a:t>  🔧 商家后台→推广→商户通→开通→设日预算30元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07200" y="560000"/>
            <a:ext cx="4050000" cy="4200000"/>
          </a:xfrm>
          <a:prstGeom prst="roundRect">
            <a:avLst/>
          </a:prstGeom>
          <a:solidFill>
            <a:srgbClr val="FFF3E0"/>
          </a:solidFill>
          <a:ln w="12700">
            <a:solidFill>
              <a:srgbClr val="FF6D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07200" y="580000"/>
            <a:ext cx="3850000" cy="22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>
                <a:solidFill>
                  <a:srgbClr val="FF6D00"/>
                </a:solidFill>
                <a:latin typeface="Microsoft YaHei"/>
                <a:ea typeface="Microsoft YaHei"/>
                <a:cs typeface="Microsoft YaHei"/>
              </a:rPr>
              <a:t>📹 抖音/小红书（免费流量池）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07200" y="830000"/>
            <a:ext cx="3750000" cy="38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000" b="1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>🎯 定位：本地探店内容，搜索"XX路麻辣烫"可见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600" b="0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/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000" b="1">
                <a:solidFill>
                  <a:srgbClr val="FF6D00"/>
                </a:solidFill>
                <a:latin typeface="Microsoft YaHei"/>
                <a:ea typeface="Microsoft YaHei"/>
                <a:cs typeface="Microsoft YaHei"/>
              </a:rPr>
              <a:t>内容方向1 ·"28元封顶随便夹"系列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>  拍老板娘/顾客夹菜全过程→结账只收28→震惊脸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rPr>
              <a:t>  谁拍：老板/店员手机拍，不用专业设备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>  频率：开业首周每天1条，之后每周2条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600" b="0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/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000" b="1">
                <a:solidFill>
                  <a:srgbClr val="FF6D00"/>
                </a:solidFill>
                <a:latin typeface="Microsoft YaHei"/>
                <a:ea typeface="Microsoft YaHei"/>
                <a:cs typeface="Microsoft YaHei"/>
              </a:rPr>
              <a:t>内容方向2 ·"骨汤熬制过程"系列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>  筒骨下锅→文火慢炖4h→乳白浓汤→对比料包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>  文案："你吃的是现熬4小时的骨汤，不是开水兑粉"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600" b="0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/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000" b="1">
                <a:solidFill>
                  <a:srgbClr val="FF6D00"/>
                </a:solidFill>
                <a:latin typeface="Microsoft YaHei"/>
                <a:ea typeface="Microsoft YaHei"/>
                <a:cs typeface="Microsoft YaHei"/>
              </a:rPr>
              <a:t>内容方向3 · 小红书"人均20吃到撑"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>  图文笔记：菜品摆盘+价格标签+骨汤特写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>  标题公式：地名+品类+价格亮点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1A73E8"/>
                </a:solidFill>
                <a:latin typeface="Microsoft YaHei"/>
                <a:ea typeface="Microsoft YaHei"/>
                <a:cs typeface="Microsoft YaHei"/>
              </a:rPr>
              <a:t>  如"XX路宝藏麻辣烫｜人均20现熬骨汤吃到撑"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600" b="0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/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000" b="1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>执行节奏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>  第1月：自拍内容为主，每周3-4条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>  第2月起：邀请本地探店博主（1-2位，费用~200/位）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rPr>
              <a:t>  预期效果：单条视频500-2000播放→带来5-15桌/月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9144000" cy="500000"/>
          </a:xfrm>
          <a:prstGeom prst="round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0000"/>
            <a:ext cx="8229600" cy="38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🔒 私域留客：把"路人"变成"常客"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30000"/>
            <a:ext cx="8229600" cy="20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>
                <a:solidFill>
                  <a:srgbClr val="1A73E8"/>
                </a:solidFill>
                <a:latin typeface="Microsoft YaHei"/>
                <a:ea typeface="Microsoft YaHei"/>
                <a:cs typeface="Microsoft YaHei"/>
              </a:rPr>
              <a:t>公域引来新客 → 扫码入会 → 会员锁复购 → 储值锁未来消费 → 流失自动唤醒（完整闭环）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780000"/>
            <a:ext cx="5300000" cy="2000000"/>
          </a:xfrm>
          <a:prstGeom prst="roundRect">
            <a:avLst/>
          </a:prstGeom>
          <a:solidFill>
            <a:srgbClr val="E8F0FE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57200" y="800000"/>
            <a:ext cx="5100000" cy="22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1">
                <a:solidFill>
                  <a:srgbClr val="1A73E8"/>
                </a:solidFill>
                <a:latin typeface="Microsoft YaHei"/>
                <a:ea typeface="Microsoft YaHei"/>
                <a:cs typeface="Microsoft YaHei"/>
              </a:rPr>
              <a:t>👤 会员体系（旗舰版，已签约）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7200" y="1050000"/>
            <a:ext cx="5000000" cy="165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000" b="1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>入会方式：扫码点餐自动识别→0门槛入会→首单立减2元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1A73E8"/>
                </a:solidFill>
                <a:latin typeface="Microsoft YaHei"/>
                <a:ea typeface="Microsoft YaHei"/>
                <a:cs typeface="Microsoft YaHei"/>
              </a:rPr>
              <a:t>  🔧 会员旗舰版→会员设置→入会方式→扫码自动入会→首单减2元 ｜ 系统自动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500" b="0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/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000" b="1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>会员权益三件套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>  ① 会员价：招牌肉丸串/蟹棒/玉米 会员价减1元（高频SKU拉感知）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>  ② 积分：消费1元=1分，100分=3元券（约3%回馈率，低成本高粘性）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>  ③ 生日礼：生日当天送免费小份麻辣烫1份（成本~8元，惊喜感强）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500" b="0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/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000" b="1">
                <a:solidFill>
                  <a:srgbClr val="FF6D00"/>
                </a:solidFill>
                <a:latin typeface="Microsoft YaHei"/>
                <a:ea typeface="Microsoft YaHei"/>
                <a:cs typeface="Microsoft YaHei"/>
              </a:rPr>
              <a:t>自动营销（系统自动执行，无人工成本）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>  新客：首单后第3天推"回头客专属：满20减3"→拉第2次到店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>  沉睡客：7天未消费→自动推5元券→"好久不见，骨汤想你了"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1A73E8"/>
                </a:solidFill>
                <a:latin typeface="Microsoft YaHei"/>
                <a:ea typeface="Microsoft YaHei"/>
                <a:cs typeface="Microsoft YaHei"/>
              </a:rPr>
              <a:t>  🔧 会员旗舰版→潜客营销→流失预警→设7天阈值→自动发券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07200" y="780000"/>
            <a:ext cx="2780000" cy="2000000"/>
          </a:xfrm>
          <a:prstGeom prst="roundRect">
            <a:avLst/>
          </a:prstGeom>
          <a:solidFill>
            <a:srgbClr val="FFF3E0"/>
          </a:solidFill>
          <a:ln w="12700">
            <a:solidFill>
              <a:srgbClr val="FF6D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07200" y="800000"/>
            <a:ext cx="2580000" cy="22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1">
                <a:solidFill>
                  <a:srgbClr val="FF6D00"/>
                </a:solidFill>
                <a:latin typeface="Microsoft YaHei"/>
                <a:ea typeface="Microsoft YaHei"/>
                <a:cs typeface="Microsoft YaHei"/>
              </a:rPr>
              <a:t>💰 储值方案（轻量化）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07200" y="1050000"/>
            <a:ext cx="2500000" cy="165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000" b="1">
                <a:solidFill>
                  <a:srgbClr val="E81A1A"/>
                </a:solidFill>
                <a:latin typeface="Microsoft YaHei"/>
                <a:ea typeface="Microsoft YaHei"/>
                <a:cs typeface="Microsoft YaHei"/>
              </a:rPr>
              <a:t>⚠️ 新店第1月不强推储值，先养客再锁客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000" b="1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>第2月起上线3档储值：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500" b="0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/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000" b="0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>  💳 体验档：充50送8（≈8.6折）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000" b="1">
                <a:solidFill>
                  <a:srgbClr val="FF6D00"/>
                </a:solidFill>
                <a:latin typeface="Microsoft YaHei"/>
                <a:ea typeface="Microsoft YaHei"/>
                <a:cs typeface="Microsoft YaHei"/>
              </a:rPr>
              <a:t>  ⭐ 主推档：充100送15（≈8.7折）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rPr>
              <a:t>    =5次消费用完，心理负担最小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000" b="0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>  💎 尊享档：充200送35（≈8.5折）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500" b="0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/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1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>话术（收银员结账时说）：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>"您今天消费22元，充100送15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> 刚好够吃5次，下次直接刷"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FF6D00"/>
                </a:solidFill>
                <a:latin typeface="Microsoft YaHei"/>
                <a:ea typeface="Microsoft YaHei"/>
                <a:cs typeface="Microsoft YaHei"/>
              </a:rPr>
              <a:t>客人犹豫→"50也行，送8块"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500" b="0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/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1A73E8"/>
                </a:solidFill>
                <a:latin typeface="Microsoft YaHei"/>
                <a:ea typeface="Microsoft YaHei"/>
                <a:cs typeface="Microsoft YaHei"/>
              </a:rPr>
              <a:t>🔧 会员旗舰版→储值→新建活动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900000"/>
            <a:ext cx="8229600" cy="190000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7200" y="2920000"/>
            <a:ext cx="8029600" cy="22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1">
                <a:solidFill>
                  <a:srgbClr val="1A73E8"/>
                </a:solidFill>
                <a:latin typeface="Microsoft YaHei"/>
                <a:ea typeface="Microsoft YaHei"/>
                <a:cs typeface="Microsoft YaHei"/>
              </a:rPr>
              <a:t>🔄 公私域联动全闭环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200" y="3180000"/>
            <a:ext cx="8029600" cy="15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100" b="1">
                <a:solidFill>
                  <a:srgbClr val="1A73E8"/>
                </a:solidFill>
                <a:latin typeface="Microsoft YaHei"/>
                <a:ea typeface="Microsoft YaHei"/>
                <a:cs typeface="Microsoft YaHei"/>
              </a:rPr>
              <a:t>公域获客 ──────────────────→ 私域锁客 ──────────────────→ 口碑裂变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500" b="0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/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>点评团购18元引流→到店扫码自动入会    会员首单减2元→储值充100送15锁定    好体验→自然好评→点评排名↑→更多曝光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>抖音/小红书"28元封顶"引流到店      7天未回→自动推3元券唤醒            "骨汤真材实料"评价→口碑扩散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>"骨汤免费喝"路演→加群200人        群内每周推会员日/新品/限时优惠       老客带新客→群内裂变→转介绍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500" b="0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/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000" b="1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>💡 关键逻辑：公域是"水龙头"（持续引新客），私域是"蓄水池"（留住不流失），二者缺一不可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rPr>
              <a:t>  新店第1月重心=公域引流（把人拉来），第2月重心=私域转化（把人留住）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9144000" cy="500000"/>
          </a:xfrm>
          <a:prstGeom prst="round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0000"/>
            <a:ext cx="8229600" cy="38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⭐ 点评口碑提升路径（新店阶段）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40000"/>
            <a:ext cx="8229600" cy="20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1">
                <a:solidFill>
                  <a:srgbClr val="E81A1A"/>
                </a:solidFill>
                <a:latin typeface="Microsoft YaHei"/>
                <a:ea typeface="Microsoft YaHei"/>
                <a:cs typeface="Microsoft YaHei"/>
              </a:rPr>
              <a:t>当前状态：零评分/零评价/零收藏 → 目标：30天出星 → 90天冲新店榜/热门榜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800000"/>
            <a:ext cx="2600000" cy="3900000"/>
          </a:xfrm>
          <a:prstGeom prst="roundRect">
            <a:avLst/>
          </a:prstGeom>
          <a:solidFill>
            <a:srgbClr val="FFF3E0"/>
          </a:solidFill>
          <a:ln w="12700">
            <a:solidFill>
              <a:srgbClr val="FF6D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7200" y="820000"/>
            <a:ext cx="2440000" cy="4000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1">
                <a:solidFill>
                  <a:srgbClr val="FF6D00"/>
                </a:solidFill>
                <a:latin typeface="Microsoft YaHei"/>
                <a:ea typeface="Microsoft YaHei"/>
                <a:cs typeface="Microsoft YaHei"/>
              </a:rPr>
              <a:t>🚀 第1阶段
D1-D30·攒评出星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7200" y="1280000"/>
            <a:ext cx="2440000" cy="33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>目标：积累30条真实评价→出星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>工具：免费试（20份）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>🔧 商家后台→营销中心→免费试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>⚠️ 严禁促评/邀评/好评返现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>每条差评2h内回复+私信解决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>自然分享动机设计：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>  "骨汤锅+自选食材"有拍照欲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>  提供拍照角度建议卡（桌上）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>预期：首月出星3.5-4.0分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07200" y="800000"/>
            <a:ext cx="2600000" cy="3900000"/>
          </a:xfrm>
          <a:prstGeom prst="roundRect">
            <a:avLst/>
          </a:prstGeom>
          <a:solidFill>
            <a:srgbClr val="E8F0FE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87200" y="820000"/>
            <a:ext cx="2440000" cy="4000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1">
                <a:solidFill>
                  <a:srgbClr val="1A73E8"/>
                </a:solidFill>
                <a:latin typeface="Microsoft YaHei"/>
                <a:ea typeface="Microsoft YaHei"/>
                <a:cs typeface="Microsoft YaHei"/>
              </a:rPr>
              <a:t>📈 第2阶段
D30-D60·冲新店榜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87200" y="1280000"/>
            <a:ext cx="2440000" cy="33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>目标：评价数50+→进新店榜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>开通商户通（日预算30元）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>🔧 推广→商户通→开通→设预算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>团购套餐优化（看核销率调价）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>新品上线配合评价引导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>开通"免费菜"活动替代免费试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>  赠送1道小菜→自然引发分享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>🔧 营销中心→免费菜→设菜品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>预期：评分4.0+，进新店榜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57200" y="800000"/>
            <a:ext cx="2600000" cy="3900000"/>
          </a:xfrm>
          <a:prstGeom prst="roundRect">
            <a:avLst/>
          </a:prstGeom>
          <a:solidFill>
            <a:srgbClr val="E8F0FE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37200" y="820000"/>
            <a:ext cx="2440000" cy="4000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1">
                <a:solidFill>
                  <a:srgbClr val="1A73E8"/>
                </a:solidFill>
                <a:latin typeface="Microsoft YaHei"/>
                <a:ea typeface="Microsoft YaHei"/>
                <a:cs typeface="Microsoft YaHei"/>
              </a:rPr>
              <a:t>🏆 第3阶段
D60-D90·冲热门榜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7200" y="1280000"/>
            <a:ext cx="2440000" cy="33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>目标：评分4.2+→冲热门榜TOP10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>推广通精准投放（日预算50元）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>🔧 推广→推广通→定向周边3km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>套餐优化：增加高客单套餐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>会员评价引导（积分加倍）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>保持差评24h必回复节奏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>  回复模板：致歉→原因→改进→邀请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>社群口碑裂变：晒好评截图领券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>预期：评分4.2+，进热门榜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57200" y="1000000"/>
            <a:ext cx="250000" cy="3000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2400" b="1">
                <a:solidFill>
                  <a:srgbClr val="1A73E8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57200" y="1000000"/>
            <a:ext cx="250000" cy="3000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2400" b="1">
                <a:solidFill>
                  <a:srgbClr val="1A73E8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9144000" cy="500000"/>
          </a:xfrm>
          <a:prstGeom prst="round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0000"/>
            <a:ext cx="8229600" cy="38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🔧 已签约SaaS工具：场景化激活指南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30000"/>
            <a:ext cx="8229600" cy="20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rPr>
              <a:t>不是"有什么功能"，而是"在你的店里解决什么问题"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760000"/>
            <a:ext cx="2600000" cy="3000000"/>
          </a:xfrm>
          <a:prstGeom prst="roundRect">
            <a:avLst/>
          </a:prstGeom>
          <a:solidFill>
            <a:srgbClr val="E8F0FE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7200" y="790000"/>
            <a:ext cx="2440000" cy="2500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400" b="1">
                <a:solidFill>
                  <a:srgbClr val="1A73E8"/>
                </a:solidFill>
                <a:latin typeface="Microsoft YaHei"/>
                <a:ea typeface="Microsoft YaHei"/>
                <a:cs typeface="Microsoft YaHei"/>
              </a:rPr>
              <a:t>📱 扫码点餐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7200" y="1100000"/>
            <a:ext cx="2440000" cy="25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>解决：午高峰排队点餐慢→客人走掉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>场景：上班族扫码3秒下单→后厨直出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>省人力：减少1名点餐员≈省3000元/月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>附加值：自动识别入会→0成本获会员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>🔧 扫码点餐→菜单管理→套餐专区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>效果：出餐提速30%+午高峰翻台+1轮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07200" y="760000"/>
            <a:ext cx="2600000" cy="3000000"/>
          </a:xfrm>
          <a:prstGeom prst="roundRect">
            <a:avLst/>
          </a:prstGeom>
          <a:solidFill>
            <a:srgbClr val="FFF3E0"/>
          </a:solidFill>
          <a:ln w="12700">
            <a:solidFill>
              <a:srgbClr val="FF6D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87200" y="790000"/>
            <a:ext cx="2440000" cy="2500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400" b="1">
                <a:solidFill>
                  <a:srgbClr val="FF6D00"/>
                </a:solidFill>
                <a:latin typeface="Microsoft YaHei"/>
                <a:ea typeface="Microsoft YaHei"/>
                <a:cs typeface="Microsoft YaHei"/>
              </a:rPr>
              <a:t>💳 会员旗舰版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87200" y="1100000"/>
            <a:ext cx="2440000" cy="25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>解决：新客来一次就不回来→复购率低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>场景：自动入会→首单减→沉睡唤醒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>旗舰独有：团购会员卡+潜客营销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>  +6大特有活动=冷启动利器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>🔧 会员旗舰版→潜客营销→自动发券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>效果：复购率从0→30%+目标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57200" y="760000"/>
            <a:ext cx="2600000" cy="300000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37200" y="790000"/>
            <a:ext cx="2440000" cy="2500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400" b="1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>🖥️ 收银POS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7200" y="1100000"/>
            <a:ext cx="2440000" cy="25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>解决：手工记账→漏单错账→钱不清楚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>场景：每笔订单自动记录→手机看日报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>功能：扫码/现金/刷卡全支持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>  日结一键对账→老板手机看营收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>🔧 收银系统→经营报表→日/周/月报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>效果：对账时间从1h→5分钟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900000"/>
            <a:ext cx="8229600" cy="2000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1">
                <a:solidFill>
                  <a:srgbClr val="1A73E8"/>
                </a:solidFill>
                <a:latin typeface="Microsoft YaHei"/>
                <a:ea typeface="Microsoft YaHei"/>
                <a:cs typeface="Microsoft YaHei"/>
              </a:rPr>
              <a:t>💡 三件套协同效果：扫码（引流入口）→ 会员（留客引擎）→ 收银（经营大脑）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150000"/>
            <a:ext cx="8229600" cy="65000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7200" y="4200000"/>
            <a:ext cx="8069600" cy="5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000" b="1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>🕐 激活优先级：开业D1扫码点餐上线→D3会员入会打通→D7收银报表训练老板看数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rPr>
              <a:t>  D1：店长完成扫码点餐菜单录入+测试 ｜ D3：配置入会+首单减+积分 ｜ D7：教老板看日报APP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9144000" cy="500000"/>
          </a:xfrm>
          <a:prstGeom prst="round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0000"/>
            <a:ext cx="8229600" cy="38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📅 营销节奏：7-9月三个月作战日历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560000"/>
            <a:ext cx="2600000" cy="4200000"/>
          </a:xfrm>
          <a:prstGeom prst="roundRect">
            <a:avLst/>
          </a:prstGeom>
          <a:solidFill>
            <a:srgbClr val="FFF3E0"/>
          </a:solidFill>
          <a:ln w="12700">
            <a:solidFill>
              <a:srgbClr val="FF6D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37200" y="580000"/>
            <a:ext cx="2440000" cy="2800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300" b="1">
                <a:solidFill>
                  <a:srgbClr val="FF6D00"/>
                </a:solidFill>
                <a:latin typeface="Microsoft YaHei"/>
                <a:ea typeface="Microsoft YaHei"/>
                <a:cs typeface="Microsoft YaHei"/>
              </a:rPr>
              <a:t>7月·开业引爆月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7200" y="920000"/>
            <a:ext cx="2440000" cy="37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>W1 开业庆+骨汤路演+8.8折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>W2 "28元封顶"持续+抖音首发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>W3 午餐套餐上线+外卖开通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>W4 大暑消暑活动→赠冰粉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>  "消暑麻辣烫·冰镇酸梅汤套餐"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/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>🎯 月底目标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>  日均客流30人+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>  点评出星+评价20条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>  微信群300人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7200" y="560000"/>
            <a:ext cx="2600000" cy="4200000"/>
          </a:xfrm>
          <a:prstGeom prst="roundRect">
            <a:avLst/>
          </a:prstGeom>
          <a:solidFill>
            <a:srgbClr val="E8F0FE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87200" y="580000"/>
            <a:ext cx="2440000" cy="2800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300" b="1">
                <a:solidFill>
                  <a:srgbClr val="1A73E8"/>
                </a:solidFill>
                <a:latin typeface="Microsoft YaHei"/>
                <a:ea typeface="Microsoft YaHei"/>
                <a:cs typeface="Microsoft YaHei"/>
              </a:rPr>
              <a:t>8月·稳增转化月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87200" y="920000"/>
            <a:ext cx="2440000" cy="37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>W1 会员体系全面激活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>W2 储值上线·充100送15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>W3 七夕"甜蜜双人餐"¥38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>  (七夕不做大活动,轻量借势)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>W4 暑期收官·学生卡核销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/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>🎯 月底目标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>  日均客流50人+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>  会员数200人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>  月储值入账5000元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57200" y="560000"/>
            <a:ext cx="2600000" cy="420000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37200" y="580000"/>
            <a:ext cx="2440000" cy="2800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300" b="1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>9月·口碑爆发月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7200" y="920000"/>
            <a:ext cx="2440000" cy="37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>W1 开学季"加油套餐"引学生客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>W2 教师节免费小菜(凭教师证)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>W3 中秋"团圆麻辣烫"家庭套餐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>  4人套餐¥68·赠骨汤底料1份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>W4 秋季菜单上新·贴秋膘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/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>🎯 月底目标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>  日均客流60人+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>  点评4.0+分·进新店榜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>  月营收3.6万元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9144000" cy="500000"/>
          </a:xfrm>
          <a:prstGeom prst="round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0000"/>
            <a:ext cx="8229600" cy="38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💰 投资回报分析 &amp; 量化OKR目标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560000"/>
            <a:ext cx="3500000" cy="240000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57200" y="580000"/>
            <a:ext cx="3300000" cy="25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>
                <a:solidFill>
                  <a:srgbClr val="1A73E8"/>
                </a:solidFill>
                <a:latin typeface="Microsoft YaHei"/>
                <a:ea typeface="Microsoft YaHei"/>
                <a:cs typeface="Microsoft YaHei"/>
              </a:rPr>
              <a:t>📋 已投入成本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7200" y="850000"/>
            <a:ext cx="3200000" cy="20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100" b="1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>软件年费（已签约）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>  收银POS + 扫码点餐 + 会员旗舰版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rPr>
              <a:t>  ⚠️ 会员旗舰版 ¥4,888/年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500" b="0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/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100" b="1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>冷启动营销预算（首月）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>  骨汤路演：¥500（5天×100元/天）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>  开业折扣让利：¥800（预估8.8折让利）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>  免费试成本：¥200（20份×10元）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>  团购引流让利：¥400（50份×8元差价）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>  社群红包券：¥300（200人×5元，到店率30%）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000" b="1">
                <a:solidFill>
                  <a:srgbClr val="FF6D00"/>
                </a:solidFill>
                <a:latin typeface="Microsoft YaHei"/>
                <a:ea typeface="Microsoft YaHei"/>
                <a:cs typeface="Microsoft YaHei"/>
              </a:rPr>
              <a:t>  首月营销合计：约¥2,200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500" b="0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/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>第2月起商户通：¥900/月（日预算30元）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57200" y="560000"/>
            <a:ext cx="4530000" cy="2400000"/>
          </a:xfrm>
          <a:prstGeom prst="roundRect">
            <a:avLst/>
          </a:prstGeom>
          <a:solidFill>
            <a:srgbClr val="E8F0FE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57200" y="580000"/>
            <a:ext cx="4330000" cy="25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>
                <a:solidFill>
                  <a:srgbClr val="1A73E8"/>
                </a:solidFill>
                <a:latin typeface="Microsoft YaHei"/>
                <a:ea typeface="Microsoft YaHei"/>
                <a:cs typeface="Microsoft YaHei"/>
              </a:rPr>
              <a:t>📈 预期月增收益（第3月稳态）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57200" y="850000"/>
            <a:ext cx="4200000" cy="20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000" b="1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>① 扫码提效+午餐套餐→多翻1轮/天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FF6D00"/>
                </a:solidFill>
                <a:latin typeface="Microsoft YaHei"/>
                <a:ea typeface="Microsoft YaHei"/>
                <a:cs typeface="Microsoft YaHei"/>
              </a:rPr>
              <a:t>   +10桌/天 × ¥20客单 × 30天 = +¥6,000/月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000" b="1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>② 会员复购拉升→7天自动召回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FF6D00"/>
                </a:solidFill>
                <a:latin typeface="Microsoft YaHei"/>
                <a:ea typeface="Microsoft YaHei"/>
                <a:cs typeface="Microsoft YaHei"/>
              </a:rPr>
              <a:t>   复购率0→30%，+8桌/天 × ¥20 × 30 = +¥4,800/月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000" b="1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>③ 团购+点评引流→线上新客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FF6D00"/>
                </a:solidFill>
                <a:latin typeface="Microsoft YaHei"/>
                <a:ea typeface="Microsoft YaHei"/>
                <a:cs typeface="Microsoft YaHei"/>
              </a:rPr>
              <a:t>   日均5单团购 × ¥18 × 30天 = +¥2,700/月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000" b="1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>④ 储值锁客（第2月起）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FF6D00"/>
                </a:solidFill>
                <a:latin typeface="Microsoft YaHei"/>
                <a:ea typeface="Microsoft YaHei"/>
                <a:cs typeface="Microsoft YaHei"/>
              </a:rPr>
              <a:t>   月储值入账¥5,000→当月释放约¥3,000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500" b="0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/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400" b="1">
                <a:solidFill>
                  <a:srgbClr val="FF6D00"/>
                </a:solidFill>
                <a:latin typeface="Microsoft YaHei"/>
                <a:ea typeface="Microsoft YaHei"/>
                <a:cs typeface="Microsoft YaHei"/>
              </a:rPr>
              <a:t>💥 月增收合计：约 ¥16,500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100" b="1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>💡 目标月营收：¥36,000（日均¥1,200×30天）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rPr>
              <a:t>   按人均¥20计→日均60人次→150㎡可支撑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100000"/>
            <a:ext cx="8229600" cy="25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>
                <a:solidFill>
                  <a:srgbClr val="1A73E8"/>
                </a:solidFill>
                <a:latin typeface="Microsoft YaHei"/>
                <a:ea typeface="Microsoft YaHei"/>
                <a:cs typeface="Microsoft YaHei"/>
              </a:rPr>
              <a:t>🎯 量化OKR目标（月度/季度）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3400000"/>
          <a:ext cx="8229600" cy="15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00000"/>
                <a:gridCol w="1600000"/>
                <a:gridCol w="1600000"/>
                <a:gridCol w="1600000"/>
                <a:gridCol w="1429600"/>
              </a:tblGrid>
              <a:tr h="30000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OKR指标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第1月（7月）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第2月（8月）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第3月（9月）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季度终极目标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</a:tr>
              <a:tr h="300000"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月营收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¥12,000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¥24,000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¥36,000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6D0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¥36,000+/月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300000"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日均客流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30人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50人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60人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6D0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稳定60人+</a:t>
                      </a:r>
                    </a:p>
                  </a:txBody>
                  <a:tcPr/>
                </a:tc>
              </a:tr>
              <a:tr h="300000"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点评评分/评价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出星/20条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4.0分/50条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4.2分/80条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6D0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4.2+/进榜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300000"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会员数/储值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100人/—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200人/¥5,000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350人/¥8,000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6D0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500人+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1A73E8"/>
            </a:gs>
            <a:gs pos="100000">
              <a:srgbClr val="4285F4"/>
            </a:gs>
          </a:gsLst>
          <a:lin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900000"/>
            <a:ext cx="8229600" cy="6000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2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王灿灿东北老式麻辣烫 × 美团收银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072000" y="1600000"/>
            <a:ext cx="3000000" cy="4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22000" y="1800000"/>
            <a:ext cx="1500000" cy="1200000"/>
          </a:xfrm>
          <a:prstGeom prst="roundRect">
            <a:avLst/>
          </a:prstGeom>
          <a:solidFill>
            <a:srgbClr val="2A82F0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72000" y="1900000"/>
            <a:ext cx="1400000" cy="10000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🍜 现熬骨汤
差异化定位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222000" y="1800000"/>
            <a:ext cx="1500000" cy="1200000"/>
          </a:xfrm>
          <a:prstGeom prst="roundRect">
            <a:avLst/>
          </a:prstGeom>
          <a:solidFill>
            <a:srgbClr val="2A82F0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272000" y="1900000"/>
            <a:ext cx="1400000" cy="10000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📱 数字化
效率提升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22000" y="1800000"/>
            <a:ext cx="1500000" cy="1200000"/>
          </a:xfrm>
          <a:prstGeom prst="roundRect">
            <a:avLst/>
          </a:prstGeom>
          <a:solidFill>
            <a:srgbClr val="2A82F0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72000" y="1900000"/>
            <a:ext cx="1400000" cy="10000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👤 会员锁客
复购倍增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22000" y="1800000"/>
            <a:ext cx="1500000" cy="1200000"/>
          </a:xfrm>
          <a:prstGeom prst="roundRect">
            <a:avLst/>
          </a:prstGeom>
          <a:solidFill>
            <a:srgbClr val="2A82F0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72000" y="1900000"/>
            <a:ext cx="1400000" cy="10000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🌐 公私域联动
流量闭环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022000" y="1800000"/>
            <a:ext cx="1500000" cy="1200000"/>
          </a:xfrm>
          <a:prstGeom prst="roundRect">
            <a:avLst/>
          </a:prstGeom>
          <a:solidFill>
            <a:srgbClr val="2A82F0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72000" y="1900000"/>
            <a:ext cx="1400000" cy="10000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💰 快速回本
持续盈利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300000"/>
            <a:ext cx="8229600" cy="4000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6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"现熬骨汤的温度，每一碗都是真材实料"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800000"/>
            <a:ext cx="8229600" cy="3000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美团餐饮SaaS运营策划团队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