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C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64592" cy="13716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28016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B87A"/>
                </a:solidFill>
                <a:latin typeface="Microsoft YaHei"/>
              </a:rPr>
              <a:t>MEITUAN · 餐饮数字化经营解决方案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Microsoft YaHei"/>
              </a:rPr>
              <a:t>新豪仔小龙虾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FF9A4A"/>
                </a:solidFill>
                <a:latin typeface="Microsoft YaHei"/>
              </a:rPr>
              <a:t>烧烤 · 融合菜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4048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FDCEC"/>
                </a:solidFill>
                <a:latin typeface="Microsoft YaHei"/>
              </a:rPr>
              <a:t>新店开业冷启动 × 公私域一体化运营方案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1495044" cy="402336"/>
          </a:xfrm>
          <a:prstGeom prst="roundRect">
            <a:avLst/>
          </a:prstGeom>
          <a:solidFill>
            <a:srgbClr val="1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80560"/>
            <a:ext cx="1495044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📍杭州滨江·金铂湾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4348" y="4480560"/>
            <a:ext cx="1495044" cy="402336"/>
          </a:xfrm>
          <a:prstGeom prst="roundRect">
            <a:avLst/>
          </a:prstGeom>
          <a:solidFill>
            <a:srgbClr val="1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4348" y="4480560"/>
            <a:ext cx="1495044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🍤小龙虾+烧烤融合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4480560"/>
            <a:ext cx="1124712" cy="402336"/>
          </a:xfrm>
          <a:prstGeom prst="roundRect">
            <a:avLst/>
          </a:prstGeom>
          <a:solidFill>
            <a:srgbClr val="1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4480560"/>
            <a:ext cx="11247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👥人均¥80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96712" y="4480560"/>
            <a:ext cx="1001268" cy="402336"/>
          </a:xfrm>
          <a:prstGeom prst="roundRect">
            <a:avLst/>
          </a:prstGeom>
          <a:solidFill>
            <a:srgbClr val="1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6712" y="4480560"/>
            <a:ext cx="10012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🏪200㎡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44284" y="4480560"/>
            <a:ext cx="1124712" cy="402336"/>
          </a:xfrm>
          <a:prstGeom prst="roundRect">
            <a:avLst/>
          </a:prstGeom>
          <a:solidFill>
            <a:srgbClr val="1C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4284" y="4480560"/>
            <a:ext cx="11247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🆕未开业新店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7607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ACC2"/>
                </a:solidFill>
                <a:latin typeface="Microsoft YaHei"/>
              </a:rPr>
              <a:t>美团餐饮SaaS运营策划团队  |  2026年6月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760720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E8098"/>
                </a:solidFill>
                <a:latin typeface="Microsoft YaHei"/>
              </a:rPr>
              <a:t>门店ID 1024066744378845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OVERVIEW · 方案导读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为什么开业前就要把数字化打好底座？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A33"/>
                </a:solidFill>
                <a:latin typeface="Microsoft YaHei"/>
              </a:rPr>
              <a:t>你的店还没开业，正处于「建联挖需」阶段——这恰恰是最好的时机。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</a:rPr>
              <a:t>大众点评对新店有90天流量加权、外卖前7天有扶持，错过就要花3倍预算去抢回来。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77440"/>
            <a:ext cx="2670048" cy="32461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77440"/>
            <a:ext cx="2670048" cy="73152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834640"/>
            <a:ext cx="2670048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32304"/>
            <a:ext cx="2670048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</a:rPr>
              <a:t>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487168"/>
            <a:ext cx="420624" cy="42062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208" y="2487168"/>
            <a:ext cx="420624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246120"/>
            <a:ext cx="234086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22A4A"/>
                </a:solidFill>
                <a:latin typeface="Microsoft YaHei"/>
              </a:rPr>
              <a:t>只有一次的新店红利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886200"/>
            <a:ext cx="234086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点评90天流量加权+外卖7天扶持。开业即用收银+扫码点餐+会员，等于免费拿一波公域曝光。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377440"/>
            <a:ext cx="2670048" cy="32461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0440" y="2377440"/>
            <a:ext cx="2670048" cy="73152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2834640"/>
            <a:ext cx="2670048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432304"/>
            <a:ext cx="2670048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</a:rPr>
              <a:t>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41848" y="2487168"/>
            <a:ext cx="420624" cy="42062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1848" y="2487168"/>
            <a:ext cx="420624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5032" y="3246120"/>
            <a:ext cx="234086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22A4A"/>
                </a:solidFill>
                <a:latin typeface="Microsoft YaHei"/>
              </a:rPr>
              <a:t>开业即巅峰的陷阱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886200"/>
            <a:ext cx="234086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烧烤店头号死法：开业打骨折→人爆满→出餐崩→差评暴增。前10条评价决定后面所有顾客印象。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2377440"/>
            <a:ext cx="2670048" cy="32461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2377440"/>
            <a:ext cx="2670048" cy="73152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2834640"/>
            <a:ext cx="2670048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432304"/>
            <a:ext cx="2670048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</a:rPr>
              <a:t>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76488" y="2487168"/>
            <a:ext cx="420624" cy="42062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487168"/>
            <a:ext cx="420624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246120"/>
            <a:ext cx="234086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22A4A"/>
                </a:solidFill>
                <a:latin typeface="Microsoft YaHei"/>
              </a:rPr>
              <a:t>现金流回笼靠储值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3886200"/>
            <a:ext cx="234086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¥80客单的烧烤夜宵复购频次高，开业2-3周推储值，把首月15-20%营业额提前锁进账户。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77440"/>
            <a:ext cx="2670048" cy="32461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89720" y="2377440"/>
            <a:ext cx="2670048" cy="73152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89720" y="2834640"/>
            <a:ext cx="2670048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9720" y="2432304"/>
            <a:ext cx="2670048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FFFFFF"/>
                </a:solidFill>
                <a:latin typeface="Microsoft YaHei"/>
              </a:rPr>
              <a:t>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11128" y="2487168"/>
            <a:ext cx="420624" cy="42062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1128" y="2487168"/>
            <a:ext cx="420624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3246120"/>
            <a:ext cx="234086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22A4A"/>
                </a:solidFill>
                <a:latin typeface="Microsoft YaHei"/>
              </a:rPr>
              <a:t>一次获客反复用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4312" y="3886200"/>
            <a:ext cx="234086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桌贴码扫码点餐自动入会，把开业涌入的客人沉淀成私域，后续唤醒不花一分广告费。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DIAGNOSIS · 门店诊断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门店画像 &amp; 数据基石</a:t>
            </a:r>
            <a:r>
              <a:rPr sz="1200" b="0">
                <a:solidFill>
                  <a:srgbClr val="FFB87A"/>
                </a:solidFill>
                <a:latin typeface="Microsoft YaHei"/>
              </a:rPr>
              <a:t>   ⚠️未开业·数据为行业模型测算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212080" cy="47548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2A4A"/>
                </a:solidFill>
                <a:latin typeface="Microsoft YaHei"/>
              </a:rPr>
              <a:t>🏪 门店基础画像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65960"/>
            <a:ext cx="4754880" cy="512064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品类定位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965960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小龙虾+烧烤+融合菜（特色菜·正餐）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96312"/>
            <a:ext cx="475488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96312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96312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杭州滨江·长河街道 金铂湾大厦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26664"/>
            <a:ext cx="4754880" cy="512064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26664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026664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200㎡ ≈ 60–75座（含夜宵外摆潜力）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557016"/>
            <a:ext cx="475488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57016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人均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557016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¥80（精品烧烤档，高于街边摊）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087368"/>
            <a:ext cx="4754880" cy="512064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87368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阶段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087368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未开业新店 · 建联挖需 · 0–30天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75488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17720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SaaS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617720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智能版收银（假设含基础会员+扫码点餐）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148072"/>
            <a:ext cx="4754880" cy="512064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148072"/>
            <a:ext cx="12801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6D00"/>
                </a:solidFill>
                <a:latin typeface="Microsoft YaHei"/>
              </a:rPr>
              <a:t>KP/触达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5148072"/>
            <a:ext cx="32918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已有联系方式，KP待建联确认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1325880"/>
            <a:ext cx="5669280" cy="475488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463040"/>
            <a:ext cx="52120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📊 数据基石（行业模型测算·开业后校准）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74519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FFC89A"/>
                </a:solidFill>
                <a:latin typeface="Microsoft YaHei"/>
              </a:rPr>
              <a:t>⚠️假设：滨江夜宵烧烤店稳定期日均35–45桌，2.5人/桌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468880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2523744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¥80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2962656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客单价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21868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门店给定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87968" y="2468880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97696" y="2523744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≈40桌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97696" y="2962656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稳定期日均桌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321868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200㎡夜宵模型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621024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3675888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≈100人次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4114800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日均消费人次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370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40桌×2.5人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87968" y="3621024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97696" y="3675888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¥8K/天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97696" y="4114800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稳定期日营业额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97696" y="4370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100×¥80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4773168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27648" y="4828032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≈¥24万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5266944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稳定期月营业额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55229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¥8K×30目标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87968" y="4773168"/>
            <a:ext cx="2542032" cy="1024128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97696" y="4828032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D00"/>
                </a:solidFill>
                <a:latin typeface="Microsoft YaHei"/>
              </a:rPr>
              <a:t>3000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97696" y="5266944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月消费人次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97696" y="55229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B4D0"/>
                </a:solidFill>
                <a:latin typeface="Microsoft YaHei"/>
              </a:rPr>
              <a:t>100×30 校验✅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INSIGHT · 品类洞察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烧烤融合菜的机遇与开业期挑战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40680" cy="4663440"/>
          </a:xfrm>
          <a:prstGeom prst="roundRect">
            <a:avLst/>
          </a:prstGeom>
          <a:solidFill>
            <a:srgbClr val="FDF0EE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40680" cy="658368"/>
          </a:xfrm>
          <a:prstGeom prst="roundRect">
            <a:avLst/>
          </a:prstGeom>
          <a:solidFill>
            <a:srgbClr val="E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40680" cy="155448"/>
          </a:xfrm>
          <a:prstGeom prst="rect">
            <a:avLst/>
          </a:prstGeom>
          <a:solidFill>
            <a:srgbClr val="E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440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⚠️ 开业期挑战（不解决=开业即巅峰）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53A3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零评价零口碑起步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新店点评0评价，前10条评价定调，搞砸全盘皆输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90088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53A3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出餐崩溃风险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小龙虾+烧烤现制慢，开业人爆满→等位40分钟→差评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39896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53A3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夜宵高峰人手紧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21:00–凌晨高峰点单结账忙不过来，漏单错单流失客人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89704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53A3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旺季靠天吃饭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小龙虾季节性强（全国门店-7.7%），冬季雨季客流骤降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9512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53A3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现金流压力大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新店投入大，只靠堂食慢慢回款，资金链易紧张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371600"/>
            <a:ext cx="5440680" cy="4663440"/>
          </a:xfrm>
          <a:prstGeom prst="roundRect">
            <a:avLst/>
          </a:prstGeom>
          <a:solidFill>
            <a:srgbClr val="ECF7F1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9632" y="1371600"/>
            <a:ext cx="5440680" cy="658368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874519"/>
            <a:ext cx="5440680" cy="155448"/>
          </a:xfrm>
          <a:prstGeom prst="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1371600"/>
            <a:ext cx="54406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🔥 赛道与位置机遇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240280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烧烤大盘2840亿+8.5%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开店率&gt;关店率市场良性；融合菜避开纯小龙虾季节性下滑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990088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滨江夜经济旺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金铂湾周边写字楼+小区密集，IT白领夜宵刚需，社区烧烤+啤酒馆受欢迎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739896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情绪价值溢价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鲜切现烤+小龙虾+融合菜=记忆点，支撑¥80客单，高街边摊一档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489704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酒水高毛利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啤酒/饮品毛利60–70%，夜宵场景酒水拉高客单与利润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5239512"/>
            <a:ext cx="502920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● </a:t>
            </a:r>
            <a:r>
              <a:rPr sz="1250" b="1">
                <a:solidFill>
                  <a:srgbClr val="222A33"/>
                </a:solidFill>
                <a:latin typeface="Microsoft YaHei"/>
              </a:rPr>
              <a:t>新店流量红利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</a:rPr>
              <a:t>   点评90天加权+外卖7天扶持，数字化工具=免费拿公域曝光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COMPETITION · 竞争格局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滨江长河3公里夜宵烧烤竞对扫描</a:t>
            </a:r>
            <a:r>
              <a:rPr sz="1200" b="0">
                <a:solidFill>
                  <a:srgbClr val="FFB87A"/>
                </a:solidFill>
                <a:latin typeface="Microsoft YaHei"/>
              </a:rPr>
              <a:t>   ⚠️区域典型样本·开业前实地复核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老板只关心「这条街谁跟我抢生意」。聚焦金铂湾周边小龙虾/烧烤/夜宵，找出我能切的那块蛋糕。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solidFill>
            <a:srgbClr val="122A4A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37360"/>
            <a:ext cx="23225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竞对类型（周边典型）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737360"/>
            <a:ext cx="914400" cy="457200"/>
          </a:xfrm>
          <a:prstGeom prst="rect">
            <a:avLst/>
          </a:prstGeom>
          <a:solidFill>
            <a:srgbClr val="122A4A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1737360"/>
            <a:ext cx="76809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人均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37360"/>
            <a:ext cx="3246120" cy="457200"/>
          </a:xfrm>
          <a:prstGeom prst="rect">
            <a:avLst/>
          </a:prstGeom>
          <a:solidFill>
            <a:srgbClr val="122A4A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05072" y="1737360"/>
            <a:ext cx="309981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核心弱点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1737360"/>
            <a:ext cx="3657600" cy="457200"/>
          </a:xfrm>
          <a:prstGeom prst="rect">
            <a:avLst/>
          </a:prstGeom>
          <a:solidFill>
            <a:srgbClr val="122A4A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51192" y="1737360"/>
            <a:ext cx="351129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新豪仔的切入机会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24688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94560"/>
            <a:ext cx="22860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Microsoft YaHei"/>
              </a:rPr>
              <a:t>街边烧烤摊/大排档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194560"/>
            <a:ext cx="9144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194560"/>
            <a:ext cx="7315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¥40–60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2194560"/>
            <a:ext cx="3246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2194560"/>
            <a:ext cx="30632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环境差、无堂食体验、不能开票、卫生存疑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219456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2194560"/>
            <a:ext cx="34747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「干净明档+融合菜+刷卡开票」拉高一档，抢有品质要求的白领夜宵客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63240"/>
            <a:ext cx="246888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63240"/>
            <a:ext cx="22860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Microsoft YaHei"/>
              </a:rPr>
              <a:t>纯小龙虾专门店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3063240"/>
            <a:ext cx="91440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0" y="3063240"/>
            <a:ext cx="731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¥90–120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3063240"/>
            <a:ext cx="324612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3063240"/>
            <a:ext cx="30632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季节性强、淡季冷清、菜品单一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3063240"/>
            <a:ext cx="365760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80" y="3063240"/>
            <a:ext cx="34747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融合菜+烧烤补全季节，一年四季有理由来，复购更稳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4048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840480"/>
            <a:ext cx="22860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Microsoft YaHei"/>
              </a:rPr>
              <a:t>连锁烤肉/韩式烤肉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840480"/>
            <a:ext cx="914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08960" y="3840480"/>
            <a:ext cx="731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¥80–110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31920" y="3840480"/>
            <a:ext cx="3246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60" y="3840480"/>
            <a:ext cx="30632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同质化、缺本地特色、排队久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8040" y="38404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9480" y="3840480"/>
            <a:ext cx="34747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小龙虾差异化+夜宵酒水+扫码点餐快出餐，错位竞争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617720"/>
            <a:ext cx="246888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17720"/>
            <a:ext cx="22860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Microsoft YaHei"/>
              </a:rPr>
              <a:t>社区火锅/江湖菜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4617720"/>
            <a:ext cx="91440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4617720"/>
            <a:ext cx="731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¥70–90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920" y="4617720"/>
            <a:ext cx="324612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0" y="4617720"/>
            <a:ext cx="30632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夏季偏热不应季、出餐慢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78040" y="4617720"/>
            <a:ext cx="3657600" cy="777240"/>
          </a:xfrm>
          <a:prstGeom prst="rect">
            <a:avLst/>
          </a:prstGeom>
          <a:solidFill>
            <a:srgbClr val="EEF2F7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69480" y="4617720"/>
            <a:ext cx="34747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主打「夏夜限定」小龙虾+冰啤+烧烤抢应季流量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486400"/>
            <a:ext cx="11201400" cy="548640"/>
          </a:xfrm>
          <a:prstGeom prst="roundRect">
            <a:avLst/>
          </a:prstGeom>
          <a:solidFill>
            <a:srgbClr val="FF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486400"/>
            <a:ext cx="108813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🎯 总切入策略：</a:t>
            </a:r>
            <a:r>
              <a:rPr sz="1100" b="0">
                <a:solidFill>
                  <a:srgbClr val="222A33"/>
                </a:solidFill>
                <a:latin typeface="Microsoft YaHei"/>
              </a:rPr>
              <a:t>以「品质明档+融合菜全年款+夜宵酒水社交」错位街边摊与单一品类店，用扫码点餐解决高峰出餐，用点评/小红书把「滨江夜宵新地标」立住。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STRATEGY · 核心策略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开业90天三阶段作战地图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611880" cy="36576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3611880" cy="96012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3611880" cy="32004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36118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🚀 蓄水期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6118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开业前30天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97480"/>
            <a:ext cx="3209544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A33"/>
                </a:solidFill>
                <a:latin typeface="Microsoft YaHei"/>
              </a:rPr>
              <a:t>线上线下提前蓄客500+，点评商户页+预售团购上线，企微社群搭建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709160"/>
            <a:ext cx="3209544" cy="36576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目标 蓄客500+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54480"/>
            <a:ext cx="3611880" cy="36576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16552" y="1554480"/>
            <a:ext cx="3611880" cy="96012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2194560"/>
            <a:ext cx="3611880" cy="3200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1664208"/>
            <a:ext cx="36118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🔥 引爆期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148840"/>
            <a:ext cx="36118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开业1–14天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697480"/>
            <a:ext cx="3209544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A33"/>
                </a:solidFill>
                <a:latin typeface="Microsoft YaHei"/>
              </a:rPr>
              <a:t>控流量保出餐+冲首批50条优质评价+达人探店，外卖第2周上线抢扶持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709160"/>
            <a:ext cx="3209544" cy="36576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709160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目标 首周50评价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1554480"/>
            <a:ext cx="3611880" cy="365760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93024" y="1554480"/>
            <a:ext cx="3611880" cy="960120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93024" y="2194560"/>
            <a:ext cx="3611880" cy="320040"/>
          </a:xfrm>
          <a:prstGeom prst="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664208"/>
            <a:ext cx="36118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💎 沉淀期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2148840"/>
            <a:ext cx="36118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开业15–90天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697480"/>
            <a:ext cx="3209544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22A33"/>
                </a:solidFill>
                <a:latin typeface="Microsoft YaHei"/>
              </a:rPr>
              <a:t>推储值锁客+会员复购唤醒+点评冲热门榜，公私域闭环跑通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4709160"/>
            <a:ext cx="3209544" cy="365760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4709160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目标 会员500+储值¥4万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3017520"/>
            <a:ext cx="182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6D00"/>
                </a:solidFill>
                <a:latin typeface="Microsoft YaHei"/>
              </a:rPr>
              <a:t>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2" y="3017520"/>
            <a:ext cx="182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6D00"/>
                </a:solidFill>
                <a:latin typeface="Microsoft YaHei"/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2A4A"/>
                </a:solidFill>
                <a:latin typeface="Microsoft YaHei"/>
              </a:rPr>
              <a:t>贯穿三阶段的工具底座：</a:t>
            </a:r>
            <a:r>
              <a:rPr sz="1100" b="0">
                <a:solidFill>
                  <a:srgbClr val="6B7280"/>
                </a:solidFill>
                <a:latin typeface="Microsoft YaHei"/>
              </a:rPr>
              <a:t>智能收银 → 扫码点餐（高峰出餐）→ 会员/储值（锁客）→ 评价专家（口碑）→ 公私域联动（持续引流）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PRODUCT · 出餐提速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智能收银 + 扫码点餐：夜宵高峰不崩盘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2A33"/>
                </a:solidFill>
                <a:latin typeface="Microsoft YaHei"/>
              </a:rPr>
              <a:t>你的痛点：小龙虾+烧烤现制慢、21点后高峰人手紧 → 这两个功能直接解决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670048" cy="3017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2670048" cy="86868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377440"/>
            <a:ext cx="2670048" cy="3200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74520"/>
            <a:ext cx="2670048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Microsoft YaHei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31720"/>
            <a:ext cx="267004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扫码点餐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834640"/>
            <a:ext cx="2340864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顾客扫桌码自助下单，不用等服务员；高峰期省2名点单工，出餐指令直达后厨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" y="4370832"/>
            <a:ext cx="2340864" cy="384048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70832"/>
            <a:ext cx="234086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高峰漏单趋零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1828800"/>
            <a:ext cx="2670048" cy="3017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20440" y="1828800"/>
            <a:ext cx="2670048" cy="86868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2377440"/>
            <a:ext cx="2670048" cy="3200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1874520"/>
            <a:ext cx="2670048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Microsoft YaHei"/>
              </a:rPr>
              <a:t>🖥️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31720"/>
            <a:ext cx="267004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智能收银一体机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2834640"/>
            <a:ext cx="2340864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点单/收银/会员/库存一体，新店员上手快；支持刷卡/扫码/开发票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4370832"/>
            <a:ext cx="2340864" cy="384048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5032" y="4370832"/>
            <a:ext cx="234086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收银效率↑40%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828800"/>
            <a:ext cx="2670048" cy="3017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828800"/>
            <a:ext cx="2670048" cy="86868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2377440"/>
            <a:ext cx="2670048" cy="3200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874520"/>
            <a:ext cx="2670048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Microsoft YaHei"/>
              </a:rPr>
              <a:t>🖨️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331720"/>
            <a:ext cx="267004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后厨分单打印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2834640"/>
            <a:ext cx="2340864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小龙虾档/烧烤档/凉菜档自动分单，不串单、不漏菜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9672" y="4370832"/>
            <a:ext cx="2340864" cy="384048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4370832"/>
            <a:ext cx="234086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出餐提速30%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1828800"/>
            <a:ext cx="2670048" cy="3017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89720" y="1828800"/>
            <a:ext cx="2670048" cy="86868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89720" y="2377440"/>
            <a:ext cx="2670048" cy="3200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9720" y="1874520"/>
            <a:ext cx="2670048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Microsoft YaHei"/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2331720"/>
            <a:ext cx="267004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手机看经营数据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2" y="2834640"/>
            <a:ext cx="2340864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老板手机随时看营业额/桌数/爆款排行，不用守店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54312" y="4370832"/>
            <a:ext cx="2340864" cy="384048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54312" y="4370832"/>
            <a:ext cx="234086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数据决策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074920"/>
            <a:ext cx="10789920" cy="105156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93792"/>
            <a:ext cx="10424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6D00"/>
                </a:solidFill>
                <a:latin typeface="Microsoft YaHei"/>
              </a:rPr>
              <a:t>💡 场景化效果：</a:t>
            </a:r>
            <a:r>
              <a:rPr sz="1200" b="0">
                <a:solidFill>
                  <a:srgbClr val="FFFFFF"/>
                </a:solidFill>
                <a:latin typeface="Microsoft YaHei"/>
              </a:rPr>
              <a:t>开业首周高峰，4桌客人同时扫码下单→后厨3档分单并行→烧烤先上、小龙虾随后，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       顾客感知「上菜快」而非「等太久」→ 直接避开烧烤店头号差评，首批评价稳住4.5★+。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MEMBER · 会员体系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双层会员：储值锁客 + 等级养客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611880" cy="4297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3611880" cy="713232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3611880" cy="256032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6118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💳 储值会员（钱包型）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核心：预存换优惠，锁定未来消费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82112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入会：充值即开通，扫码弹窗引导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986784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权益：储值专属价+赠金+生日双倍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91456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目标：开业首月回笼现金流¥4万+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463040"/>
            <a:ext cx="3611880" cy="4297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16552" y="1463040"/>
            <a:ext cx="3611880" cy="713232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1920240"/>
            <a:ext cx="3611880" cy="25603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1554480"/>
            <a:ext cx="36118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⭐ 等级会员（成长型）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377440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核心：累计消费升级，权益递进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182112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入会：扫码点餐首单自动注册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86784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权益：银卡9.5折/金卡9折+优先订位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791456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目标：开业90天会员破800人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1463040"/>
            <a:ext cx="3611880" cy="4297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93024" y="1463040"/>
            <a:ext cx="3611880" cy="713232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93024" y="1920240"/>
            <a:ext cx="3611880" cy="256032"/>
          </a:xfrm>
          <a:prstGeom prst="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1554480"/>
            <a:ext cx="36118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🔗 两层联动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377440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储值解决「锁客」，等级解决「养客」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182112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金卡享更高储值赠送比例（充500送80）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86784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沉睡会员自动推券唤醒（30天未到店）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791456"/>
            <a:ext cx="3209544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EA06A"/>
                </a:solidFill>
                <a:latin typeface="Microsoft YaHei"/>
              </a:rPr>
              <a:t>▸ 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会员消费数据反哺爆款与排班决策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STORED VALUE · 储值方案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适配¥80客单的「够得着」储值档</a:t>
            </a:r>
            <a:r>
              <a:rPr sz="1200" b="0">
                <a:solidFill>
                  <a:srgbClr val="FFB87A"/>
                </a:solidFill>
                <a:latin typeface="Microsoft YaHei"/>
              </a:rPr>
              <a:t>   开业第2-3周推出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22A33"/>
                </a:solidFill>
                <a:latin typeface="Microsoft YaHei"/>
              </a:rPr>
              <a:t>¥80人均的烧烤夜宵店属中客单中频，主推档=客单×3–5次≈¥300，让客人「3-5次用完」，心理负担最小。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5740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2A4A"/>
            </a:solidFill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57400"/>
            <a:ext cx="3383280" cy="7772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3383280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33832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体验档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3383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22A4A"/>
                </a:solidFill>
                <a:latin typeface="Microsoft YaHei"/>
              </a:rPr>
              <a:t>充200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7280"/>
                </a:solidFill>
                <a:latin typeface="Microsoft YaHei"/>
              </a:rPr>
              <a:t>送20  (约9.1折)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4251960"/>
            <a:ext cx="2834640" cy="731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51960"/>
            <a:ext cx="26517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试水门槛，开业首周限时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205740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6D00"/>
            </a:solidFill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2057400"/>
            <a:ext cx="3383280" cy="77724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2560320"/>
            <a:ext cx="3383280" cy="27432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2167128"/>
            <a:ext cx="33832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⭐ 主推档 主推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971800"/>
            <a:ext cx="3383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6D00"/>
                </a:solidFill>
                <a:latin typeface="Microsoft YaHei"/>
              </a:rPr>
              <a:t>充300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611880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6D00"/>
                </a:solidFill>
                <a:latin typeface="Microsoft YaHei"/>
              </a:rPr>
              <a:t>送50  (约8.6折)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4251960"/>
            <a:ext cx="2834640" cy="731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960"/>
            <a:ext cx="26517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≈4次消费用完，转化最高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205740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22A4A"/>
            </a:solidFill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92440" y="2057400"/>
            <a:ext cx="3383280" cy="7772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2440" y="2560320"/>
            <a:ext cx="3383280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167128"/>
            <a:ext cx="33832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尊享档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2971800"/>
            <a:ext cx="33832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22A4A"/>
                </a:solidFill>
                <a:latin typeface="Microsoft YaHei"/>
              </a:rPr>
              <a:t>充500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611880"/>
            <a:ext cx="3383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7280"/>
                </a:solidFill>
                <a:latin typeface="Microsoft YaHei"/>
              </a:rPr>
              <a:t>送100  (约8.3折)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4251960"/>
            <a:ext cx="2834640" cy="7315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4251960"/>
            <a:ext cx="265176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Microsoft YaHei"/>
              </a:rPr>
              <a:t>赠金+升金卡，绑定高频客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440680"/>
            <a:ext cx="10607040" cy="777240"/>
          </a:xfrm>
          <a:prstGeom prst="roundRect">
            <a:avLst/>
          </a:prstGeom>
          <a:solidFill>
            <a:srgbClr val="FF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D00"/>
                </a:solidFill>
                <a:latin typeface="Microsoft YaHei"/>
              </a:rPr>
              <a:t>📌 收银台话术：</a:t>
            </a:r>
            <a:r>
              <a:rPr sz="1150" b="0">
                <a:solidFill>
                  <a:srgbClr val="222A33"/>
                </a:solidFill>
                <a:latin typeface="Microsoft YaHei"/>
              </a:rPr>
              <a:t>「您今天消费¥82，充¥300刚好够4次，赠¥50还能升金卡，下次直接刷就行」——结账每桌必问，开口率目标≥80%。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OMNICHANNEL · 公私域联动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从公域拉新到私域复购的一条闭环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70048" cy="39319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70048" cy="77724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2670048" cy="2743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486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64208"/>
            <a:ext cx="1847088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公域引流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14600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大众点评：商户页+预售团购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+90天新店推广通精准曝光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41064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小红书：滨江夜宵打卡探店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54296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抖音：现烤烟火气短视频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91840"/>
            <a:ext cx="182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D00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554480"/>
            <a:ext cx="2670048" cy="39319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1554480"/>
            <a:ext cx="2670048" cy="77724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4992" y="2057400"/>
            <a:ext cx="2670048" cy="27432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1664208"/>
            <a:ext cx="5486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1664208"/>
            <a:ext cx="1847088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到店转化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514600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扫码点餐=自动注册会员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3227832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结账弹储值推荐(每桌必问)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3941064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峰值体验:小龙虾上桌仪式感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4654296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6D00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终值:结账弹好评页+离店券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6752" y="3291840"/>
            <a:ext cx="182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D00"/>
                </a:solidFill>
                <a:latin typeface="Microsoft YaHei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1554480"/>
            <a:ext cx="2670048" cy="39319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81344" y="1554480"/>
            <a:ext cx="2670048" cy="777240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1344" y="2057400"/>
            <a:ext cx="2670048" cy="274320"/>
          </a:xfrm>
          <a:prstGeom prst="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1664208"/>
            <a:ext cx="5486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664208"/>
            <a:ext cx="1847088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私域沉淀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2514600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A06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企微深夜食堂群,群内9折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3227832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A06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会员标签:新客/高频/沉睡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3941064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A06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储值锁客,等级养客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654296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A06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生日/节日自动推券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3104" y="3291840"/>
            <a:ext cx="182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D00"/>
                </a:solidFill>
                <a:latin typeface="Microsoft YaHei"/>
              </a:rPr>
              <a:t>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696" y="1554480"/>
            <a:ext cx="2670048" cy="393192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997696" y="1554480"/>
            <a:ext cx="2670048" cy="7772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97696" y="2057400"/>
            <a:ext cx="2670048" cy="27432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34856" y="1664208"/>
            <a:ext cx="5486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1664208"/>
            <a:ext cx="1847088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复购唤醒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514600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30天未到店→自动推券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3227832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小龙虾上新→群内首发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3941064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会员专属夜宵套餐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4654296"/>
            <a:ext cx="2304288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2A4A"/>
                </a:solidFill>
                <a:latin typeface="Microsoft YaHei"/>
              </a:rPr>
              <a:t>• </a:t>
            </a:r>
            <a:r>
              <a:rPr sz="1080" b="0">
                <a:solidFill>
                  <a:srgbClr val="222A33"/>
                </a:solidFill>
                <a:latin typeface="Microsoft YaHei"/>
              </a:rPr>
              <a:t>数据复盘→优化爆款排班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6235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2A4A"/>
                </a:solidFill>
                <a:latin typeface="Microsoft YaHei"/>
              </a:rPr>
              <a:t>🔁 闭环本质：</a:t>
            </a:r>
            <a:r>
              <a:rPr sz="1100" b="0">
                <a:solidFill>
                  <a:srgbClr val="6B7280"/>
                </a:solidFill>
                <a:latin typeface="Microsoft YaHei"/>
              </a:rPr>
              <a:t>公域花钱买的每一个新客,都通过扫码入会沉淀进私域,后续复购靠系统自动唤醒——广告费只花一次,客人反复来。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CALENDAR · 营销节奏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开业90天逐周作战日历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331720" cy="1911095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214884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蓄水期 · 开业前4周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417320"/>
            <a:ext cx="1371600" cy="512064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17320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前4周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417320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417320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点评商户页上线+20张图,企微社群搭建,小红书装修探店3篇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984248"/>
            <a:ext cx="1371600" cy="512064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1984248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前2周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1984248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984248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上线预售团购(小龙虾套餐),试营业7折磨合出餐,KOC控场攒首评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551176"/>
            <a:ext cx="1371600" cy="512064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2551176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前3天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551176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2551176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点评免费试上线,达人探店预约,食材1.5倍备货,员工话术演练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64408"/>
            <a:ext cx="2331720" cy="1344168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355848"/>
            <a:ext cx="214884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引爆期 · 开业1-2周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264408"/>
            <a:ext cx="1371600" cy="51206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264408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第1周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3264408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264408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开业三天啤酒买一送一+控流量保出餐,引导好评送饮品,冲50条优质评价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17520" y="3831336"/>
            <a:ext cx="1371600" cy="512064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3831336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第2周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0" y="3831336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3831336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折扣回调至8.8折,美团外卖上线抢7天扶持,抖音达人探店发布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44568"/>
            <a:ext cx="2331720" cy="1344168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636008"/>
            <a:ext cx="214884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沉淀期 · 开业3-12周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17520" y="4544568"/>
            <a:ext cx="1371600" cy="512064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4544568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第3-4周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4544568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544568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推储值(充300送50)+会员复购券,点评冲4.5★,企微群日常运营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5111496"/>
            <a:ext cx="1371600" cy="512064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5111496"/>
            <a:ext cx="137160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第5-12周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6280" y="5111496"/>
            <a:ext cx="7178040" cy="512064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5111496"/>
            <a:ext cx="694944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小龙虾旺季主推「夏夜限定」,冲点评热门榜,沉睡会员唤醒,数据复盘调爆款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OKR · 量化目标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开业90天可量化作战目标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目标拆到月,每月有抓手、有数字,月底能对账。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46304" cy="214884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FF6D00"/>
                </a:solidFill>
                <a:latin typeface="Microsoft YaHei"/>
              </a:rPr>
              <a:t>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2996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月营业额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37744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6D00"/>
                </a:solidFill>
                <a:latin typeface="Microsoft YaHei"/>
              </a:rPr>
              <a:t>¥24万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稳定期(第3月)目标,日均¥8K×30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146304" cy="214884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1A73E8"/>
                </a:solidFill>
                <a:latin typeface="Microsoft YaHei"/>
              </a:rPr>
              <a:t>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02996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大众点评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37744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Microsoft YaHei"/>
              </a:rPr>
              <a:t>4.5★ + 200评价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0040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新店90天攒真实评价,冲热门榜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82880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60" y="1828800"/>
            <a:ext cx="146304" cy="2148840"/>
          </a:xfrm>
          <a:prstGeom prst="roundRect">
            <a:avLst/>
          </a:prstGeom>
          <a:solidFill>
            <a:srgbClr val="1E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1EA06A"/>
                </a:solidFill>
                <a:latin typeface="Microsoft YaHei"/>
              </a:rPr>
              <a:t>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02996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会员总数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7744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EA06A"/>
                </a:solidFill>
                <a:latin typeface="Microsoft YaHei"/>
              </a:rPr>
              <a:t>800+人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20040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扫码点餐自动入会沉淀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16052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4160520"/>
            <a:ext cx="146304" cy="2148840"/>
          </a:xfrm>
          <a:prstGeom prst="roundRect">
            <a:avLst/>
          </a:prstGeom>
          <a:solidFill>
            <a:srgbClr val="E8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E8A817"/>
                </a:solidFill>
                <a:latin typeface="Microsoft YaHei"/>
              </a:rPr>
              <a:t>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36168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储值入账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70916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8A817"/>
                </a:solidFill>
                <a:latin typeface="Microsoft YaHei"/>
              </a:rPr>
              <a:t>¥4万/月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53212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首月15-20%营业额转储值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416052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89120" y="4160520"/>
            <a:ext cx="146304" cy="2148840"/>
          </a:xfrm>
          <a:prstGeom prst="roundRect">
            <a:avLst/>
          </a:prstGeom>
          <a:solidFill>
            <a:srgbClr val="E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434340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E53A3A"/>
                </a:solidFill>
                <a:latin typeface="Microsoft YaHei"/>
              </a:rPr>
              <a:t>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436168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外卖日单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70916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53A3A"/>
                </a:solidFill>
                <a:latin typeface="Microsoft YaHei"/>
              </a:rPr>
              <a:t>60单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553212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开业第2周上线抢7天扶持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160" y="4160520"/>
            <a:ext cx="3584448" cy="21488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8160" y="4160520"/>
            <a:ext cx="146304" cy="21488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4343400"/>
            <a:ext cx="8229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0">
                <a:solidFill>
                  <a:srgbClr val="122A4A"/>
                </a:solidFill>
                <a:latin typeface="Microsoft YaHei"/>
              </a:rPr>
              <a:t>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4361688"/>
            <a:ext cx="230428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复购率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709160"/>
            <a:ext cx="2304288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22A4A"/>
                </a:solidFill>
                <a:latin typeface="Microsoft YaHei"/>
              </a:rPr>
              <a:t>35%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532120"/>
            <a:ext cx="3127248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Microsoft YaHei"/>
              </a:rPr>
              <a:t>会员唤醒+储值锁客拉动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118872" cy="5486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"/>
            <a:ext cx="10515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8CBE0"/>
                </a:solidFill>
                <a:latin typeface="Microsoft YaHei"/>
              </a:rPr>
              <a:t>ROI · 投资回报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5488"/>
            <a:ext cx="1115568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算清账：投入多少，多久回本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120640" cy="466344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46634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2A4A"/>
                </a:solidFill>
                <a:latin typeface="Microsoft YaHei"/>
              </a:rPr>
              <a:t>💼 投入明细(参考)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46634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84832"/>
            <a:ext cx="310896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22A33"/>
                </a:solidFill>
                <a:latin typeface="Microsoft YaHei"/>
              </a:rPr>
              <a:t>软件·餐饮管理高级营销版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含收银+扫码点餐+会员旗舰+小程序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84832"/>
            <a:ext cx="132588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6D00"/>
                </a:solidFill>
                <a:latin typeface="Microsoft YaHei"/>
              </a:rPr>
              <a:t>¥6,288/年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07792"/>
            <a:ext cx="46634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80944"/>
            <a:ext cx="310896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22A33"/>
                </a:solidFill>
                <a:latin typeface="Microsoft YaHei"/>
              </a:rPr>
              <a:t>硬件·收银一体机+扫码盒+打印机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一次性,按门店配置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980944"/>
            <a:ext cx="132588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6D00"/>
                </a:solidFill>
                <a:latin typeface="Microsoft YaHei"/>
              </a:rPr>
              <a:t>约¥3,000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03904"/>
            <a:ext cx="46634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77056"/>
            <a:ext cx="310896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22A33"/>
                </a:solidFill>
                <a:latin typeface="Microsoft YaHei"/>
              </a:rPr>
              <a:t>评价专家(口碑必备)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新店90天攒评价关键工具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877056"/>
            <a:ext cx="132588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6D00"/>
                </a:solidFill>
                <a:latin typeface="Microsoft YaHei"/>
              </a:rPr>
              <a:t>按标价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700016"/>
            <a:ext cx="466344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73168"/>
            <a:ext cx="3108960" cy="7132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22A33"/>
                </a:solidFill>
                <a:latin typeface="Microsoft YaHei"/>
              </a:rPr>
              <a:t>开业营销预算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点评推广+达人+物料+折扣让利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773168"/>
            <a:ext cx="132588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6D00"/>
                </a:solidFill>
                <a:latin typeface="Microsoft YaHei"/>
              </a:rPr>
              <a:t>¥1.1–1.9万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4663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</a:rPr>
              <a:t>套餐外单独模块以标价为准,成交价BD当面沟通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1371600"/>
            <a:ext cx="5760720" cy="46634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1508760"/>
            <a:ext cx="5303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📈 月增收测算(稳定期)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011680"/>
            <a:ext cx="5303520" cy="6400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011680"/>
            <a:ext cx="27432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扫码点餐省人力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B4D0"/>
                </a:solidFill>
                <a:latin typeface="Microsoft YaHei"/>
              </a:rPr>
              <a:t>省2名兼职点单工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011680"/>
            <a:ext cx="224028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6D00"/>
                </a:solidFill>
                <a:latin typeface="Microsoft YaHei"/>
              </a:rPr>
              <a:t>+¥4,000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724912"/>
            <a:ext cx="5303520" cy="6400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724912"/>
            <a:ext cx="27432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储值现金流回笼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B4D0"/>
                </a:solidFill>
                <a:latin typeface="Microsoft YaHei"/>
              </a:rPr>
              <a:t>首月,锁未来消费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724912"/>
            <a:ext cx="224028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6D00"/>
                </a:solidFill>
                <a:latin typeface="Microsoft YaHei"/>
              </a:rPr>
              <a:t>+¥4万入账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438144"/>
            <a:ext cx="5303520" cy="6400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438144"/>
            <a:ext cx="27432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会员复购提升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B4D0"/>
                </a:solidFill>
                <a:latin typeface="Microsoft YaHei"/>
              </a:rPr>
              <a:t>800会员×复购拉动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438144"/>
            <a:ext cx="224028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6D00"/>
                </a:solidFill>
                <a:latin typeface="Microsoft YaHei"/>
              </a:rPr>
              <a:t>+¥6,000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4151376"/>
            <a:ext cx="5303520" cy="6400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151376"/>
            <a:ext cx="27432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外卖增量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B4D0"/>
                </a:solidFill>
                <a:latin typeface="Microsoft YaHei"/>
              </a:rPr>
              <a:t>第2周上线新增渠道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4151376"/>
            <a:ext cx="224028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6D00"/>
                </a:solidFill>
                <a:latin typeface="Microsoft YaHei"/>
              </a:rPr>
              <a:t>+¥3,000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910328"/>
            <a:ext cx="5303520" cy="914400"/>
          </a:xfrm>
          <a:prstGeom prst="round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910328"/>
            <a:ext cx="51206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💡 月经营性增收 ≈ ¥1.3万 + 储值¥4万现金回笼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软硬件投入约¥9千 → 1个月内即可回本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AAB2BC"/>
                </a:solidFill>
                <a:latin typeface="Microsoft YaHei"/>
              </a:rPr>
              <a:t>新豪仔小龙虾烧烤融合菜 · 数字化经营解决方案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C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164592" cy="109728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914400"/>
            <a:ext cx="100584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新豪仔小龙虾 × 美团收银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F9A4A"/>
                </a:solidFill>
                <a:latin typeface="Microsoft YaHei"/>
              </a:rPr>
              <a:t>让新店从开业第一天就赢在数字化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2057400" cy="20116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057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6D00"/>
                </a:solidFill>
                <a:latin typeface="Microsoft YaHei"/>
              </a:rPr>
              <a:t>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2057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开业即用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40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8CBE0"/>
                </a:solidFill>
                <a:latin typeface="Microsoft YaHei"/>
              </a:rPr>
              <a:t>抢90天新店红利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26664" y="2606040"/>
            <a:ext cx="2057400" cy="20116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6664" y="2834640"/>
            <a:ext cx="2057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6D00"/>
                </a:solidFill>
                <a:latin typeface="Microsoft YaHe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3520440"/>
            <a:ext cx="2057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出餐不崩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6664" y="3977640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8CBE0"/>
                </a:solidFill>
                <a:latin typeface="Microsoft YaHei"/>
              </a:rPr>
              <a:t>扫码点餐保高峰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2606040"/>
            <a:ext cx="2057400" cy="20116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834640"/>
            <a:ext cx="2057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6D00"/>
                </a:solidFill>
                <a:latin typeface="Microsoft YaHei"/>
              </a:rPr>
              <a:t>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3520440"/>
            <a:ext cx="2057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锁客回款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3977640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8CBE0"/>
                </a:solidFill>
                <a:latin typeface="Microsoft YaHei"/>
              </a:rPr>
              <a:t>储值首月¥4万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34072" y="2606040"/>
            <a:ext cx="2057400" cy="20116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34072" y="2834640"/>
            <a:ext cx="2057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6D00"/>
                </a:solidFill>
                <a:latin typeface="Microsoft YaHei"/>
              </a:rPr>
              <a:t>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3520440"/>
            <a:ext cx="2057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公私域闭环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977640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8CBE0"/>
                </a:solidFill>
                <a:latin typeface="Microsoft YaHei"/>
              </a:rPr>
              <a:t>广告费只花一次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37776" y="2606040"/>
            <a:ext cx="2057400" cy="2011680"/>
          </a:xfrm>
          <a:prstGeom prst="roundRect">
            <a:avLst/>
          </a:prstGeom>
          <a:solidFill>
            <a:srgbClr val="1B395C"/>
          </a:solidFill>
          <a:ln>
            <a:noFill/>
          </a:ln>
          <a:effectLst/>
          <a:effectLst>
            <a:outerShdw blurRad="60000" dist="25000" dir="5400000" rotWithShape="0">
              <a:srgbClr val="333333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37776" y="2834640"/>
            <a:ext cx="2057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>
                <a:solidFill>
                  <a:srgbClr val="FF6D00"/>
                </a:solidFill>
                <a:latin typeface="Microsoft YaHei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520440"/>
            <a:ext cx="2057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口碑立住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3977640"/>
            <a:ext cx="2057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8CBE0"/>
                </a:solidFill>
                <a:latin typeface="Microsoft YaHei"/>
              </a:rPr>
              <a:t>点评冲4.5★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492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开业只有一次,数字化底座要在第一天就打好。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CC2"/>
                </a:solidFill>
                <a:latin typeface="Microsoft YaHei"/>
              </a:rPr>
              <a:t>美团餐饮SaaS运营策划团队  |  2026年6月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