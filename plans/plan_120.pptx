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C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64592" cy="13716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28016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B87A"/>
                </a:solidFill>
                <a:latin typeface="WenQuanYi Micro Hei"/>
              </a:rPr>
              <a:t>MEITUAN · 餐饮数字化经营解决方案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5156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>
                <a:solidFill>
                  <a:srgbClr val="FFFFFF"/>
                </a:solidFill>
                <a:latin typeface="WenQuanYi Micro Hei"/>
              </a:rPr>
              <a:t>新豪仔小龙虾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>
                <a:solidFill>
                  <a:srgbClr val="FF9A4A"/>
                </a:solidFill>
                <a:latin typeface="WenQuanYi Micro Hei"/>
              </a:rPr>
              <a:t>烧烤 · 融合菜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84048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>
                <a:solidFill>
                  <a:srgbClr val="CFDCEC"/>
                </a:solidFill>
                <a:latin typeface="WenQuanYi Micro Hei"/>
              </a:rPr>
              <a:t>新店开业冷启动 × 公私域一体化运营方案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4480560"/>
            <a:ext cx="1495044" cy="402336"/>
          </a:xfrm>
          <a:prstGeom prst="roundRect">
            <a:avLst/>
          </a:prstGeom>
          <a:solidFill>
            <a:srgbClr val="1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480560"/>
            <a:ext cx="1495044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WenQuanYi Micro Hei"/>
              </a:rPr>
              <a:t>📍杭州滨江·金铂湾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4348" y="4480560"/>
            <a:ext cx="1495044" cy="402336"/>
          </a:xfrm>
          <a:prstGeom prst="roundRect">
            <a:avLst/>
          </a:prstGeom>
          <a:solidFill>
            <a:srgbClr val="1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4348" y="4480560"/>
            <a:ext cx="1495044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WenQuanYi Micro Hei"/>
              </a:rPr>
              <a:t>🍤小龙虾+烧烤融合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4480560"/>
            <a:ext cx="1124712" cy="402336"/>
          </a:xfrm>
          <a:prstGeom prst="roundRect">
            <a:avLst/>
          </a:prstGeom>
          <a:solidFill>
            <a:srgbClr val="1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5696" y="4480560"/>
            <a:ext cx="1124712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WenQuanYi Micro Hei"/>
              </a:rPr>
              <a:t>👥人均¥80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96712" y="4480560"/>
            <a:ext cx="1001268" cy="402336"/>
          </a:xfrm>
          <a:prstGeom prst="roundRect">
            <a:avLst/>
          </a:prstGeom>
          <a:solidFill>
            <a:srgbClr val="1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96712" y="4480560"/>
            <a:ext cx="1001268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WenQuanYi Micro Hei"/>
              </a:rPr>
              <a:t>🏪200㎡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44284" y="4480560"/>
            <a:ext cx="1124712" cy="402336"/>
          </a:xfrm>
          <a:prstGeom prst="roundRect">
            <a:avLst/>
          </a:prstGeom>
          <a:solidFill>
            <a:srgbClr val="1C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4284" y="4480560"/>
            <a:ext cx="1124712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WenQuanYi Micro Hei"/>
              </a:rPr>
              <a:t>🆕未开业新店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760720"/>
            <a:ext cx="7315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AACC2"/>
                </a:solidFill>
                <a:latin typeface="WenQuanYi Micro Hei"/>
              </a:rPr>
              <a:t>美团餐饮SaaS运营策划团队  |  2026年6月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5760720"/>
            <a:ext cx="3108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E8098"/>
                </a:solidFill>
                <a:latin typeface="WenQuanYi Micro Hei"/>
              </a:rPr>
              <a:t>门店ID 1024066744378845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118872" cy="54864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"/>
            <a:ext cx="10515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8CBE0"/>
                </a:solidFill>
                <a:latin typeface="WenQuanYi Micro Hei"/>
              </a:rPr>
              <a:t>OVERVIEW · 方案导读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1115568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WenQuanYi Micro Hei"/>
              </a:rPr>
              <a:t>为什么开业前就要把数字化打好底座？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107899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2A33"/>
                </a:solidFill>
                <a:latin typeface="WenQuanYi Micro Hei"/>
              </a:rPr>
              <a:t>你的店还没开业，正处于「建联挖需」阶段——这恰恰是最好的时机。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7280"/>
                </a:solidFill>
                <a:latin typeface="WenQuanYi Micro Hei"/>
              </a:rPr>
              <a:t>大众点评对新店有90天流量加权、外卖前7天有扶持，错过就要花3倍预算去抢回来。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377440"/>
            <a:ext cx="2670048" cy="324612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2377440"/>
            <a:ext cx="2670048" cy="731520"/>
          </a:xfrm>
          <a:prstGeom prst="round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834640"/>
            <a:ext cx="2670048" cy="27432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32304"/>
            <a:ext cx="2670048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0">
                <a:solidFill>
                  <a:srgbClr val="FFFFFF"/>
                </a:solidFill>
                <a:latin typeface="WenQuanYi Micro Hei"/>
              </a:rPr>
              <a:t>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7208" y="2487168"/>
            <a:ext cx="420624" cy="420624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07208" y="2487168"/>
            <a:ext cx="420624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</a:rPr>
              <a:t>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246120"/>
            <a:ext cx="2340864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22A4A"/>
                </a:solidFill>
                <a:latin typeface="WenQuanYi Micro Hei"/>
              </a:rPr>
              <a:t>只有一次的新店红利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886200"/>
            <a:ext cx="2340864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22A33"/>
                </a:solidFill>
                <a:latin typeface="WenQuanYi Micro Hei"/>
              </a:rPr>
              <a:t>点评90天流量加权+外卖7天扶持。开业即用收银+扫码点餐+会员，等于免费拿一波公域曝光。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2377440"/>
            <a:ext cx="2670048" cy="324612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20440" y="2377440"/>
            <a:ext cx="2670048" cy="731520"/>
          </a:xfrm>
          <a:prstGeom prst="round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2834640"/>
            <a:ext cx="2670048" cy="27432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2432304"/>
            <a:ext cx="2670048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0">
                <a:solidFill>
                  <a:srgbClr val="FFFFFF"/>
                </a:solidFill>
                <a:latin typeface="WenQuanYi Micro Hei"/>
              </a:rPr>
              <a:t>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41848" y="2487168"/>
            <a:ext cx="420624" cy="420624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41848" y="2487168"/>
            <a:ext cx="420624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</a:rPr>
              <a:t>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5032" y="3246120"/>
            <a:ext cx="2340864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22A4A"/>
                </a:solidFill>
                <a:latin typeface="WenQuanYi Micro Hei"/>
              </a:rPr>
              <a:t>开业即巅峰的陷阱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85032" y="3886200"/>
            <a:ext cx="2340864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22A33"/>
                </a:solidFill>
                <a:latin typeface="WenQuanYi Micro Hei"/>
              </a:rPr>
              <a:t>烧烤店头号死法：开业打骨折→人爆满→出餐崩→差评暴增。前10条评价决定后面所有顾客印象。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2377440"/>
            <a:ext cx="2670048" cy="324612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2377440"/>
            <a:ext cx="2670048" cy="731520"/>
          </a:xfrm>
          <a:prstGeom prst="round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2834640"/>
            <a:ext cx="2670048" cy="27432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2432304"/>
            <a:ext cx="2670048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0">
                <a:solidFill>
                  <a:srgbClr val="FFFFFF"/>
                </a:solidFill>
                <a:latin typeface="WenQuanYi Micro Hei"/>
              </a:rPr>
              <a:t>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76488" y="2487168"/>
            <a:ext cx="420624" cy="420624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76488" y="2487168"/>
            <a:ext cx="420624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</a:rPr>
              <a:t>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3246120"/>
            <a:ext cx="2340864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22A4A"/>
                </a:solidFill>
                <a:latin typeface="WenQuanYi Micro Hei"/>
              </a:rPr>
              <a:t>现金流回笼靠储值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9672" y="3886200"/>
            <a:ext cx="2340864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22A33"/>
                </a:solidFill>
                <a:latin typeface="WenQuanYi Micro Hei"/>
              </a:rPr>
              <a:t>¥80客单的烧烤夜宵复购频次高，开业2-3周推储值，把首月15-20%营业额提前锁进账户。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9720" y="2377440"/>
            <a:ext cx="2670048" cy="324612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89720" y="2377440"/>
            <a:ext cx="2670048" cy="731520"/>
          </a:xfrm>
          <a:prstGeom prst="round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89720" y="2834640"/>
            <a:ext cx="2670048" cy="27432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2432304"/>
            <a:ext cx="2670048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0">
                <a:solidFill>
                  <a:srgbClr val="FFFFFF"/>
                </a:solidFill>
                <a:latin typeface="WenQuanYi Micro Hei"/>
              </a:rPr>
              <a:t>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11128" y="2487168"/>
            <a:ext cx="420624" cy="420624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11128" y="2487168"/>
            <a:ext cx="420624" cy="42062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</a:rPr>
              <a:t>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54312" y="3246120"/>
            <a:ext cx="2340864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22A4A"/>
                </a:solidFill>
                <a:latin typeface="WenQuanYi Micro Hei"/>
              </a:rPr>
              <a:t>一次获客反复用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54312" y="3886200"/>
            <a:ext cx="2340864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22A33"/>
                </a:solidFill>
                <a:latin typeface="WenQuanYi Micro Hei"/>
              </a:rPr>
              <a:t>桌贴码扫码点餐自动入会，把开业涌入的客人沉淀成私域，后续唤醒不花一分广告费。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AAB2BC"/>
                </a:solidFill>
                <a:latin typeface="WenQuanYi Micro Hei"/>
              </a:rPr>
              <a:t>新豪仔小龙虾烧烤融合菜 · 数字化经营解决方案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WenQuanYi Micro 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118872" cy="54864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"/>
            <a:ext cx="10515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8CBE0"/>
                </a:solidFill>
                <a:latin typeface="WenQuanYi Micro Hei"/>
              </a:rPr>
              <a:t>DIAGNOSIS · 门店诊断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1115568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WenQuanYi Micro Hei"/>
              </a:rPr>
              <a:t>门店画像 &amp; 数据基石</a:t>
            </a:r>
            <a:r>
              <a:rPr sz="1200" b="0">
                <a:solidFill>
                  <a:srgbClr val="FFB87A"/>
                </a:solidFill>
                <a:latin typeface="WenQuanYi Micro Hei"/>
              </a:rPr>
              <a:t>   ⚠️未开业·数据为行业模型测算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5212080" cy="47548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47548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22A4A"/>
                </a:solidFill>
                <a:latin typeface="WenQuanYi Micro Hei"/>
              </a:rPr>
              <a:t>🏪 门店基础画像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965960"/>
            <a:ext cx="4754880" cy="512064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128016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6D00"/>
                </a:solidFill>
                <a:latin typeface="WenQuanYi Micro Hei"/>
              </a:rPr>
              <a:t>品类定位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965960"/>
            <a:ext cx="329184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WenQuanYi Micro Hei"/>
              </a:rPr>
              <a:t>小龙虾+烧烤+融合菜（特色菜·正餐）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496312"/>
            <a:ext cx="475488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496312"/>
            <a:ext cx="128016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6D00"/>
                </a:solidFill>
                <a:latin typeface="WenQuanYi Micro Hei"/>
              </a:rPr>
              <a:t>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2496312"/>
            <a:ext cx="329184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WenQuanYi Micro Hei"/>
              </a:rPr>
              <a:t>杭州滨江·长河街道 金铂湾大厦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026664"/>
            <a:ext cx="4754880" cy="512064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026664"/>
            <a:ext cx="128016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6D00"/>
                </a:solidFill>
                <a:latin typeface="WenQuanYi Micro Hei"/>
              </a:rPr>
              <a:t>面积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026664"/>
            <a:ext cx="329184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WenQuanYi Micro Hei"/>
              </a:rPr>
              <a:t>200㎡ ≈ 60–75座（含夜宵外摆潜力）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557016"/>
            <a:ext cx="475488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557016"/>
            <a:ext cx="128016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6D00"/>
                </a:solidFill>
                <a:latin typeface="WenQuanYi Micro Hei"/>
              </a:rPr>
              <a:t>人均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3557016"/>
            <a:ext cx="329184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WenQuanYi Micro Hei"/>
              </a:rPr>
              <a:t>¥80（精品烧烤档，高于街边摊）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087368"/>
            <a:ext cx="4754880" cy="512064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087368"/>
            <a:ext cx="128016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6D00"/>
                </a:solidFill>
                <a:latin typeface="WenQuanYi Micro Hei"/>
              </a:rPr>
              <a:t>阶段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087368"/>
            <a:ext cx="329184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WenQuanYi Micro Hei"/>
              </a:rPr>
              <a:t>未开业新店 · 建联挖需 · 0–30天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617720"/>
            <a:ext cx="4754880" cy="512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617720"/>
            <a:ext cx="128016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6D00"/>
                </a:solidFill>
                <a:latin typeface="WenQuanYi Micro Hei"/>
              </a:rPr>
              <a:t>SaaS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4617720"/>
            <a:ext cx="329184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WenQuanYi Micro Hei"/>
              </a:rPr>
              <a:t>智能版收银（假设含基础会员+扫码点餐）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148072"/>
            <a:ext cx="4754880" cy="512064"/>
          </a:xfrm>
          <a:prstGeom prst="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148072"/>
            <a:ext cx="128016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6D00"/>
                </a:solidFill>
                <a:latin typeface="WenQuanYi Micro Hei"/>
              </a:rPr>
              <a:t>KP/触达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8840" y="5148072"/>
            <a:ext cx="329184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WenQuanYi Micro Hei"/>
              </a:rPr>
              <a:t>已有联系方式，KP待建联确认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89320" y="1325880"/>
            <a:ext cx="5669280" cy="4754880"/>
          </a:xfrm>
          <a:prstGeom prst="roundRect">
            <a:avLst/>
          </a:prstGeom>
          <a:solidFill>
            <a:srgbClr val="122A4A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0" y="1463040"/>
            <a:ext cx="52120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WenQuanYi Micro Hei"/>
              </a:rPr>
              <a:t>📊 数据基石（行业模型测算·开业后校准）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1874519"/>
            <a:ext cx="5212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FFC89A"/>
                </a:solidFill>
                <a:latin typeface="WenQuanYi Micro Hei"/>
              </a:rPr>
              <a:t>⚠️假设：滨江夜宵烧烤店稳定期日均35–45桌，2.5人/桌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2468880"/>
            <a:ext cx="2542032" cy="1024128"/>
          </a:xfrm>
          <a:prstGeom prst="roundRect">
            <a:avLst/>
          </a:prstGeom>
          <a:solidFill>
            <a:srgbClr val="1B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2523744"/>
            <a:ext cx="232257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6D00"/>
                </a:solidFill>
                <a:latin typeface="WenQuanYi Micro Hei"/>
              </a:rPr>
              <a:t>¥80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2962656"/>
            <a:ext cx="232257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WenQuanYi Micro Hei"/>
              </a:rPr>
              <a:t>客单价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7648" y="3218688"/>
            <a:ext cx="23225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B4D0"/>
                </a:solidFill>
                <a:latin typeface="WenQuanYi Micro Hei"/>
              </a:rPr>
              <a:t>门店给定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87968" y="2468880"/>
            <a:ext cx="2542032" cy="1024128"/>
          </a:xfrm>
          <a:prstGeom prst="roundRect">
            <a:avLst/>
          </a:prstGeom>
          <a:solidFill>
            <a:srgbClr val="1B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97696" y="2523744"/>
            <a:ext cx="232257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6D00"/>
                </a:solidFill>
                <a:latin typeface="WenQuanYi Micro Hei"/>
              </a:rPr>
              <a:t>≈40桌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97696" y="2962656"/>
            <a:ext cx="232257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WenQuanYi Micro Hei"/>
              </a:rPr>
              <a:t>稳定期日均桌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97696" y="3218688"/>
            <a:ext cx="23225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B4D0"/>
                </a:solidFill>
                <a:latin typeface="WenQuanYi Micro Hei"/>
              </a:rPr>
              <a:t>200㎡夜宵模型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3621024"/>
            <a:ext cx="2542032" cy="1024128"/>
          </a:xfrm>
          <a:prstGeom prst="roundRect">
            <a:avLst/>
          </a:prstGeom>
          <a:solidFill>
            <a:srgbClr val="1B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27648" y="3675888"/>
            <a:ext cx="232257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6D00"/>
                </a:solidFill>
                <a:latin typeface="WenQuanYi Micro Hei"/>
              </a:rPr>
              <a:t>≈100人次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27648" y="4114800"/>
            <a:ext cx="232257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WenQuanYi Micro Hei"/>
              </a:rPr>
              <a:t>日均消费人次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27648" y="4370832"/>
            <a:ext cx="23225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B4D0"/>
                </a:solidFill>
                <a:latin typeface="WenQuanYi Micro Hei"/>
              </a:rPr>
              <a:t>40桌×2.5人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887968" y="3621024"/>
            <a:ext cx="2542032" cy="1024128"/>
          </a:xfrm>
          <a:prstGeom prst="roundRect">
            <a:avLst/>
          </a:prstGeom>
          <a:solidFill>
            <a:srgbClr val="1B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97696" y="3675888"/>
            <a:ext cx="232257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6D00"/>
                </a:solidFill>
                <a:latin typeface="WenQuanYi Micro Hei"/>
              </a:rPr>
              <a:t>¥8K/天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97696" y="4114800"/>
            <a:ext cx="232257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WenQuanYi Micro Hei"/>
              </a:rPr>
              <a:t>稳定期日营业额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97696" y="4370832"/>
            <a:ext cx="23225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B4D0"/>
                </a:solidFill>
                <a:latin typeface="WenQuanYi Micro Hei"/>
              </a:rPr>
              <a:t>100×¥80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4773168"/>
            <a:ext cx="2542032" cy="1024128"/>
          </a:xfrm>
          <a:prstGeom prst="roundRect">
            <a:avLst/>
          </a:prstGeom>
          <a:solidFill>
            <a:srgbClr val="1B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27648" y="4828032"/>
            <a:ext cx="232257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6D00"/>
                </a:solidFill>
                <a:latin typeface="WenQuanYi Micro Hei"/>
              </a:rPr>
              <a:t>≈¥24万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27648" y="5266944"/>
            <a:ext cx="232257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WenQuanYi Micro Hei"/>
              </a:rPr>
              <a:t>稳定期月营业额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27648" y="5522976"/>
            <a:ext cx="23225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B4D0"/>
                </a:solidFill>
                <a:latin typeface="WenQuanYi Micro Hei"/>
              </a:rPr>
              <a:t>¥8K×30目标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87968" y="4773168"/>
            <a:ext cx="2542032" cy="1024128"/>
          </a:xfrm>
          <a:prstGeom prst="roundRect">
            <a:avLst/>
          </a:prstGeom>
          <a:solidFill>
            <a:srgbClr val="1B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97696" y="4828032"/>
            <a:ext cx="232257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FF6D00"/>
                </a:solidFill>
                <a:latin typeface="WenQuanYi Micro Hei"/>
              </a:rPr>
              <a:t>3000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97696" y="5266944"/>
            <a:ext cx="2322576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WenQuanYi Micro Hei"/>
              </a:rPr>
              <a:t>月消费人次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97696" y="5522976"/>
            <a:ext cx="2322576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AB4D0"/>
                </a:solidFill>
                <a:latin typeface="WenQuanYi Micro Hei"/>
              </a:rPr>
              <a:t>100×30 校验✅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AAB2BC"/>
                </a:solidFill>
                <a:latin typeface="WenQuanYi Micro Hei"/>
              </a:rPr>
              <a:t>新豪仔小龙虾烧烤融合菜 · 数字化经营解决方案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WenQuanYi Micro 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118872" cy="54864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"/>
            <a:ext cx="10515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8CBE0"/>
                </a:solidFill>
                <a:latin typeface="WenQuanYi Micro Hei"/>
              </a:rPr>
              <a:t>INSIGHT · 品类洞察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1115568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WenQuanYi Micro Hei"/>
              </a:rPr>
              <a:t>烧烤融合菜的机遇与开业期挑战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440680" cy="4663440"/>
          </a:xfrm>
          <a:prstGeom prst="roundRect">
            <a:avLst/>
          </a:prstGeom>
          <a:solidFill>
            <a:srgbClr val="FDF0EE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440680" cy="658368"/>
          </a:xfrm>
          <a:prstGeom prst="roundRect">
            <a:avLst/>
          </a:prstGeom>
          <a:solidFill>
            <a:srgbClr val="E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440680" cy="155448"/>
          </a:xfrm>
          <a:prstGeom prst="rect">
            <a:avLst/>
          </a:prstGeom>
          <a:solidFill>
            <a:srgbClr val="E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54406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</a:rPr>
              <a:t>⚠️ 开业期挑战（不解决=开业即巅峰）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5029200" cy="7132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53A3A"/>
                </a:solidFill>
                <a:latin typeface="WenQuanYi Micro Hei"/>
              </a:rPr>
              <a:t>● </a:t>
            </a:r>
            <a:r>
              <a:rPr sz="1250" b="1">
                <a:solidFill>
                  <a:srgbClr val="222A33"/>
                </a:solidFill>
                <a:latin typeface="WenQuanYi Micro Hei"/>
              </a:rPr>
              <a:t>零评价零口碑起步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WenQuanYi Micro Hei"/>
              </a:rPr>
              <a:t>   新店点评0评价，前10条评价定调，搞砸全盘皆输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90088"/>
            <a:ext cx="5029200" cy="7132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53A3A"/>
                </a:solidFill>
                <a:latin typeface="WenQuanYi Micro Hei"/>
              </a:rPr>
              <a:t>● </a:t>
            </a:r>
            <a:r>
              <a:rPr sz="1250" b="1">
                <a:solidFill>
                  <a:srgbClr val="222A33"/>
                </a:solidFill>
                <a:latin typeface="WenQuanYi Micro Hei"/>
              </a:rPr>
              <a:t>出餐崩溃风险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WenQuanYi Micro Hei"/>
              </a:rPr>
              <a:t>   小龙虾+烧烤现制慢，开业人爆满→等位40分钟→差评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39896"/>
            <a:ext cx="5029200" cy="7132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53A3A"/>
                </a:solidFill>
                <a:latin typeface="WenQuanYi Micro Hei"/>
              </a:rPr>
              <a:t>● </a:t>
            </a:r>
            <a:r>
              <a:rPr sz="1250" b="1">
                <a:solidFill>
                  <a:srgbClr val="222A33"/>
                </a:solidFill>
                <a:latin typeface="WenQuanYi Micro Hei"/>
              </a:rPr>
              <a:t>夜宵高峰人手紧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WenQuanYi Micro Hei"/>
              </a:rPr>
              <a:t>   21:00–凌晨高峰点单结账忙不过来，漏单错单流失客人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89704"/>
            <a:ext cx="5029200" cy="7132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53A3A"/>
                </a:solidFill>
                <a:latin typeface="WenQuanYi Micro Hei"/>
              </a:rPr>
              <a:t>● </a:t>
            </a:r>
            <a:r>
              <a:rPr sz="1250" b="1">
                <a:solidFill>
                  <a:srgbClr val="222A33"/>
                </a:solidFill>
                <a:latin typeface="WenQuanYi Micro Hei"/>
              </a:rPr>
              <a:t>旺季靠天吃饭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WenQuanYi Micro Hei"/>
              </a:rPr>
              <a:t>   小龙虾季节性强（全国门店-7.7%），冬季雨季客流骤降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39512"/>
            <a:ext cx="5029200" cy="7132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E53A3A"/>
                </a:solidFill>
                <a:latin typeface="WenQuanYi Micro Hei"/>
              </a:rPr>
              <a:t>● </a:t>
            </a:r>
            <a:r>
              <a:rPr sz="1250" b="1">
                <a:solidFill>
                  <a:srgbClr val="222A33"/>
                </a:solidFill>
                <a:latin typeface="WenQuanYi Micro Hei"/>
              </a:rPr>
              <a:t>现金流压力大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WenQuanYi Micro Hei"/>
              </a:rPr>
              <a:t>   新店投入大，只靠堂食慢慢回款，资金链易紧张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2" y="1371600"/>
            <a:ext cx="5440680" cy="4663440"/>
          </a:xfrm>
          <a:prstGeom prst="roundRect">
            <a:avLst/>
          </a:prstGeom>
          <a:solidFill>
            <a:srgbClr val="ECF7F1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99632" y="1371600"/>
            <a:ext cx="5440680" cy="658368"/>
          </a:xfrm>
          <a:prstGeom prst="roundRect">
            <a:avLst/>
          </a:prstGeom>
          <a:solidFill>
            <a:srgbClr val="1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874519"/>
            <a:ext cx="5440680" cy="155448"/>
          </a:xfrm>
          <a:prstGeom prst="rect">
            <a:avLst/>
          </a:prstGeom>
          <a:solidFill>
            <a:srgbClr val="1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1371600"/>
            <a:ext cx="5440680" cy="6583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</a:rPr>
              <a:t>🔥 赛道与位置机遇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2240280"/>
            <a:ext cx="5029200" cy="7132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A06A"/>
                </a:solidFill>
                <a:latin typeface="WenQuanYi Micro Hei"/>
              </a:rPr>
              <a:t>● </a:t>
            </a:r>
            <a:r>
              <a:rPr sz="1250" b="1">
                <a:solidFill>
                  <a:srgbClr val="222A33"/>
                </a:solidFill>
                <a:latin typeface="WenQuanYi Micro Hei"/>
              </a:rPr>
              <a:t>烧烤大盘2840亿+8.5%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WenQuanYi Micro Hei"/>
              </a:rPr>
              <a:t>   开店率&gt;关店率市场良性；融合菜避开纯小龙虾季节性下滑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990088"/>
            <a:ext cx="5029200" cy="7132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A06A"/>
                </a:solidFill>
                <a:latin typeface="WenQuanYi Micro Hei"/>
              </a:rPr>
              <a:t>● </a:t>
            </a:r>
            <a:r>
              <a:rPr sz="1250" b="1">
                <a:solidFill>
                  <a:srgbClr val="222A33"/>
                </a:solidFill>
                <a:latin typeface="WenQuanYi Micro Hei"/>
              </a:rPr>
              <a:t>滨江夜经济旺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WenQuanYi Micro Hei"/>
              </a:rPr>
              <a:t>   金铂湾周边写字楼+小区密集，IT白领夜宵刚需，社区烧烤+啤酒馆受欢迎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739896"/>
            <a:ext cx="5029200" cy="7132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A06A"/>
                </a:solidFill>
                <a:latin typeface="WenQuanYi Micro Hei"/>
              </a:rPr>
              <a:t>● </a:t>
            </a:r>
            <a:r>
              <a:rPr sz="1250" b="1">
                <a:solidFill>
                  <a:srgbClr val="222A33"/>
                </a:solidFill>
                <a:latin typeface="WenQuanYi Micro Hei"/>
              </a:rPr>
              <a:t>情绪价值溢价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WenQuanYi Micro Hei"/>
              </a:rPr>
              <a:t>   鲜切现烤+小龙虾+融合菜=记忆点，支撑¥80客单，高街边摊一档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4489704"/>
            <a:ext cx="5029200" cy="7132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A06A"/>
                </a:solidFill>
                <a:latin typeface="WenQuanYi Micro Hei"/>
              </a:rPr>
              <a:t>● </a:t>
            </a:r>
            <a:r>
              <a:rPr sz="1250" b="1">
                <a:solidFill>
                  <a:srgbClr val="222A33"/>
                </a:solidFill>
                <a:latin typeface="WenQuanYi Micro Hei"/>
              </a:rPr>
              <a:t>酒水高毛利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WenQuanYi Micro Hei"/>
              </a:rPr>
              <a:t>   啤酒/饮品毛利60–70%，夜宵场景酒水拉高客单与利润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5239512"/>
            <a:ext cx="5029200" cy="7132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EA06A"/>
                </a:solidFill>
                <a:latin typeface="WenQuanYi Micro Hei"/>
              </a:rPr>
              <a:t>● </a:t>
            </a:r>
            <a:r>
              <a:rPr sz="1250" b="1">
                <a:solidFill>
                  <a:srgbClr val="222A33"/>
                </a:solidFill>
                <a:latin typeface="WenQuanYi Micro Hei"/>
              </a:rPr>
              <a:t>新店流量红利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WenQuanYi Micro Hei"/>
              </a:rPr>
              <a:t>   点评90天加权+外卖7天扶持，数字化工具=免费拿公域曝光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AAB2BC"/>
                </a:solidFill>
                <a:latin typeface="WenQuanYi Micro Hei"/>
              </a:rPr>
              <a:t>新豪仔小龙虾烧烤融合菜 · 数字化经营解决方案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WenQuanYi Micro 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118872" cy="54864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"/>
            <a:ext cx="10515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8CBE0"/>
                </a:solidFill>
                <a:latin typeface="WenQuanYi Micro Hei"/>
              </a:rPr>
              <a:t>COMPETITION · 竞争格局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1115568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WenQuanYi Micro Hei"/>
              </a:rPr>
              <a:t>滨江长河3公里夜宵烧烤竞对扫描</a:t>
            </a:r>
            <a:r>
              <a:rPr sz="1200" b="0">
                <a:solidFill>
                  <a:srgbClr val="FFB87A"/>
                </a:solidFill>
                <a:latin typeface="WenQuanYi Micro Hei"/>
              </a:rPr>
              <a:t>   ⚠️区域典型样本·开业前实地复核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WenQuanYi Micro Hei"/>
              </a:rPr>
              <a:t>老板只关心「这条街谁跟我抢生意」。聚焦金铂湾周边小龙虾/烧烤/夜宵，找出我能切的那块蛋糕。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2468880" cy="457200"/>
          </a:xfrm>
          <a:prstGeom prst="rect">
            <a:avLst/>
          </a:prstGeom>
          <a:solidFill>
            <a:srgbClr val="122A4A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737360"/>
            <a:ext cx="232257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WenQuanYi Micro Hei"/>
              </a:rPr>
              <a:t>竞对类型（周边典型）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737360"/>
            <a:ext cx="914400" cy="457200"/>
          </a:xfrm>
          <a:prstGeom prst="rect">
            <a:avLst/>
          </a:prstGeom>
          <a:solidFill>
            <a:srgbClr val="122A4A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0672" y="1737360"/>
            <a:ext cx="76809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WenQuanYi Micro Hei"/>
              </a:rPr>
              <a:t>人均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31920" y="1737360"/>
            <a:ext cx="3246120" cy="457200"/>
          </a:xfrm>
          <a:prstGeom prst="rect">
            <a:avLst/>
          </a:prstGeom>
          <a:solidFill>
            <a:srgbClr val="122A4A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05072" y="1737360"/>
            <a:ext cx="309981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WenQuanYi Micro Hei"/>
              </a:rPr>
              <a:t>核心弱点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1737360"/>
            <a:ext cx="3657600" cy="457200"/>
          </a:xfrm>
          <a:prstGeom prst="rect">
            <a:avLst/>
          </a:prstGeom>
          <a:solidFill>
            <a:srgbClr val="122A4A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51192" y="1737360"/>
            <a:ext cx="3511296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WenQuanYi Micro Hei"/>
              </a:rPr>
              <a:t>新豪仔的切入机会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94560"/>
            <a:ext cx="24688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194560"/>
            <a:ext cx="228600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22A33"/>
                </a:solidFill>
                <a:latin typeface="WenQuanYi Micro Hei"/>
              </a:rPr>
              <a:t>街边烧烤摊/大排档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2194560"/>
            <a:ext cx="914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2194560"/>
            <a:ext cx="73152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6D00"/>
                </a:solidFill>
                <a:latin typeface="WenQuanYi Micro Hei"/>
              </a:rPr>
              <a:t>¥40–60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2194560"/>
            <a:ext cx="32461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2194560"/>
            <a:ext cx="306324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WenQuanYi Micro Hei"/>
              </a:rPr>
              <a:t>环境差、无堂食体验、不能开票、卫生存疑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78040" y="2194560"/>
            <a:ext cx="3657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2194560"/>
            <a:ext cx="347472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22A4A"/>
                </a:solidFill>
                <a:latin typeface="WenQuanYi Micro Hei"/>
              </a:rPr>
              <a:t>「干净明档+融合菜+刷卡开票」拉高一档，抢有品质要求的白领夜宵客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063240"/>
            <a:ext cx="2468880" cy="777240"/>
          </a:xfrm>
          <a:prstGeom prst="rect">
            <a:avLst/>
          </a:prstGeom>
          <a:solidFill>
            <a:srgbClr val="EEF2F7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063240"/>
            <a:ext cx="228600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22A33"/>
                </a:solidFill>
                <a:latin typeface="WenQuanYi Micro Hei"/>
              </a:rPr>
              <a:t>纯小龙虾专门店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3063240"/>
            <a:ext cx="914400" cy="777240"/>
          </a:xfrm>
          <a:prstGeom prst="rect">
            <a:avLst/>
          </a:prstGeom>
          <a:solidFill>
            <a:srgbClr val="EEF2F7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0" y="3063240"/>
            <a:ext cx="73152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6D00"/>
                </a:solidFill>
                <a:latin typeface="WenQuanYi Micro Hei"/>
              </a:rPr>
              <a:t>¥90–120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3063240"/>
            <a:ext cx="3246120" cy="777240"/>
          </a:xfrm>
          <a:prstGeom prst="rect">
            <a:avLst/>
          </a:prstGeom>
          <a:solidFill>
            <a:srgbClr val="EEF2F7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3360" y="3063240"/>
            <a:ext cx="30632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WenQuanYi Micro Hei"/>
              </a:rPr>
              <a:t>季节性强、淡季冷清、菜品单一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3063240"/>
            <a:ext cx="3657600" cy="777240"/>
          </a:xfrm>
          <a:prstGeom prst="rect">
            <a:avLst/>
          </a:prstGeom>
          <a:solidFill>
            <a:srgbClr val="EEF2F7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69480" y="3063240"/>
            <a:ext cx="347472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22A4A"/>
                </a:solidFill>
                <a:latin typeface="WenQuanYi Micro Hei"/>
              </a:rPr>
              <a:t>融合菜+烧烤补全季节，一年四季有理由来，复购更稳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840480"/>
            <a:ext cx="2468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840480"/>
            <a:ext cx="228600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22A33"/>
                </a:solidFill>
                <a:latin typeface="WenQuanYi Micro Hei"/>
              </a:rPr>
              <a:t>连锁烤肉/韩式烤肉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17520" y="3840480"/>
            <a:ext cx="9144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08960" y="3840480"/>
            <a:ext cx="73152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6D00"/>
                </a:solidFill>
                <a:latin typeface="WenQuanYi Micro Hei"/>
              </a:rPr>
              <a:t>¥80–110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31920" y="3840480"/>
            <a:ext cx="3246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23360" y="3840480"/>
            <a:ext cx="30632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WenQuanYi Micro Hei"/>
              </a:rPr>
              <a:t>同质化、缺本地特色、排队久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78040" y="384048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9480" y="3840480"/>
            <a:ext cx="347472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22A4A"/>
                </a:solidFill>
                <a:latin typeface="WenQuanYi Micro Hei"/>
              </a:rPr>
              <a:t>小龙虾差异化+夜宵酒水+扫码点餐快出餐，错位竞争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4617720"/>
            <a:ext cx="2468880" cy="777240"/>
          </a:xfrm>
          <a:prstGeom prst="rect">
            <a:avLst/>
          </a:prstGeom>
          <a:solidFill>
            <a:srgbClr val="EEF2F7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617720"/>
            <a:ext cx="228600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22A33"/>
                </a:solidFill>
                <a:latin typeface="WenQuanYi Micro Hei"/>
              </a:rPr>
              <a:t>社区火锅/江湖菜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17520" y="4617720"/>
            <a:ext cx="914400" cy="777240"/>
          </a:xfrm>
          <a:prstGeom prst="rect">
            <a:avLst/>
          </a:prstGeom>
          <a:solidFill>
            <a:srgbClr val="EEF2F7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08960" y="4617720"/>
            <a:ext cx="73152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6D00"/>
                </a:solidFill>
                <a:latin typeface="WenQuanYi Micro Hei"/>
              </a:rPr>
              <a:t>¥70–90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931920" y="4617720"/>
            <a:ext cx="3246120" cy="777240"/>
          </a:xfrm>
          <a:prstGeom prst="rect">
            <a:avLst/>
          </a:prstGeom>
          <a:solidFill>
            <a:srgbClr val="EEF2F7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23360" y="4617720"/>
            <a:ext cx="306324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WenQuanYi Micro Hei"/>
              </a:rPr>
              <a:t>夏季偏热不应季、出餐慢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78040" y="4617720"/>
            <a:ext cx="3657600" cy="777240"/>
          </a:xfrm>
          <a:prstGeom prst="rect">
            <a:avLst/>
          </a:prstGeom>
          <a:solidFill>
            <a:srgbClr val="EEF2F7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69480" y="4617720"/>
            <a:ext cx="347472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22A4A"/>
                </a:solidFill>
                <a:latin typeface="WenQuanYi Micro Hei"/>
              </a:rPr>
              <a:t>主打「夏夜限定」小龙虾+冰啤+烧烤抢应季流量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5486400"/>
            <a:ext cx="11201400" cy="548640"/>
          </a:xfrm>
          <a:prstGeom prst="roundRect">
            <a:avLst/>
          </a:prstGeom>
          <a:solidFill>
            <a:srgbClr val="FFF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486400"/>
            <a:ext cx="1088136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6D00"/>
                </a:solidFill>
                <a:latin typeface="WenQuanYi Micro Hei"/>
              </a:rPr>
              <a:t>🎯 总切入策略：</a:t>
            </a:r>
            <a:r>
              <a:rPr sz="1100" b="0">
                <a:solidFill>
                  <a:srgbClr val="222A33"/>
                </a:solidFill>
                <a:latin typeface="WenQuanYi Micro Hei"/>
              </a:rPr>
              <a:t>以「品质明档+融合菜全年款+夜宵酒水社交」错位街边摊与单一品类店，用扫码点餐解决高峰出餐，用点评/小红书把「滨江夜宵新地标」立住。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AAB2BC"/>
                </a:solidFill>
                <a:latin typeface="WenQuanYi Micro Hei"/>
              </a:rPr>
              <a:t>新豪仔小龙虾烧烤融合菜 · 数字化经营解决方案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WenQuanYi Micro 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118872" cy="54864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"/>
            <a:ext cx="10515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8CBE0"/>
                </a:solidFill>
                <a:latin typeface="WenQuanYi Micro Hei"/>
              </a:rPr>
              <a:t>STRATEGY · 核心策略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1115568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WenQuanYi Micro Hei"/>
              </a:rPr>
              <a:t>开业90天三阶段作战地图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3611880" cy="36576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611880" cy="960120"/>
          </a:xfrm>
          <a:prstGeom prst="round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3611880" cy="32004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64208"/>
            <a:ext cx="361188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</a:rPr>
              <a:t>🚀 蓄水期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48840"/>
            <a:ext cx="36118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WenQuanYi Micro Hei"/>
              </a:rPr>
              <a:t>开业前30天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697480"/>
            <a:ext cx="3209544" cy="2377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22A33"/>
                </a:solidFill>
                <a:latin typeface="WenQuanYi Micro Hei"/>
              </a:rPr>
              <a:t>线上线下提前蓄客500+，点评商户页+预售团购上线，企微社群搭建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4709160"/>
            <a:ext cx="3209544" cy="365760"/>
          </a:xfrm>
          <a:prstGeom prst="round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709160"/>
            <a:ext cx="320954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WenQuanYi Micro Hei"/>
              </a:rPr>
              <a:t>目标 蓄客500+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6552" y="1554480"/>
            <a:ext cx="3611880" cy="36576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16552" y="1554480"/>
            <a:ext cx="3611880" cy="960120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16552" y="2194560"/>
            <a:ext cx="3611880" cy="32004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6552" y="1664208"/>
            <a:ext cx="361188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</a:rPr>
              <a:t>🔥 引爆期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2148840"/>
            <a:ext cx="36118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WenQuanYi Micro Hei"/>
              </a:rPr>
              <a:t>开业1–14天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2697480"/>
            <a:ext cx="3209544" cy="2377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22A33"/>
                </a:solidFill>
                <a:latin typeface="WenQuanYi Micro Hei"/>
              </a:rPr>
              <a:t>控流量保出餐+冲首批50条优质评价+达人探店，外卖第2周上线抢扶持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4709160"/>
            <a:ext cx="3209544" cy="365760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4709160"/>
            <a:ext cx="320954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WenQuanYi Micro Hei"/>
              </a:rPr>
              <a:t>目标 首周50评价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3024" y="1554480"/>
            <a:ext cx="3611880" cy="365760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93024" y="1554480"/>
            <a:ext cx="3611880" cy="960120"/>
          </a:xfrm>
          <a:prstGeom prst="roundRect">
            <a:avLst/>
          </a:prstGeom>
          <a:solidFill>
            <a:srgbClr val="1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93024" y="2194560"/>
            <a:ext cx="3611880" cy="320040"/>
          </a:xfrm>
          <a:prstGeom prst="rect">
            <a:avLst/>
          </a:prstGeom>
          <a:solidFill>
            <a:srgbClr val="1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93024" y="1664208"/>
            <a:ext cx="361188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</a:rPr>
              <a:t>💎 沉淀期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4" y="2148840"/>
            <a:ext cx="361188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WenQuanYi Micro Hei"/>
              </a:rPr>
              <a:t>开业15–90天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697480"/>
            <a:ext cx="3209544" cy="23774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222A33"/>
                </a:solidFill>
                <a:latin typeface="WenQuanYi Micro Hei"/>
              </a:rPr>
              <a:t>推储值锁客+会员复购唤醒+点评冲热门榜，公私域闭环跑通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94192" y="4709160"/>
            <a:ext cx="3209544" cy="365760"/>
          </a:xfrm>
          <a:prstGeom prst="roundRect">
            <a:avLst/>
          </a:prstGeom>
          <a:solidFill>
            <a:srgbClr val="1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4192" y="4709160"/>
            <a:ext cx="3209544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WenQuanYi Micro Hei"/>
              </a:rPr>
              <a:t>目标 会员500+储值¥4万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3017520"/>
            <a:ext cx="1828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6D00"/>
                </a:solidFill>
                <a:latin typeface="WenQuanYi Micro Hei"/>
              </a:rPr>
              <a:t>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28432" y="3017520"/>
            <a:ext cx="1828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6D00"/>
                </a:solidFill>
                <a:latin typeface="WenQuanYi Micro Hei"/>
              </a:rPr>
              <a:t>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53212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2A4A"/>
                </a:solidFill>
                <a:latin typeface="WenQuanYi Micro Hei"/>
              </a:rPr>
              <a:t>贯穿三阶段的工具底座：</a:t>
            </a:r>
            <a:r>
              <a:rPr sz="1100" b="0">
                <a:solidFill>
                  <a:srgbClr val="6B7280"/>
                </a:solidFill>
                <a:latin typeface="WenQuanYi Micro Hei"/>
              </a:rPr>
              <a:t>智能收银 → 扫码点餐（高峰出餐）→ 会员/储值（锁客）→ 评价专家（口碑）→ 公私域联动（持续引流）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AAB2BC"/>
                </a:solidFill>
                <a:latin typeface="WenQuanYi Micro Hei"/>
              </a:rPr>
              <a:t>新豪仔小龙虾烧烤融合菜 · 数字化经营解决方案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WenQuanYi Micro 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118872" cy="54864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"/>
            <a:ext cx="10515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8CBE0"/>
                </a:solidFill>
                <a:latin typeface="WenQuanYi Micro Hei"/>
              </a:rPr>
              <a:t>PRODUCT · 出餐提速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1115568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WenQuanYi Micro Hei"/>
              </a:rPr>
              <a:t>智能收银 + 扫码点餐：夜宵高峰不崩盘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2A33"/>
                </a:solidFill>
                <a:latin typeface="WenQuanYi Micro Hei"/>
              </a:rPr>
              <a:t>你的痛点：小龙虾+烧烤现制慢、21点后高峰人手紧 → 这两个功能直接解决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2670048" cy="301752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2670048" cy="868680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377440"/>
            <a:ext cx="2670048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74520"/>
            <a:ext cx="2670048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FFFFFF"/>
                </a:solidFill>
                <a:latin typeface="WenQuanYi Micro Hei"/>
              </a:rPr>
              <a:t>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31720"/>
            <a:ext cx="267004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WenQuanYi Micro Hei"/>
              </a:rPr>
              <a:t>扫码点餐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2834640"/>
            <a:ext cx="2340864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22A33"/>
                </a:solidFill>
                <a:latin typeface="WenQuanYi Micro Hei"/>
              </a:rPr>
              <a:t>顾客扫桌码自助下单，不用等服务员；高峰期省2名点单工，出餐指令直达后厨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" y="4370832"/>
            <a:ext cx="2340864" cy="384048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370832"/>
            <a:ext cx="2340864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WenQuanYi Micro Hei"/>
              </a:rPr>
              <a:t>高峰漏单趋零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1828800"/>
            <a:ext cx="2670048" cy="301752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20440" y="1828800"/>
            <a:ext cx="2670048" cy="868680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2377440"/>
            <a:ext cx="2670048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1874520"/>
            <a:ext cx="2670048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FFFFFF"/>
                </a:solidFill>
                <a:latin typeface="WenQuanYi Micro Hei"/>
              </a:rPr>
              <a:t>🖥️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331720"/>
            <a:ext cx="267004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WenQuanYi Micro Hei"/>
              </a:rPr>
              <a:t>智能收银一体机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85032" y="2834640"/>
            <a:ext cx="2340864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22A33"/>
                </a:solidFill>
                <a:latin typeface="WenQuanYi Micro Hei"/>
              </a:rPr>
              <a:t>点单/收银/会员/库存一体，新店员上手快；支持刷卡/扫码/开发票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85032" y="4370832"/>
            <a:ext cx="2340864" cy="384048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85032" y="4370832"/>
            <a:ext cx="2340864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WenQuanYi Micro Hei"/>
              </a:rPr>
              <a:t>收银效率↑40%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1828800"/>
            <a:ext cx="2670048" cy="301752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55080" y="1828800"/>
            <a:ext cx="2670048" cy="868680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2377440"/>
            <a:ext cx="2670048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1874520"/>
            <a:ext cx="2670048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FFFFFF"/>
                </a:solidFill>
                <a:latin typeface="WenQuanYi Micro Hei"/>
              </a:rPr>
              <a:t>🖨️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331720"/>
            <a:ext cx="267004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WenQuanYi Micro Hei"/>
              </a:rPr>
              <a:t>后厨分单打印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2834640"/>
            <a:ext cx="2340864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22A33"/>
                </a:solidFill>
                <a:latin typeface="WenQuanYi Micro Hei"/>
              </a:rPr>
              <a:t>小龙虾档/烧烤档/凉菜档自动分单，不串单、不漏菜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19672" y="4370832"/>
            <a:ext cx="2340864" cy="384048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9672" y="4370832"/>
            <a:ext cx="2340864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WenQuanYi Micro Hei"/>
              </a:rPr>
              <a:t>出餐提速30%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89720" y="1828800"/>
            <a:ext cx="2670048" cy="301752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89720" y="1828800"/>
            <a:ext cx="2670048" cy="868680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89720" y="2377440"/>
            <a:ext cx="2670048" cy="32004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1874520"/>
            <a:ext cx="2670048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FFFFFF"/>
                </a:solidFill>
                <a:latin typeface="WenQuanYi Micro Hei"/>
              </a:rPr>
              <a:t>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2331720"/>
            <a:ext cx="267004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WenQuanYi Micro Hei"/>
              </a:rPr>
              <a:t>手机看经营数据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4312" y="2834640"/>
            <a:ext cx="2340864" cy="1554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22A33"/>
                </a:solidFill>
                <a:latin typeface="WenQuanYi Micro Hei"/>
              </a:rPr>
              <a:t>老板手机随时看营业额/桌数/爆款排行，不用守店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54312" y="4370832"/>
            <a:ext cx="2340864" cy="384048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54312" y="4370832"/>
            <a:ext cx="2340864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WenQuanYi Micro Hei"/>
              </a:rPr>
              <a:t>数据决策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" y="5074920"/>
            <a:ext cx="10789920" cy="1051560"/>
          </a:xfrm>
          <a:prstGeom prst="roundRect">
            <a:avLst/>
          </a:prstGeom>
          <a:solidFill>
            <a:srgbClr val="122A4A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193792"/>
            <a:ext cx="1042416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6D00"/>
                </a:solidFill>
                <a:latin typeface="WenQuanYi Micro Hei"/>
              </a:rPr>
              <a:t>💡 场景化效果：</a:t>
            </a:r>
            <a:r>
              <a:rPr sz="1200" b="0">
                <a:solidFill>
                  <a:srgbClr val="FFFFFF"/>
                </a:solidFill>
                <a:latin typeface="WenQuanYi Micro Hei"/>
              </a:rPr>
              <a:t>开业首周高峰，4桌客人同时扫码下单→后厨3档分单并行→烧烤先上、小龙虾随后，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WenQuanYi Micro Hei"/>
              </a:rPr>
              <a:t>       顾客感知「上菜快」而非「等太久」→ 直接避开烧烤店头号差评，首批评价稳住4.5★+。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AAB2BC"/>
                </a:solidFill>
                <a:latin typeface="WenQuanYi Micro Hei"/>
              </a:rPr>
              <a:t>新豪仔小龙虾烧烤融合菜 · 数字化经营解决方案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WenQuanYi Micro 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118872" cy="54864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"/>
            <a:ext cx="10515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8CBE0"/>
                </a:solidFill>
                <a:latin typeface="WenQuanYi Micro Hei"/>
              </a:rPr>
              <a:t>MEMBER · 会员体系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1115568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WenQuanYi Micro Hei"/>
              </a:rPr>
              <a:t>双层会员：储值锁客 + 等级养客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611880" cy="42976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3611880" cy="713232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3611880" cy="256032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36118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</a:rPr>
              <a:t>💳 储值会员（钱包型）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377440"/>
            <a:ext cx="3209544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6D00"/>
                </a:solidFill>
                <a:latin typeface="WenQuanYi Micro Hei"/>
              </a:rPr>
              <a:t>▸ </a:t>
            </a:r>
            <a:r>
              <a:rPr sz="1150" b="0">
                <a:solidFill>
                  <a:srgbClr val="222A33"/>
                </a:solidFill>
                <a:latin typeface="WenQuanYi Micro Hei"/>
              </a:rPr>
              <a:t>核心：预存换优惠，锁定未来消费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82112"/>
            <a:ext cx="3209544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6D00"/>
                </a:solidFill>
                <a:latin typeface="WenQuanYi Micro Hei"/>
              </a:rPr>
              <a:t>▸ </a:t>
            </a:r>
            <a:r>
              <a:rPr sz="1150" b="0">
                <a:solidFill>
                  <a:srgbClr val="222A33"/>
                </a:solidFill>
                <a:latin typeface="WenQuanYi Micro Hei"/>
              </a:rPr>
              <a:t>入会：充值即开通，扫码弹窗引导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986784"/>
            <a:ext cx="3209544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6D00"/>
                </a:solidFill>
                <a:latin typeface="WenQuanYi Micro Hei"/>
              </a:rPr>
              <a:t>▸ </a:t>
            </a:r>
            <a:r>
              <a:rPr sz="1150" b="0">
                <a:solidFill>
                  <a:srgbClr val="222A33"/>
                </a:solidFill>
                <a:latin typeface="WenQuanYi Micro Hei"/>
              </a:rPr>
              <a:t>权益：储值专属价+赠金+生日双倍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791456"/>
            <a:ext cx="3209544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6D00"/>
                </a:solidFill>
                <a:latin typeface="WenQuanYi Micro Hei"/>
              </a:rPr>
              <a:t>▸ </a:t>
            </a:r>
            <a:r>
              <a:rPr sz="1150" b="0">
                <a:solidFill>
                  <a:srgbClr val="222A33"/>
                </a:solidFill>
                <a:latin typeface="WenQuanYi Micro Hei"/>
              </a:rPr>
              <a:t>目标：开业首月回笼现金流¥4万+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6552" y="1463040"/>
            <a:ext cx="3611880" cy="42976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416552" y="1463040"/>
            <a:ext cx="3611880" cy="713232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16552" y="1920240"/>
            <a:ext cx="3611880" cy="256032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6552" y="1554480"/>
            <a:ext cx="36118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</a:rPr>
              <a:t>⭐ 等级会员（成长型）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377440"/>
            <a:ext cx="3209544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WenQuanYi Micro Hei"/>
              </a:rPr>
              <a:t>▸ </a:t>
            </a:r>
            <a:r>
              <a:rPr sz="1150" b="0">
                <a:solidFill>
                  <a:srgbClr val="222A33"/>
                </a:solidFill>
                <a:latin typeface="WenQuanYi Micro Hei"/>
              </a:rPr>
              <a:t>核心：累计消费升级，权益递进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182112"/>
            <a:ext cx="3209544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WenQuanYi Micro Hei"/>
              </a:rPr>
              <a:t>▸ </a:t>
            </a:r>
            <a:r>
              <a:rPr sz="1150" b="0">
                <a:solidFill>
                  <a:srgbClr val="222A33"/>
                </a:solidFill>
                <a:latin typeface="WenQuanYi Micro Hei"/>
              </a:rPr>
              <a:t>入会：扫码点餐首单自动注册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986784"/>
            <a:ext cx="3209544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WenQuanYi Micro Hei"/>
              </a:rPr>
              <a:t>▸ </a:t>
            </a:r>
            <a:r>
              <a:rPr sz="1150" b="0">
                <a:solidFill>
                  <a:srgbClr val="222A33"/>
                </a:solidFill>
                <a:latin typeface="WenQuanYi Micro Hei"/>
              </a:rPr>
              <a:t>权益：银卡9.5折/金卡9折+优先订位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791456"/>
            <a:ext cx="3209544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A73E8"/>
                </a:solidFill>
                <a:latin typeface="WenQuanYi Micro Hei"/>
              </a:rPr>
              <a:t>▸ </a:t>
            </a:r>
            <a:r>
              <a:rPr sz="1150" b="0">
                <a:solidFill>
                  <a:srgbClr val="222A33"/>
                </a:solidFill>
                <a:latin typeface="WenQuanYi Micro Hei"/>
              </a:rPr>
              <a:t>目标：开业90天会员破800人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93024" y="1463040"/>
            <a:ext cx="3611880" cy="429768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93024" y="1463040"/>
            <a:ext cx="3611880" cy="713232"/>
          </a:xfrm>
          <a:prstGeom prst="roundRect">
            <a:avLst/>
          </a:prstGeom>
          <a:solidFill>
            <a:srgbClr val="1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93024" y="1920240"/>
            <a:ext cx="3611880" cy="256032"/>
          </a:xfrm>
          <a:prstGeom prst="rect">
            <a:avLst/>
          </a:prstGeom>
          <a:solidFill>
            <a:srgbClr val="1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93024" y="1554480"/>
            <a:ext cx="36118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</a:rPr>
              <a:t>🔗 两层联动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377440"/>
            <a:ext cx="3209544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EA06A"/>
                </a:solidFill>
                <a:latin typeface="WenQuanYi Micro Hei"/>
              </a:rPr>
              <a:t>▸ </a:t>
            </a:r>
            <a:r>
              <a:rPr sz="1150" b="0">
                <a:solidFill>
                  <a:srgbClr val="222A33"/>
                </a:solidFill>
                <a:latin typeface="WenQuanYi Micro Hei"/>
              </a:rPr>
              <a:t>储值解决「锁客」，等级解决「养客」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3182112"/>
            <a:ext cx="3209544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EA06A"/>
                </a:solidFill>
                <a:latin typeface="WenQuanYi Micro Hei"/>
              </a:rPr>
              <a:t>▸ </a:t>
            </a:r>
            <a:r>
              <a:rPr sz="1150" b="0">
                <a:solidFill>
                  <a:srgbClr val="222A33"/>
                </a:solidFill>
                <a:latin typeface="WenQuanYi Micro Hei"/>
              </a:rPr>
              <a:t>金卡享更高储值赠送比例（充500送80）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86784"/>
            <a:ext cx="3209544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EA06A"/>
                </a:solidFill>
                <a:latin typeface="WenQuanYi Micro Hei"/>
              </a:rPr>
              <a:t>▸ </a:t>
            </a:r>
            <a:r>
              <a:rPr sz="1150" b="0">
                <a:solidFill>
                  <a:srgbClr val="222A33"/>
                </a:solidFill>
                <a:latin typeface="WenQuanYi Micro Hei"/>
              </a:rPr>
              <a:t>沉睡会员自动推券唤醒（30天未到店）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4791456"/>
            <a:ext cx="3209544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EA06A"/>
                </a:solidFill>
                <a:latin typeface="WenQuanYi Micro Hei"/>
              </a:rPr>
              <a:t>▸ </a:t>
            </a:r>
            <a:r>
              <a:rPr sz="1150" b="0">
                <a:solidFill>
                  <a:srgbClr val="222A33"/>
                </a:solidFill>
                <a:latin typeface="WenQuanYi Micro Hei"/>
              </a:rPr>
              <a:t>会员消费数据反哺爆款与排班决策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AAB2BC"/>
                </a:solidFill>
                <a:latin typeface="WenQuanYi Micro Hei"/>
              </a:rPr>
              <a:t>新豪仔小龙虾烧烤融合菜 · 数字化经营解决方案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WenQuanYi Micro 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118872" cy="54864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"/>
            <a:ext cx="10515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8CBE0"/>
                </a:solidFill>
                <a:latin typeface="WenQuanYi Micro Hei"/>
              </a:rPr>
              <a:t>STORED VALUE · 储值方案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1115568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WenQuanYi Micro Hei"/>
              </a:rPr>
              <a:t>适配¥80客单的「够得着」储值档</a:t>
            </a:r>
            <a:r>
              <a:rPr sz="1200" b="0">
                <a:solidFill>
                  <a:srgbClr val="FFB87A"/>
                </a:solidFill>
                <a:latin typeface="WenQuanYi Micro Hei"/>
              </a:rPr>
              <a:t>   开业第2-3周推出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10789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2A33"/>
                </a:solidFill>
                <a:latin typeface="WenQuanYi Micro Hei"/>
              </a:rPr>
              <a:t>¥80人均的烧烤夜宵店属中客单中频，主推档=客单×3–5次≈¥300，让客人「3-5次用完」，心理负担最小。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57400"/>
            <a:ext cx="33832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2A4A"/>
            </a:solidFill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057400"/>
            <a:ext cx="3383280" cy="777240"/>
          </a:xfrm>
          <a:prstGeom prst="round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560320"/>
            <a:ext cx="3383280" cy="27432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167128"/>
            <a:ext cx="33832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WenQuanYi Micro Hei"/>
              </a:rPr>
              <a:t>体验档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33832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22A4A"/>
                </a:solidFill>
                <a:latin typeface="WenQuanYi Micro Hei"/>
              </a:rPr>
              <a:t>充200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11880"/>
            <a:ext cx="33832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6B7280"/>
                </a:solidFill>
                <a:latin typeface="WenQuanYi Micro Hei"/>
              </a:rPr>
              <a:t>送20  (约9.1折)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4251960"/>
            <a:ext cx="2834640" cy="73152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251960"/>
            <a:ext cx="265176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22A33"/>
                </a:solidFill>
                <a:latin typeface="WenQuanYi Micro Hei"/>
              </a:rPr>
              <a:t>试水门槛，开业首周限时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2057400"/>
            <a:ext cx="33832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D00"/>
            </a:solidFill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34840" y="2057400"/>
            <a:ext cx="3383280" cy="777240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560320"/>
            <a:ext cx="3383280" cy="27432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167128"/>
            <a:ext cx="33832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WenQuanYi Micro Hei"/>
              </a:rPr>
              <a:t>⭐ 主推档 主推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971800"/>
            <a:ext cx="33832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F6D00"/>
                </a:solidFill>
                <a:latin typeface="WenQuanYi Micro Hei"/>
              </a:rPr>
              <a:t>充300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611880"/>
            <a:ext cx="33832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6D00"/>
                </a:solidFill>
                <a:latin typeface="WenQuanYi Micro Hei"/>
              </a:rPr>
              <a:t>送50  (约8.6折)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9160" y="4251960"/>
            <a:ext cx="2834640" cy="73152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4251960"/>
            <a:ext cx="265176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22A33"/>
                </a:solidFill>
                <a:latin typeface="WenQuanYi Micro Hei"/>
              </a:rPr>
              <a:t>≈4次消费用完，转化最高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2057400"/>
            <a:ext cx="33832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2A4A"/>
            </a:solidFill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92440" y="2057400"/>
            <a:ext cx="3383280" cy="777240"/>
          </a:xfrm>
          <a:prstGeom prst="round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2440" y="2560320"/>
            <a:ext cx="3383280" cy="27432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40" y="2167128"/>
            <a:ext cx="338328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WenQuanYi Micro Hei"/>
              </a:rPr>
              <a:t>尊享档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2971800"/>
            <a:ext cx="33832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122A4A"/>
                </a:solidFill>
                <a:latin typeface="WenQuanYi Micro Hei"/>
              </a:rPr>
              <a:t>充500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3611880"/>
            <a:ext cx="338328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6B7280"/>
                </a:solidFill>
                <a:latin typeface="WenQuanYi Micro Hei"/>
              </a:rPr>
              <a:t>送100  (约8.3折)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66760" y="4251960"/>
            <a:ext cx="2834640" cy="73152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4251960"/>
            <a:ext cx="2651760" cy="7315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22A33"/>
                </a:solidFill>
                <a:latin typeface="WenQuanYi Micro Hei"/>
              </a:rPr>
              <a:t>赠金+升金卡，绑定高频客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5440680"/>
            <a:ext cx="10607040" cy="777240"/>
          </a:xfrm>
          <a:prstGeom prst="roundRect">
            <a:avLst/>
          </a:prstGeom>
          <a:solidFill>
            <a:srgbClr val="FFF3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440680"/>
            <a:ext cx="10241280" cy="7772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6D00"/>
                </a:solidFill>
                <a:latin typeface="WenQuanYi Micro Hei"/>
              </a:rPr>
              <a:t>📌 收银台话术：</a:t>
            </a:r>
            <a:r>
              <a:rPr sz="1150" b="0">
                <a:solidFill>
                  <a:srgbClr val="222A33"/>
                </a:solidFill>
                <a:latin typeface="WenQuanYi Micro Hei"/>
              </a:rPr>
              <a:t>「您今天消费¥82，充¥300刚好够4次，赠¥50还能升金卡，下次直接刷就行」——结账每桌必问，开口率目标≥80%。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AAB2BC"/>
                </a:solidFill>
                <a:latin typeface="WenQuanYi Micro Hei"/>
              </a:rPr>
              <a:t>新豪仔小龙虾烧烤融合菜 · 数字化经营解决方案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WenQuanYi Micro 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118872" cy="54864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"/>
            <a:ext cx="10515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8CBE0"/>
                </a:solidFill>
                <a:latin typeface="WenQuanYi Micro Hei"/>
              </a:rPr>
              <a:t>OMNICHANNEL · 公私域联动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1115568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WenQuanYi Micro Hei"/>
              </a:rPr>
              <a:t>从公域拉新到私域复购的一条闭环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670048" cy="393192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2670048" cy="777240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2670048" cy="27432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664208"/>
            <a:ext cx="5486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WenQuanYi Micro Hei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664208"/>
            <a:ext cx="184708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</a:rPr>
              <a:t>公域引流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514600"/>
            <a:ext cx="2304288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73E8"/>
                </a:solidFill>
                <a:latin typeface="WenQuanYi Micro Hei"/>
              </a:rPr>
              <a:t>• </a:t>
            </a:r>
            <a:r>
              <a:rPr sz="1080" b="0">
                <a:solidFill>
                  <a:srgbClr val="222A33"/>
                </a:solidFill>
                <a:latin typeface="WenQuanYi Micro Hei"/>
              </a:rPr>
              <a:t>大众点评：商户页+预售团购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27832"/>
            <a:ext cx="2304288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73E8"/>
                </a:solidFill>
                <a:latin typeface="WenQuanYi Micro Hei"/>
              </a:rPr>
              <a:t>• </a:t>
            </a:r>
            <a:r>
              <a:rPr sz="1080" b="0">
                <a:solidFill>
                  <a:srgbClr val="222A33"/>
                </a:solidFill>
                <a:latin typeface="WenQuanYi Micro Hei"/>
              </a:rPr>
              <a:t>+90天新店推广通精准曝光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41064"/>
            <a:ext cx="2304288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73E8"/>
                </a:solidFill>
                <a:latin typeface="WenQuanYi Micro Hei"/>
              </a:rPr>
              <a:t>• </a:t>
            </a:r>
            <a:r>
              <a:rPr sz="1080" b="0">
                <a:solidFill>
                  <a:srgbClr val="222A33"/>
                </a:solidFill>
                <a:latin typeface="WenQuanYi Micro Hei"/>
              </a:rPr>
              <a:t>小红书：滨江夜宵打卡探店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54296"/>
            <a:ext cx="2304288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73E8"/>
                </a:solidFill>
                <a:latin typeface="WenQuanYi Micro Hei"/>
              </a:rPr>
              <a:t>• </a:t>
            </a:r>
            <a:r>
              <a:rPr sz="1080" b="0">
                <a:solidFill>
                  <a:srgbClr val="222A33"/>
                </a:solidFill>
                <a:latin typeface="WenQuanYi Micro Hei"/>
              </a:rPr>
              <a:t>抖音：现烤烟火气短视频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291840"/>
            <a:ext cx="1828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6D00"/>
                </a:solidFill>
                <a:latin typeface="WenQuanYi Micro He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1554480"/>
            <a:ext cx="2670048" cy="393192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64992" y="1554480"/>
            <a:ext cx="2670048" cy="777240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4992" y="2057400"/>
            <a:ext cx="2670048" cy="27432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1664208"/>
            <a:ext cx="5486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WenQuanYi Micro Hei"/>
              </a:rPr>
              <a:t>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50792" y="1664208"/>
            <a:ext cx="184708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</a:rPr>
              <a:t>到店转化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872" y="2514600"/>
            <a:ext cx="2304288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6D00"/>
                </a:solidFill>
                <a:latin typeface="WenQuanYi Micro Hei"/>
              </a:rPr>
              <a:t>• </a:t>
            </a:r>
            <a:r>
              <a:rPr sz="1080" b="0">
                <a:solidFill>
                  <a:srgbClr val="222A33"/>
                </a:solidFill>
                <a:latin typeface="WenQuanYi Micro Hei"/>
              </a:rPr>
              <a:t>扫码点餐=自动注册会员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3227832"/>
            <a:ext cx="2304288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6D00"/>
                </a:solidFill>
                <a:latin typeface="WenQuanYi Micro Hei"/>
              </a:rPr>
              <a:t>• </a:t>
            </a:r>
            <a:r>
              <a:rPr sz="1080" b="0">
                <a:solidFill>
                  <a:srgbClr val="222A33"/>
                </a:solidFill>
                <a:latin typeface="WenQuanYi Micro Hei"/>
              </a:rPr>
              <a:t>结账弹储值推荐(每桌必问)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3941064"/>
            <a:ext cx="2304288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6D00"/>
                </a:solidFill>
                <a:latin typeface="WenQuanYi Micro Hei"/>
              </a:rPr>
              <a:t>• </a:t>
            </a:r>
            <a:r>
              <a:rPr sz="1080" b="0">
                <a:solidFill>
                  <a:srgbClr val="222A33"/>
                </a:solidFill>
                <a:latin typeface="WenQuanYi Micro Hei"/>
              </a:rPr>
              <a:t>峰值体验:小龙虾上桌仪式感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4654296"/>
            <a:ext cx="2304288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FF6D00"/>
                </a:solidFill>
                <a:latin typeface="WenQuanYi Micro Hei"/>
              </a:rPr>
              <a:t>• </a:t>
            </a:r>
            <a:r>
              <a:rPr sz="1080" b="0">
                <a:solidFill>
                  <a:srgbClr val="222A33"/>
                </a:solidFill>
                <a:latin typeface="WenQuanYi Micro Hei"/>
              </a:rPr>
              <a:t>终值:结账弹好评页+离店券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16752" y="3291840"/>
            <a:ext cx="1828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6D00"/>
                </a:solidFill>
                <a:latin typeface="WenQuanYi Micro Hei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1554480"/>
            <a:ext cx="2670048" cy="393192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181344" y="1554480"/>
            <a:ext cx="2670048" cy="777240"/>
          </a:xfrm>
          <a:prstGeom prst="roundRect">
            <a:avLst/>
          </a:prstGeom>
          <a:solidFill>
            <a:srgbClr val="1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81344" y="2057400"/>
            <a:ext cx="2670048" cy="274320"/>
          </a:xfrm>
          <a:prstGeom prst="rect">
            <a:avLst/>
          </a:prstGeom>
          <a:solidFill>
            <a:srgbClr val="1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18504" y="1664208"/>
            <a:ext cx="5486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WenQuanYi Micro Hei"/>
              </a:rPr>
              <a:t>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67144" y="1664208"/>
            <a:ext cx="184708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</a:rPr>
              <a:t>私域沉淀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64224" y="2514600"/>
            <a:ext cx="2304288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A06A"/>
                </a:solidFill>
                <a:latin typeface="WenQuanYi Micro Hei"/>
              </a:rPr>
              <a:t>• </a:t>
            </a:r>
            <a:r>
              <a:rPr sz="1080" b="0">
                <a:solidFill>
                  <a:srgbClr val="222A33"/>
                </a:solidFill>
                <a:latin typeface="WenQuanYi Micro Hei"/>
              </a:rPr>
              <a:t>企微深夜食堂群,群内9折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4" y="3227832"/>
            <a:ext cx="2304288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A06A"/>
                </a:solidFill>
                <a:latin typeface="WenQuanYi Micro Hei"/>
              </a:rPr>
              <a:t>• </a:t>
            </a:r>
            <a:r>
              <a:rPr sz="1080" b="0">
                <a:solidFill>
                  <a:srgbClr val="222A33"/>
                </a:solidFill>
                <a:latin typeface="WenQuanYi Micro Hei"/>
              </a:rPr>
              <a:t>会员标签:新客/高频/沉睡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64224" y="3941064"/>
            <a:ext cx="2304288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A06A"/>
                </a:solidFill>
                <a:latin typeface="WenQuanYi Micro Hei"/>
              </a:rPr>
              <a:t>• </a:t>
            </a:r>
            <a:r>
              <a:rPr sz="1080" b="0">
                <a:solidFill>
                  <a:srgbClr val="222A33"/>
                </a:solidFill>
                <a:latin typeface="WenQuanYi Micro Hei"/>
              </a:rPr>
              <a:t>储值锁客,等级养客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4224" y="4654296"/>
            <a:ext cx="2304288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EA06A"/>
                </a:solidFill>
                <a:latin typeface="WenQuanYi Micro Hei"/>
              </a:rPr>
              <a:t>• </a:t>
            </a:r>
            <a:r>
              <a:rPr sz="1080" b="0">
                <a:solidFill>
                  <a:srgbClr val="222A33"/>
                </a:solidFill>
                <a:latin typeface="WenQuanYi Micro Hei"/>
              </a:rPr>
              <a:t>生日/节日自动推券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3291840"/>
            <a:ext cx="1828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6D00"/>
                </a:solidFill>
                <a:latin typeface="WenQuanYi Micro Hei"/>
              </a:rPr>
              <a:t>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97696" y="1554480"/>
            <a:ext cx="2670048" cy="393192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997696" y="1554480"/>
            <a:ext cx="2670048" cy="777240"/>
          </a:xfrm>
          <a:prstGeom prst="round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997696" y="2057400"/>
            <a:ext cx="2670048" cy="27432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34856" y="1664208"/>
            <a:ext cx="5486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WenQuanYi Micro Hei"/>
              </a:rPr>
              <a:t>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1664208"/>
            <a:ext cx="1847088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WenQuanYi Micro Hei"/>
              </a:rPr>
              <a:t>复购唤醒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80576" y="2514600"/>
            <a:ext cx="2304288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22A4A"/>
                </a:solidFill>
                <a:latin typeface="WenQuanYi Micro Hei"/>
              </a:rPr>
              <a:t>• </a:t>
            </a:r>
            <a:r>
              <a:rPr sz="1080" b="0">
                <a:solidFill>
                  <a:srgbClr val="222A33"/>
                </a:solidFill>
                <a:latin typeface="WenQuanYi Micro Hei"/>
              </a:rPr>
              <a:t>30天未到店→自动推券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0576" y="3227832"/>
            <a:ext cx="2304288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22A4A"/>
                </a:solidFill>
                <a:latin typeface="WenQuanYi Micro Hei"/>
              </a:rPr>
              <a:t>• </a:t>
            </a:r>
            <a:r>
              <a:rPr sz="1080" b="0">
                <a:solidFill>
                  <a:srgbClr val="222A33"/>
                </a:solidFill>
                <a:latin typeface="WenQuanYi Micro Hei"/>
              </a:rPr>
              <a:t>小龙虾上新→群内首发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0576" y="3941064"/>
            <a:ext cx="2304288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22A4A"/>
                </a:solidFill>
                <a:latin typeface="WenQuanYi Micro Hei"/>
              </a:rPr>
              <a:t>• </a:t>
            </a:r>
            <a:r>
              <a:rPr sz="1080" b="0">
                <a:solidFill>
                  <a:srgbClr val="222A33"/>
                </a:solidFill>
                <a:latin typeface="WenQuanYi Micro Hei"/>
              </a:rPr>
              <a:t>会员专属夜宵套餐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0576" y="4654296"/>
            <a:ext cx="2304288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22A4A"/>
                </a:solidFill>
                <a:latin typeface="WenQuanYi Micro Hei"/>
              </a:rPr>
              <a:t>• </a:t>
            </a:r>
            <a:r>
              <a:rPr sz="1080" b="0">
                <a:solidFill>
                  <a:srgbClr val="222A33"/>
                </a:solidFill>
                <a:latin typeface="WenQuanYi Micro Hei"/>
              </a:rPr>
              <a:t>数据复盘→优化爆款排班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623560"/>
            <a:ext cx="1115568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22A4A"/>
                </a:solidFill>
                <a:latin typeface="WenQuanYi Micro Hei"/>
              </a:rPr>
              <a:t>🔁 闭环本质：</a:t>
            </a:r>
            <a:r>
              <a:rPr sz="1100" b="0">
                <a:solidFill>
                  <a:srgbClr val="6B7280"/>
                </a:solidFill>
                <a:latin typeface="WenQuanYi Micro Hei"/>
              </a:rPr>
              <a:t>公域花钱买的每一个新客,都通过扫码入会沉淀进私域,后续复购靠系统自动唤醒——广告费只花一次,客人反复来。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AAB2BC"/>
                </a:solidFill>
                <a:latin typeface="WenQuanYi Micro Hei"/>
              </a:rPr>
              <a:t>新豪仔小龙虾烧烤融合菜 · 数字化经营解决方案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WenQuanYi Micro 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118872" cy="54864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"/>
            <a:ext cx="10515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8CBE0"/>
                </a:solidFill>
                <a:latin typeface="WenQuanYi Micro Hei"/>
              </a:rPr>
              <a:t>CALENDAR · 营销节奏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1115568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WenQuanYi Micro Hei"/>
              </a:rPr>
              <a:t>开业90天逐周作战日历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2331720" cy="1911095"/>
          </a:xfrm>
          <a:prstGeom prst="round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08760"/>
            <a:ext cx="2148840" cy="1463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WenQuanYi Micro Hei"/>
              </a:rPr>
              <a:t>蓄水期 · 开业前4周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417320"/>
            <a:ext cx="1371600" cy="512064"/>
          </a:xfrm>
          <a:prstGeom prst="round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417320"/>
            <a:ext cx="137160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WenQuanYi Micro Hei"/>
              </a:rPr>
              <a:t>前4周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417320"/>
            <a:ext cx="7178040" cy="512064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417320"/>
            <a:ext cx="694944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WenQuanYi Micro Hei"/>
              </a:rPr>
              <a:t>点评商户页上线+20张图,企微社群搭建,小红书装修探店3篇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1984248"/>
            <a:ext cx="1371600" cy="512064"/>
          </a:xfrm>
          <a:prstGeom prst="round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1984248"/>
            <a:ext cx="137160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WenQuanYi Micro Hei"/>
              </a:rPr>
              <a:t>前2周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1984248"/>
            <a:ext cx="7178040" cy="512064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984248"/>
            <a:ext cx="694944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WenQuanYi Micro Hei"/>
              </a:rPr>
              <a:t>上线预售团购(小龙虾套餐),试营业7折磨合出餐,KOC控场攒首评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2551176"/>
            <a:ext cx="1371600" cy="512064"/>
          </a:xfrm>
          <a:prstGeom prst="round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2551176"/>
            <a:ext cx="137160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WenQuanYi Micro Hei"/>
              </a:rPr>
              <a:t>前3天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2551176"/>
            <a:ext cx="7178040" cy="512064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2551176"/>
            <a:ext cx="694944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WenQuanYi Micro Hei"/>
              </a:rPr>
              <a:t>点评免费试上线,达人探店预约,食材1.5倍备货,员工话术演练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264408"/>
            <a:ext cx="2331720" cy="1344168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355848"/>
            <a:ext cx="2148840" cy="1463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WenQuanYi Micro Hei"/>
              </a:rPr>
              <a:t>引爆期 · 开业1-2周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17520" y="3264408"/>
            <a:ext cx="1371600" cy="512064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3264408"/>
            <a:ext cx="137160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WenQuanYi Micro Hei"/>
              </a:rPr>
              <a:t>第1周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3264408"/>
            <a:ext cx="7178040" cy="512064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264408"/>
            <a:ext cx="694944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WenQuanYi Micro Hei"/>
              </a:rPr>
              <a:t>开业三天啤酒买一送一+控流量保出餐,引导好评送饮品,冲50条优质评价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17520" y="3831336"/>
            <a:ext cx="1371600" cy="512064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0" y="3831336"/>
            <a:ext cx="137160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WenQuanYi Micro Hei"/>
              </a:rPr>
              <a:t>第2周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26280" y="3831336"/>
            <a:ext cx="7178040" cy="512064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3831336"/>
            <a:ext cx="694944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WenQuanYi Micro Hei"/>
              </a:rPr>
              <a:t>折扣回调至8.8折,美团外卖上线抢7天扶持,抖音达人探店发布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544568"/>
            <a:ext cx="2331720" cy="1344168"/>
          </a:xfrm>
          <a:prstGeom prst="roundRect">
            <a:avLst/>
          </a:prstGeom>
          <a:solidFill>
            <a:srgbClr val="1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636008"/>
            <a:ext cx="2148840" cy="14630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WenQuanYi Micro Hei"/>
              </a:rPr>
              <a:t>沉淀期 · 开业3-12周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17520" y="4544568"/>
            <a:ext cx="1371600" cy="512064"/>
          </a:xfrm>
          <a:prstGeom prst="roundRect">
            <a:avLst/>
          </a:prstGeom>
          <a:solidFill>
            <a:srgbClr val="1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0" y="4544568"/>
            <a:ext cx="137160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WenQuanYi Micro Hei"/>
              </a:rPr>
              <a:t>第3-4周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26280" y="4544568"/>
            <a:ext cx="7178040" cy="512064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40" y="4544568"/>
            <a:ext cx="694944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WenQuanYi Micro Hei"/>
              </a:rPr>
              <a:t>推储值(充300送50)+会员复购券,点评冲4.5★,企微群日常运营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17520" y="5111496"/>
            <a:ext cx="1371600" cy="512064"/>
          </a:xfrm>
          <a:prstGeom prst="roundRect">
            <a:avLst/>
          </a:prstGeom>
          <a:solidFill>
            <a:srgbClr val="1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17520" y="5111496"/>
            <a:ext cx="137160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WenQuanYi Micro Hei"/>
              </a:rPr>
              <a:t>第5-12周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26280" y="5111496"/>
            <a:ext cx="7178040" cy="512064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3440" y="5111496"/>
            <a:ext cx="6949440" cy="51206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WenQuanYi Micro Hei"/>
              </a:rPr>
              <a:t>小龙虾旺季主推「夏夜限定」,冲点评热门榜,沉睡会员唤醒,数据复盘调爆款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AAB2BC"/>
                </a:solidFill>
                <a:latin typeface="WenQuanYi Micro Hei"/>
              </a:rPr>
              <a:t>新豪仔小龙虾烧烤融合菜 · 数字化经营解决方案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WenQuanYi Micro 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118872" cy="54864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"/>
            <a:ext cx="10515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8CBE0"/>
                </a:solidFill>
                <a:latin typeface="WenQuanYi Micro Hei"/>
              </a:rPr>
              <a:t>OKR · 量化目标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1115568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WenQuanYi Micro Hei"/>
              </a:rPr>
              <a:t>开业90天可量化作战目标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789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WenQuanYi Micro Hei"/>
              </a:rPr>
              <a:t>目标拆到月,每月有抓手、有数字,月底能对账。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584448" cy="214884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146304" cy="2148840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8229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0">
                <a:solidFill>
                  <a:srgbClr val="FF6D00"/>
                </a:solidFill>
                <a:latin typeface="WenQuanYi Micro Hei"/>
              </a:rPr>
              <a:t>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029968"/>
            <a:ext cx="230428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WenQuanYi Micro Hei"/>
              </a:rPr>
              <a:t>月营业额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377440"/>
            <a:ext cx="23042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6D00"/>
                </a:solidFill>
                <a:latin typeface="WenQuanYi Micro Hei"/>
              </a:rPr>
              <a:t>¥24万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3127248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WenQuanYi Micro Hei"/>
              </a:rPr>
              <a:t>稳定期(第3月)目标,日均¥8K×30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828800"/>
            <a:ext cx="3584448" cy="214884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89120" y="1828800"/>
            <a:ext cx="146304" cy="2148840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011680"/>
            <a:ext cx="8229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0">
                <a:solidFill>
                  <a:srgbClr val="1A73E8"/>
                </a:solidFill>
                <a:latin typeface="WenQuanYi Micro Hei"/>
              </a:rPr>
              <a:t>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2029968"/>
            <a:ext cx="230428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WenQuanYi Micro Hei"/>
              </a:rPr>
              <a:t>大众点评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2377440"/>
            <a:ext cx="23042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A73E8"/>
                </a:solidFill>
                <a:latin typeface="WenQuanYi Micro Hei"/>
              </a:rPr>
              <a:t>4.5★ + 200评价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200400"/>
            <a:ext cx="3127248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WenQuanYi Micro Hei"/>
              </a:rPr>
              <a:t>新店90天攒真实评价,冲热门榜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828800"/>
            <a:ext cx="3584448" cy="214884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38160" y="1828800"/>
            <a:ext cx="146304" cy="2148840"/>
          </a:xfrm>
          <a:prstGeom prst="roundRect">
            <a:avLst/>
          </a:prstGeom>
          <a:solidFill>
            <a:srgbClr val="1E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011680"/>
            <a:ext cx="8229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0">
                <a:solidFill>
                  <a:srgbClr val="1EA06A"/>
                </a:solidFill>
                <a:latin typeface="WenQuanYi Micro Hei"/>
              </a:rPr>
              <a:t>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029968"/>
            <a:ext cx="230428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WenQuanYi Micro Hei"/>
              </a:rPr>
              <a:t>会员总数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377440"/>
            <a:ext cx="23042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EA06A"/>
                </a:solidFill>
                <a:latin typeface="WenQuanYi Micro Hei"/>
              </a:rPr>
              <a:t>800+人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200400"/>
            <a:ext cx="3127248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WenQuanYi Micro Hei"/>
              </a:rPr>
              <a:t>扫码点餐自动入会沉淀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160520"/>
            <a:ext cx="3584448" cy="214884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" y="4160520"/>
            <a:ext cx="146304" cy="2148840"/>
          </a:xfrm>
          <a:prstGeom prst="roundRect">
            <a:avLst/>
          </a:prstGeom>
          <a:solidFill>
            <a:srgbClr val="E8A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343400"/>
            <a:ext cx="8229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0">
                <a:solidFill>
                  <a:srgbClr val="E8A817"/>
                </a:solidFill>
                <a:latin typeface="WenQuanYi Micro Hei"/>
              </a:rPr>
              <a:t>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83080" y="4361688"/>
            <a:ext cx="230428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WenQuanYi Micro Hei"/>
              </a:rPr>
              <a:t>储值入账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4709160"/>
            <a:ext cx="23042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8A817"/>
                </a:solidFill>
                <a:latin typeface="WenQuanYi Micro Hei"/>
              </a:rPr>
              <a:t>¥4万/月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532120"/>
            <a:ext cx="3127248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WenQuanYi Micro Hei"/>
              </a:rPr>
              <a:t>首月15-20%营业额转储值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4160520"/>
            <a:ext cx="3584448" cy="214884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389120" y="4160520"/>
            <a:ext cx="146304" cy="2148840"/>
          </a:xfrm>
          <a:prstGeom prst="roundRect">
            <a:avLst/>
          </a:prstGeom>
          <a:solidFill>
            <a:srgbClr val="E5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4343400"/>
            <a:ext cx="8229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0">
                <a:solidFill>
                  <a:srgbClr val="E53A3A"/>
                </a:solidFill>
                <a:latin typeface="WenQuanYi Micro Hei"/>
              </a:rPr>
              <a:t>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4361688"/>
            <a:ext cx="230428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WenQuanYi Micro Hei"/>
              </a:rPr>
              <a:t>外卖日单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4709160"/>
            <a:ext cx="23042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53A3A"/>
                </a:solidFill>
                <a:latin typeface="WenQuanYi Micro Hei"/>
              </a:rPr>
              <a:t>60单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5532120"/>
            <a:ext cx="3127248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WenQuanYi Micro Hei"/>
              </a:rPr>
              <a:t>开业第2周上线抢7天扶持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4160520"/>
            <a:ext cx="3584448" cy="214884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38160" y="4160520"/>
            <a:ext cx="146304" cy="2148840"/>
          </a:xfrm>
          <a:prstGeom prst="round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4343400"/>
            <a:ext cx="8229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0">
                <a:solidFill>
                  <a:srgbClr val="122A4A"/>
                </a:solidFill>
                <a:latin typeface="WenQuanYi Micro Hei"/>
              </a:rPr>
              <a:t>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81160" y="4361688"/>
            <a:ext cx="230428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6B7280"/>
                </a:solidFill>
                <a:latin typeface="WenQuanYi Micro Hei"/>
              </a:rPr>
              <a:t>复购率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4709160"/>
            <a:ext cx="2304288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22A4A"/>
                </a:solidFill>
                <a:latin typeface="WenQuanYi Micro Hei"/>
              </a:rPr>
              <a:t>35%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5532120"/>
            <a:ext cx="3127248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22A33"/>
                </a:solidFill>
                <a:latin typeface="WenQuanYi Micro Hei"/>
              </a:rPr>
              <a:t>会员唤醒+储值锁客拉动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AAB2BC"/>
                </a:solidFill>
                <a:latin typeface="WenQuanYi Micro Hei"/>
              </a:rPr>
              <a:t>新豪仔小龙虾烧烤融合菜 · 数字化经营解决方案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WenQuanYi Micro 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118872" cy="54864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"/>
            <a:ext cx="10515600" cy="3657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B8CBE0"/>
                </a:solidFill>
                <a:latin typeface="WenQuanYi Micro Hei"/>
              </a:rPr>
              <a:t>ROI · 投资回报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75488"/>
            <a:ext cx="1115568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WenQuanYi Micro Hei"/>
              </a:rPr>
              <a:t>算清账：投入多少，多久回本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120640" cy="4663440"/>
          </a:xfrm>
          <a:prstGeom prst="roundRect">
            <a:avLst/>
          </a:prstGeom>
          <a:solidFill>
            <a:srgbClr val="F2F4F7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466344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122A4A"/>
                </a:solidFill>
                <a:latin typeface="WenQuanYi Micro Hei"/>
              </a:rPr>
              <a:t>💼 投入明细(参考)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11680"/>
            <a:ext cx="466344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84832"/>
            <a:ext cx="3108960" cy="7132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22A33"/>
                </a:solidFill>
                <a:latin typeface="WenQuanYi Micro Hei"/>
              </a:rPr>
              <a:t>软件·餐饮管理高级营销版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WenQuanYi Micro Hei"/>
              </a:rPr>
              <a:t>含收银+扫码点餐+会员旗舰+小程序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084832"/>
            <a:ext cx="132588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6D00"/>
                </a:solidFill>
                <a:latin typeface="WenQuanYi Micro Hei"/>
              </a:rPr>
              <a:t>¥6,288/年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907792"/>
            <a:ext cx="466344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80944"/>
            <a:ext cx="3108960" cy="7132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22A33"/>
                </a:solidFill>
                <a:latin typeface="WenQuanYi Micro Hei"/>
              </a:rPr>
              <a:t>硬件·收银一体机+扫码盒+打印机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WenQuanYi Micro Hei"/>
              </a:rPr>
              <a:t>一次性,按门店配置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980944"/>
            <a:ext cx="132588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6D00"/>
                </a:solidFill>
                <a:latin typeface="WenQuanYi Micro Hei"/>
              </a:rPr>
              <a:t>约¥3,000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803904"/>
            <a:ext cx="466344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77056"/>
            <a:ext cx="3108960" cy="7132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22A33"/>
                </a:solidFill>
                <a:latin typeface="WenQuanYi Micro Hei"/>
              </a:rPr>
              <a:t>评价专家(口碑必备)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WenQuanYi Micro Hei"/>
              </a:rPr>
              <a:t>新店90天攒评价关键工具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877056"/>
            <a:ext cx="132588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6D00"/>
                </a:solidFill>
                <a:latin typeface="WenQuanYi Micro Hei"/>
              </a:rPr>
              <a:t>按标价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700016"/>
            <a:ext cx="4663440" cy="84124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773168"/>
            <a:ext cx="3108960" cy="7132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222A33"/>
                </a:solidFill>
                <a:latin typeface="WenQuanYi Micro Hei"/>
              </a:rPr>
              <a:t>开业营销预算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WenQuanYi Micro Hei"/>
              </a:rPr>
              <a:t>点评推广+达人+物料+折扣让利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773168"/>
            <a:ext cx="1325880" cy="713232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F6D00"/>
                </a:solidFill>
                <a:latin typeface="WenQuanYi Micro Hei"/>
              </a:rPr>
              <a:t>¥1.1–1.9万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23560"/>
            <a:ext cx="4663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6B7280"/>
                </a:solidFill>
                <a:latin typeface="WenQuanYi Micro Hei"/>
              </a:rPr>
              <a:t>套餐外单独模块以标价为准,成交价BD当面沟通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97880" y="1371600"/>
            <a:ext cx="5760720" cy="4663440"/>
          </a:xfrm>
          <a:prstGeom prst="roundRect">
            <a:avLst/>
          </a:prstGeom>
          <a:solidFill>
            <a:srgbClr val="122A4A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1508760"/>
            <a:ext cx="530352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WenQuanYi Micro Hei"/>
              </a:rPr>
              <a:t>📈 月增收测算(稳定期)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2011680"/>
            <a:ext cx="5303520" cy="640080"/>
          </a:xfrm>
          <a:prstGeom prst="roundRect">
            <a:avLst/>
          </a:prstGeom>
          <a:solidFill>
            <a:srgbClr val="1B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011680"/>
            <a:ext cx="27432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WenQuanYi Micro Hei"/>
              </a:rPr>
              <a:t>扫码点餐省人力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B4D0"/>
                </a:solidFill>
                <a:latin typeface="WenQuanYi Micro Hei"/>
              </a:rPr>
              <a:t>省2名兼职点单工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011680"/>
            <a:ext cx="22402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6D00"/>
                </a:solidFill>
                <a:latin typeface="WenQuanYi Micro Hei"/>
              </a:rPr>
              <a:t>+¥4,000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724912"/>
            <a:ext cx="5303520" cy="640080"/>
          </a:xfrm>
          <a:prstGeom prst="roundRect">
            <a:avLst/>
          </a:prstGeom>
          <a:solidFill>
            <a:srgbClr val="1B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2724912"/>
            <a:ext cx="27432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WenQuanYi Micro Hei"/>
              </a:rPr>
              <a:t>储值现金流回笼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B4D0"/>
                </a:solidFill>
                <a:latin typeface="WenQuanYi Micro Hei"/>
              </a:rPr>
              <a:t>首月,锁未来消费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724912"/>
            <a:ext cx="22402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6D00"/>
                </a:solidFill>
                <a:latin typeface="WenQuanYi Micro Hei"/>
              </a:rPr>
              <a:t>+¥4万入账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3438144"/>
            <a:ext cx="5303520" cy="640080"/>
          </a:xfrm>
          <a:prstGeom prst="roundRect">
            <a:avLst/>
          </a:prstGeom>
          <a:solidFill>
            <a:srgbClr val="1B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438144"/>
            <a:ext cx="27432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WenQuanYi Micro Hei"/>
              </a:rPr>
              <a:t>会员复购提升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B4D0"/>
                </a:solidFill>
                <a:latin typeface="WenQuanYi Micro Hei"/>
              </a:rPr>
              <a:t>800会员×复购拉动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438144"/>
            <a:ext cx="22402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6D00"/>
                </a:solidFill>
                <a:latin typeface="WenQuanYi Micro Hei"/>
              </a:rPr>
              <a:t>+¥6,000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4151376"/>
            <a:ext cx="5303520" cy="640080"/>
          </a:xfrm>
          <a:prstGeom prst="roundRect">
            <a:avLst/>
          </a:prstGeom>
          <a:solidFill>
            <a:srgbClr val="1B3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4151376"/>
            <a:ext cx="27432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WenQuanYi Micro Hei"/>
              </a:rPr>
              <a:t>外卖增量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AB4D0"/>
                </a:solidFill>
                <a:latin typeface="WenQuanYi Micro Hei"/>
              </a:rPr>
              <a:t>第2周上线新增渠道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4151376"/>
            <a:ext cx="224028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F6D00"/>
                </a:solidFill>
                <a:latin typeface="WenQuanYi Micro Hei"/>
              </a:rPr>
              <a:t>+¥3,000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4910328"/>
            <a:ext cx="5303520" cy="914400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4910328"/>
            <a:ext cx="5120640" cy="9144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FFFFF"/>
                </a:solidFill>
                <a:latin typeface="WenQuanYi Micro Hei"/>
              </a:rPr>
              <a:t>💡 月经营性增收 ≈ ¥1.3万 + 储值¥4万现金回笼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WenQuanYi Micro Hei"/>
              </a:rPr>
              <a:t>软硬件投入约¥9千 → 1个月内即可回本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AAB2BC"/>
                </a:solidFill>
                <a:latin typeface="WenQuanYi Micro Hei"/>
              </a:rPr>
              <a:t>新豪仔小龙虾烧烤融合菜 · 数字化经营解决方案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B7280"/>
                </a:solidFill>
                <a:latin typeface="WenQuanYi Micro 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0C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164592" cy="1097280"/>
          </a:xfrm>
          <a:prstGeom prst="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914400"/>
            <a:ext cx="100584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WenQuanYi Micro Hei"/>
              </a:rPr>
              <a:t>新豪仔小龙虾 × 美团收银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F9A4A"/>
                </a:solidFill>
                <a:latin typeface="WenQuanYi Micro Hei"/>
              </a:rPr>
              <a:t>让新店从开业第一天就赢在数字化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606040"/>
            <a:ext cx="2057400" cy="2011680"/>
          </a:xfrm>
          <a:prstGeom prst="roundRect">
            <a:avLst/>
          </a:prstGeom>
          <a:solidFill>
            <a:srgbClr val="1B395C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20574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FF6D00"/>
                </a:solidFill>
                <a:latin typeface="WenQuanYi Micro Hei"/>
              </a:rPr>
              <a:t>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2057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WenQuanYi Micro Hei"/>
              </a:rPr>
              <a:t>开业即用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77640"/>
            <a:ext cx="2057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8CBE0"/>
                </a:solidFill>
                <a:latin typeface="WenQuanYi Micro Hei"/>
              </a:rPr>
              <a:t>抢90天新店红利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26664" y="2606040"/>
            <a:ext cx="2057400" cy="2011680"/>
          </a:xfrm>
          <a:prstGeom prst="roundRect">
            <a:avLst/>
          </a:prstGeom>
          <a:solidFill>
            <a:srgbClr val="1B395C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26664" y="2834640"/>
            <a:ext cx="20574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FF6D00"/>
                </a:solidFill>
                <a:latin typeface="WenQuanYi Micro Hei"/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6664" y="3520440"/>
            <a:ext cx="2057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WenQuanYi Micro Hei"/>
              </a:rPr>
              <a:t>出餐不崩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6664" y="3977640"/>
            <a:ext cx="2057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8CBE0"/>
                </a:solidFill>
                <a:latin typeface="WenQuanYi Micro Hei"/>
              </a:rPr>
              <a:t>扫码点餐保高峰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0368" y="2606040"/>
            <a:ext cx="2057400" cy="2011680"/>
          </a:xfrm>
          <a:prstGeom prst="roundRect">
            <a:avLst/>
          </a:prstGeom>
          <a:solidFill>
            <a:srgbClr val="1B395C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0368" y="2834640"/>
            <a:ext cx="20574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FF6D00"/>
                </a:solidFill>
                <a:latin typeface="WenQuanYi Micro Hei"/>
              </a:rPr>
              <a:t>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3520440"/>
            <a:ext cx="2057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WenQuanYi Micro Hei"/>
              </a:rPr>
              <a:t>锁客回款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3977640"/>
            <a:ext cx="2057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8CBE0"/>
                </a:solidFill>
                <a:latin typeface="WenQuanYi Micro Hei"/>
              </a:rPr>
              <a:t>储值首月¥4万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34072" y="2606040"/>
            <a:ext cx="2057400" cy="2011680"/>
          </a:xfrm>
          <a:prstGeom prst="roundRect">
            <a:avLst/>
          </a:prstGeom>
          <a:solidFill>
            <a:srgbClr val="1B395C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34072" y="2834640"/>
            <a:ext cx="20574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FF6D00"/>
                </a:solidFill>
                <a:latin typeface="WenQuanYi Micro Hei"/>
              </a:rPr>
              <a:t>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34072" y="3520440"/>
            <a:ext cx="2057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WenQuanYi Micro Hei"/>
              </a:rPr>
              <a:t>公私域闭环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4072" y="3977640"/>
            <a:ext cx="2057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8CBE0"/>
                </a:solidFill>
                <a:latin typeface="WenQuanYi Micro Hei"/>
              </a:rPr>
              <a:t>广告费只花一次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7776" y="2606040"/>
            <a:ext cx="2057400" cy="2011680"/>
          </a:xfrm>
          <a:prstGeom prst="roundRect">
            <a:avLst/>
          </a:prstGeom>
          <a:solidFill>
            <a:srgbClr val="1B395C"/>
          </a:solidFill>
          <a:ln>
            <a:noFill/>
          </a:ln>
          <a:effectLst/>
          <a:effectLst>
            <a:outerShdw blurRad="60000" dist="25000" dir="5400000" rotWithShape="0">
              <a:srgbClr val="333333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37776" y="2834640"/>
            <a:ext cx="205740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0">
                <a:solidFill>
                  <a:srgbClr val="FF6D00"/>
                </a:solidFill>
                <a:latin typeface="WenQuanYi Micro Hei"/>
              </a:rPr>
              <a:t>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37776" y="3520440"/>
            <a:ext cx="2057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WenQuanYi Micro Hei"/>
              </a:rPr>
              <a:t>口碑立住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7776" y="3977640"/>
            <a:ext cx="20574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B8CBE0"/>
                </a:solidFill>
                <a:latin typeface="WenQuanYi Micro Hei"/>
              </a:rPr>
              <a:t>点评冲4.5★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4924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WenQuanYi Micro Hei"/>
              </a:rPr>
              <a:t>开业只有一次,数字化底座要在第一天就打好。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AACC2"/>
                </a:solidFill>
                <a:latin typeface="WenQuanYi Micro Hei"/>
              </a:rPr>
              <a:t>美团餐饮SaaS运营策划团队  |  2026年6月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