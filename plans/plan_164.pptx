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100000">
              <a:srgbClr val="0D47A1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4800000"/>
            <a:ext cx="9144000" cy="3435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00000"/>
            <a:ext cx="8229600" cy="8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焱家拌堂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00000"/>
            <a:ext cx="8229600" cy="5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28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0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4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杭州 · 钱江世纪城/奥体板块 | 2026年7月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0000"/>
            <a:ext cx="8229600" cy="28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美团收银 | 新店开业运营方案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品牌理解：拌饭赛道的机遇与挑战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0000"/>
            <a:ext cx="8229600" cy="3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「中式快餐轻量化」细分切口 × 奥体CBD新店冷启动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0000" y="980000"/>
            <a:ext cx="4150000" cy="385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000" y="1000000"/>
            <a:ext cx="3990000" cy="38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5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⚠️ 核心挑战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💰 ¥28触品类天花板 — 拌饭主力带15-25元，28元需"一眼看到贵在哪"（大份/鲜切/明档），否则客户转米村(¥22-26)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🏢 奥体新城晚市断崖 — 白领午市刚需密集，晚间+周末人流骤降，全时段经营压力大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🧠 "拌堂"认知模糊 — 新概念教育成本高，消费者搜拌饭首选米村，需强差异化突围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🆕 新店零口碑 — 无评价/会员/数据，冷启动每一单都是获客成本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🍽️ 竞争烈度高 — 米村(品牌流量)+鱼你在一起+老乡鸡/老娘舅(更便宜更全)围堵28元档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0000" y="980000"/>
            <a:ext cx="4200000" cy="385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0000" y="1000000"/>
            <a:ext cx="4040000" cy="38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5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🔥 赛道机遇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📈 拌饭赛道高速扩张 — 中式快餐市场&gt;1万亿(2024)，拌饭/拌面为增速最快细分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🏙️ 奥体午市刚需 — 钱江世纪城CBD白领密集(中南/传化等总部)，午餐决策快、复购潜力大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🔥 "焱"字自带记忆点 — 三个火=大火快炒/热拌，天然区别米村"冷拌"，可建"热拌"品类认知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📱 外卖增量蓝海 — 杭州互联网人群外卖渗透率极高，拌饭=天然外卖品类(出餐快/不怕颠)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💎 70㎡精品店型 — 投入可控、人效高、标准化出餐快，跑通后可复制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🏪 商圈洞察 · 奥体CBD竞争格局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650000"/>
            <a:ext cx="8544000" cy="55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670000"/>
            <a:ext cx="8344000" cy="51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📍 焱家拌堂 | 盈丰街道博奥路与利一路(奥体中心东北侧) | 70㎡ | 人均¥28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核心客群：CBD白领（午餐刚需/决策快/注重性价比+速度） | 主力时段：工作日午市11:30-13:00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000" y="1320000"/>
            <a:ext cx="8544000" cy="350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000" y="1330000"/>
            <a:ext cx="8404000" cy="33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          人均      核心弱点                        焱家拌堂切入机会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710000"/>
            <a:ext cx="8544000" cy="3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000" y="1725000"/>
            <a:ext cx="17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🥇 米村拌饭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0" y="1725000"/>
            <a:ext cx="7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¥22-26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725000"/>
            <a:ext cx="28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口味同质/缺记忆点/"冷拌"无烟火气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0" y="1725000"/>
            <a:ext cx="31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打"热拌·现炒"差异,"焱"=火,明档现做+大块鲜切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0000" y="2090000"/>
            <a:ext cx="8544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000" y="2105000"/>
            <a:ext cx="17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🥈 鱼你在一起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000" y="2105000"/>
            <a:ext cx="7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¥25-30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0000" y="2105000"/>
            <a:ext cx="28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酸菜鱼品类单一,不适合天天吃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000" y="2105000"/>
            <a:ext cx="31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拌饭SKU更丰富,"今天吃什么"选择多,适合高频午餐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0000" y="2470000"/>
            <a:ext cx="8544000" cy="3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000" y="2485000"/>
            <a:ext cx="17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🥉 老乡鸡/老娘舅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000" y="2485000"/>
            <a:ext cx="7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¥18-25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0000" y="2485000"/>
            <a:ext cx="28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价格更低但菜品平庸,缺年轻吸引力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0000" y="2485000"/>
            <a:ext cx="31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用品牌感+可视化食材升级,28元档做"值感"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0000" y="2850000"/>
            <a:ext cx="8544000" cy="3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000" y="2865000"/>
            <a:ext cx="17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④ 连锁粉面店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0000" y="2865000"/>
            <a:ext cx="7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¥15-22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0" y="2865000"/>
            <a:ext cx="28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价格低但体验单一,午餐选择疲劳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0000" y="2865000"/>
            <a:ext cx="3100000" cy="3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拌饭≠面食,是午餐"换口味"的天然替代选项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000" y="3310000"/>
            <a:ext cx="8544000" cy="5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💡 核心判断：28元拌饭在米村已占位前提下，必须用「热拌·现炒·大份可见食材」做价值感差异化，同时绑定写字楼午市刚需批量渗透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核心策略：新店冷启动三板斧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8229600" cy="2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出发点：帮焱家拌堂在奥体CBD站稳脚跟——先活下来（午市站住），再活得好（复购+外卖）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000" y="880000"/>
            <a:ext cx="2800000" cy="39500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00" y="900000"/>
            <a:ext cx="2660000" cy="39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🔥 策略一："1元加购"锁午市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What：首单"1元加购招牌小食"(成本≤3元)，让顾客多吃一样，拉开与米村单碗体验差距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谁来做：店长设活动，服务员推荐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第几天：开业D1起持续30天午市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收银后台→营销中心→加购活动→设"1元加购"SKU+限午市时段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话术："再加1块钱送您招牌XX小食，很多客人都会加~"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拒绝应对："没关系，下次来可以试~"不强推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000" y="880000"/>
            <a:ext cx="2800000" cy="3950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0000" y="900000"/>
            <a:ext cx="2660000" cy="39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🏢 策略二：写字楼地推拼单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What：BD奥体写字楼(中南/传化)，"5人拼单立减10元"企业午餐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谁来做：老板/店长每周地推3栋楼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第几天：开业前D-7开始扫楼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收银→万能码→"拼单专属码"，每栋楼独立码追踪来源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话术："楼下新开热拌饭店，5人一起点每人省2块，扫码就能点~"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拒绝应对：楼下午餐时段摆试吃桌+发传单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0000" y="880000"/>
            <a:ext cx="2800000" cy="395000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0000" y="900000"/>
            <a:ext cx="2660000" cy="39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👁️ 策略三："28元值感"工程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What：大块鲜切肉/明档现拌/碗大料满，菜单标"现切XXg鲜肉"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谁来做：老板定标准，后厨执行，店长日抽查3碗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第几天：开业前完成标准，开业起每日执行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扫码点餐→菜品管理→详情页加"现切XXg"标签+实拍图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话术："我们是现切鲜肉现炒的，您看份量，不是料理包"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拒绝应对：推¥22小份作试吃入门款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🔧 已签产品场景化：解决焱家拌堂的具体问题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630000"/>
            <a:ext cx="8544000" cy="85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650000"/>
            <a:ext cx="2600000" cy="2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📱 扫码点餐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880000"/>
            <a:ext cx="2600000" cy="2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解决：70㎡小店高峰期排队+省人力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000" y="650000"/>
            <a:ext cx="5500000" cy="81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午市高峰扫码替代1名点餐员（月省¥4,000-5,000）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点餐时间3min→40s，翻台率提升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后台→扫码点餐→开启"弹窗推荐招牌+加购小食"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530000"/>
            <a:ext cx="8544000" cy="85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000" y="1550000"/>
            <a:ext cx="2600000" cy="2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👑 会员旗舰版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1780000"/>
            <a:ext cx="2600000" cy="2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解决：新店零复购，快速沉淀忠实客户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000" y="1550000"/>
            <a:ext cx="5500000" cy="81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扫码自动弹窗入会，首月目标200名会员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旗舰独有：团购会员卡(公域→私域)+潜客营销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会员系统→权益设置→会员价菜品(3-5款招牌每款减¥2-3)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0000" y="2430000"/>
            <a:ext cx="8544000" cy="85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000" y="2450000"/>
            <a:ext cx="2600000" cy="2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🛵 外卖中心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00" y="2680000"/>
            <a:ext cx="2600000" cy="2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解决：晚市+周末堂食断崖，外卖是增量战场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000" y="2450000"/>
            <a:ext cx="5500000" cy="81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拌饭=天然外卖品类（出餐快/不怕颠）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多平台聚合接单，一台打印机管全渠道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目标：30天内外卖日均20单（月增收约¥11,200）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外卖中心→同步菜单→设外卖套餐(拌饭+小食+饮品¥32)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" y="3330000"/>
            <a:ext cx="8544000" cy="85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000" y="3350000"/>
            <a:ext cx="2600000" cy="2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💳 收银POS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00" y="3580000"/>
            <a:ext cx="2600000" cy="2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9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解决：第一天起建立清晰经营数据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000" y="3350000"/>
            <a:ext cx="5500000" cy="81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日报表→日流水/客单/桌均一目了然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菜品排行→7天后砍末位3款、加推TOP3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收银后台→经营看板→每天打烊后看"今日复盘"(5min)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🔄 公私域联动：从"路人"到"常客"的闭环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000" y="650000"/>
            <a:ext cx="2800000" cy="4200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670000"/>
            <a:ext cx="2680000" cy="41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🌐 公域获客</a:t>
            </a:r>
          </a:p>
          <a:p>
            <a:pPr algn="l">
              <a:spcBef>
                <a:spcPts val="400"/>
              </a:spcBef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大众点评：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新店阶段：0→出星为首要目标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冲新店榜→热门榜升级路线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开业30天攒30条真实好评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上架¥28招牌拌饭团购套餐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商家后台→营销中心→团购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美团外卖：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上线外卖专属套餐¥32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新店流量扶持期(30天)冲销量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首单立减¥5+满30减3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0000" y="650000"/>
            <a:ext cx="2800000" cy="42000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10000" y="670000"/>
            <a:ext cx="2680000" cy="41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rPr>
              <a:t>🏪 到店转化</a:t>
            </a:r>
          </a:p>
          <a:p>
            <a:pPr algn="l">
              <a:spcBef>
                <a:spcPts val="400"/>
              </a:spcBef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扫码点餐自动弹窗：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首次扫码→弹窗"入会领¥3券"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每桌转化率目标≥40%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1元加购：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增加体验丰富度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拉开与单碗竞品差距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服务员话术：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"扫码入会今天就能减3块~"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0000" y="650000"/>
            <a:ext cx="2800000" cy="42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0000" y="670000"/>
            <a:ext cx="2680000" cy="41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💎 私域留客</a:t>
            </a:r>
          </a:p>
          <a:p>
            <a:pPr algn="l">
              <a:spcBef>
                <a:spcPts val="400"/>
              </a:spcBef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会员体系(旗舰版)：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会员价菜品(减¥2-3/道)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积分兑换(消费1元=1分)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生日当月赠招牌拌饭1份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社群运营：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建"焱家午餐群"(按写字楼分群)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每周一11:00发本周新品预告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群内限时"午市闪购券"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系统自动唤醒：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7天未到店→push"想你了"券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0000" y="2500000"/>
            <a:ext cx="300000" cy="3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0000" y="2500000"/>
            <a:ext cx="300000" cy="3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点评口碑：新店冷启动→出星→冲榜路径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0000"/>
            <a:ext cx="8229600" cy="2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当前阶段：新店未开业 → 0评价/0星级 | 目标：30天出星+冲新店榜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000" y="900000"/>
            <a:ext cx="2850000" cy="39500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000" y="920000"/>
            <a:ext cx="2730000" cy="39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🚨 第1阶段(D1-D14)
止血+基础评价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目标：攒够15-20条真实好评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开业首周："免费试"活动(大众点评后台开通，系统匹配试客)——合规引评，不可促评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商家后台→营销中心→免费试→设置5份/天试吃名额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服务员：上菜后自然引导"如果觉得好吃，欢迎分享给朋友"(分享≠促评)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⛔ 2025.10新规：严禁"好评返券/好评送菜"等促评行为，高强度促评=新评价不计入星级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差评24小时内回复(诚恳道歉+改进方案+邀请再次体验)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0000" y="900000"/>
            <a:ext cx="2850000" cy="395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10000" y="920000"/>
            <a:ext cx="2730000" cy="39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📈 第2阶段(D15-D45)
冲新店榜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目标：累计30+评价，出星，冲新店榜前10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持续"免费试"但名额减至3份/天(控成本)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打造"分享动机"：明档现拌出餐仪式感(火焰/冒烟/大碗端上)→顾客自发拍照分享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摆盘设计+餐桌小卡片"拍照好看的角度提示"→降低分享门槛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商家后台→门店装修→更新店铺头图(用最佳出品照)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目标评分：4.5分+(新店基线)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900000"/>
            <a:ext cx="2850000" cy="3950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0000" y="920000"/>
            <a:ext cx="2730000" cy="39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🏆 第3阶段(D46-D90)
稳评+进热门榜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目标：评价50+条，评分稳在4.5+，冲热门榜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精选3条优质评价→置顶(商家后台→评价管理)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差评率控制&lt;5%：每周复盘差评关键词→针对性改进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"免费菜"替代免费试(成本更低)→维持评价增量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营销中心→免费菜→设1款小食为免费菜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大众点评团购优化：团购套餐"必吃推荐"标签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👑 会员体系：让每个白领变成"午餐常客"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0000"/>
            <a:ext cx="8229600" cy="2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⚠️ 假设日均堂食客流40-50人(70㎡/28元/午市为主)，首月入会目标200人(转化率40%+)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000" y="900000"/>
            <a:ext cx="2800000" cy="395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000" y="920000"/>
            <a:ext cx="2680000" cy="39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🏷️ 会员价权益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3-5款招牌拌饭设会员价：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招牌热拌肥牛饭：¥28→¥25(会员)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麻辣鸡丁拌饭：¥26→¥23(会员)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照烧猪排拌饭：¥28→¥25(会员)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每道减¥2-3，让会员"每次都值"</a:t>
            </a:r>
          </a:p>
          <a:p>
            <a:pPr algn="l">
              <a:spcBef>
                <a:spcPts val="300"/>
              </a:spcBef>
            </a:pPr>
            <a:r>
              <a:rPr sz="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⚠️ 不是为了打折，是为了让会员有"身份感"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会员系统→权益管理→会员价菜品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→ 扫码点餐自动识别会员身份弹窗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0000" y="900000"/>
            <a:ext cx="2800000" cy="39500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10000" y="920000"/>
            <a:ext cx="2680000" cy="39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积分+次卡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积分体系：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消费1元=1积分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200积分换招牌小食1份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500积分换任意拌饭1份(≈18次消费)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午餐次卡(核心锁客工具)：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5次卡：¥128(每次¥25.6,省¥12)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10次卡：¥245(每次¥24.5,省¥35)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→ 次卡=把"可能来"变成"一定来"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会员系统→次卡管理→创建午餐卡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900000"/>
            <a:ext cx="2800000" cy="395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0000" y="920000"/>
            <a:ext cx="2680000" cy="39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📊 数据驱动运营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旗舰版6大独有能力：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团购会员卡(公域→私域一键转化)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潜客营销(到店未消费→自动推券)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沉睡唤醒(7天未到→push¥3券)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RFM智能分群(高频/中频/低频)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执行节奏：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第1周：上线会员价+入会弹窗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第2周：推次卡(员工话术培训)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第4周：启动沉睡唤醒自动任务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会员系统→智能营销→自动化任务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开业营销节奏：4周从0→稳（7月开业适配）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000" y="630000"/>
            <a:ext cx="2150000" cy="4250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0000" y="650000"/>
            <a:ext cx="2050000" cy="42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🌊 蓄水期
D-7至D-1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写字楼地推(每天1栋楼)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大众点评店铺装修上线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团购套餐上架(¥28招牌拌饭)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外卖平台上线+新店标签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员工话术培训(入会/加购/点餐)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万能码物料印刷(桌贴/传单)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明档出餐流程演练</a:t>
            </a:r>
          </a:p>
          <a:p>
            <a:pPr algn="l">
              <a:spcBef>
                <a:spcPts val="300"/>
              </a:spcBef>
            </a:pPr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目标：完成所有开业准备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00000" y="630000"/>
            <a:ext cx="2150000" cy="425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000" y="650000"/>
            <a:ext cx="2050000" cy="42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🔥 体验期
D1至D7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1元加购正式启动(全时段)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免费试开通(5份/天)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扫码点餐入会弹窗上线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高温天：赠冰粉(成本¥0.5)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中午出餐高峰实测+调整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每天打烊后看收银看板复盘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差评24h内回复</a:t>
            </a:r>
          </a:p>
          <a:p>
            <a:pPr algn="l">
              <a:spcBef>
                <a:spcPts val="300"/>
              </a:spcBef>
            </a:pPr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目标：日均客流40+,入会50人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0000" y="630000"/>
            <a:ext cx="2150000" cy="425000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00" y="650000"/>
            <a:ext cx="2050000" cy="42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📈 爆发期
D8至D21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午餐次卡上架(5次¥128)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外卖冲单:首单减¥5+满减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写字楼第2轮地推(复访+拼单)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暑期嗨吃卡(¥39,学生专属)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菜品排行复盘:砍末3款加推TOP3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社群"焱家午餐群"启动运营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点评评价→15条,目标出星</a:t>
            </a:r>
          </a:p>
          <a:p>
            <a:pPr algn="l">
              <a:spcBef>
                <a:spcPts val="300"/>
              </a:spcBef>
            </a:pPr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目标：日均50+客流,外卖日20单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0000" y="630000"/>
            <a:ext cx="2150000" cy="425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0000" y="650000"/>
            <a:ext cx="2050000" cy="42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🏆 稳增期
D22至D30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启动会员沉睡唤醒任务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潜客营销:到店未消费→推券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外卖评分优化(目标4.5+)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点评评价→30条,冲新店榜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复盘月度数据:流水/客单/会员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确定月度OKR基线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规划8月贴秋膘+七夕活动</a:t>
            </a:r>
          </a:p>
          <a:p>
            <a:pPr algn="l">
              <a:spcBef>
                <a:spcPts val="300"/>
              </a:spcBef>
            </a:pPr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目标：月流水¥84K+,会员200+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🛵 外卖增量 + 🌡️ 暑期专项策略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50000"/>
            <a:ext cx="4300000" cy="42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0000" y="670000"/>
            <a:ext cx="4140000" cy="41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4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🛵 外卖策略(弥补晚市+周末断崖)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Why外卖是命脉：奥体CBD晚市+周末堂食断崖，外卖填补50%时段空白，杭州外卖渗透率全国TOP3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套餐设计：拌饭+小食+饮品套餐¥32(客单溢价¥4)；双人拼单套餐¥55(省¥1)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定价策略：外卖主力价带¥25-35，保持与堂食价差≤¥5，避免"外卖贵太多"差评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冲单节奏：D1-7新店标签流量期→首单减¥5+满30减3；D8-21减力度→满40减5；D22+正常运营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出餐管控：外卖出餐目标≤8min(拌饭天然快)，超时率&lt;3%，打包必须"碗+盖+分隔"防混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评分运营：外卖评分目标4.7+，差评关键词"等太久/量少"→针对性改进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操作：外卖中心→菜单同步→活动设置→出餐计时看板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月增收测算：⚠️假设日均20单×¥28客单=¥560/天→月增¥16,800(扣除平台佣金约20%,净增约¥13,440)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0000" y="650000"/>
            <a:ext cx="4200000" cy="42000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80000" y="670000"/>
            <a:ext cx="4040000" cy="41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🌡️ 7月暑期专项(开业即高温)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高温应对：杭州7月28-38°C，午市堂食受影响→外卖是主增长极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消暑加分项：每单赠冰粉1份(成本¥0.5)，"清凉一夏"杯贴，堂食区空调+"进店纳凉"提示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暑期嗨吃卡：凭学生证¥39办卡→7-8月每次9折+赠冰饮1杯，锁定暑期学生客群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夜宵测试：7月中旬起试延长至21:30(观察晚市客流)，推"夏夜凉拌套餐"(凉拌+啤酒¥38)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七夕预热(7月底)：7/25起预售双人套餐(热拌+凉菜+饮品¥79)，到店赠冰激凌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贴秋膘(8月初)：立秋前后换季→推"贴秋膘·大份热拌"限定(加量不加价)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🔧 操作：扫码点餐→弹窗"消暑福利" | 会员系统→暑期卡权益包 | 外卖→夜宵时段延时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暑期目标：7-8月外卖日均25单+，堂食日均45人+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量化OKR + 投资回报分析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50000"/>
            <a:ext cx="4300000" cy="420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0000" y="670000"/>
            <a:ext cx="4140000" cy="41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月度OKR目标(第1-3个月)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📍 基础假设(⚠️ 新店无历史数据,以下为合理估算)：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70㎡/12桌 × 午市翻台1.5次 × 晚市0.5次 = 日均约24桌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客单¥28 × 日均桌均1.5人 × 24桌 = 日堂食¥1,008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外卖日均20单 × ¥28 = ¥560/天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合计日均营收约¥1,568 → 月流水约¥47,000(保守)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🏆 第1个月OKR：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月流水：≥¥50,000(含外卖,目标¥56K)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会员数：新增200人(转化率40%+)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点评评价：30+条,出星,评分4.5+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外卖日均：20单+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次卡售出：30张+(锁定150次复购)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9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🏆 第3个月OKR：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月流水：≥¥84,000(堂食¥56K+外卖¥28K)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会员数：累计500+人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点评评分：4.5+,冲热门榜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外卖日均：30单+,评分4.7+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午餐次卡月售50张+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0000" y="650000"/>
            <a:ext cx="4200000" cy="42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80000" y="670000"/>
            <a:ext cx="4040000" cy="415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投资回报分析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💳 已签SaaS年费(已投入)：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收银POS + 扫码点餐 + 会员旗舰 + 外卖中心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(具体年费金额以合同为准)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📈 SaaS带来的月增收(保守估算)：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① 扫码点餐省人力：¥4,500/月(替代1名点餐员)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② 会员复购提升：¥6,000/月(200会员×月均消费2次×¥15增量)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③ 外卖增量：¥13,440/月(日均20单×¥28×扣佣后80%)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④ 次卡锁客：¥3,840/月(30张×¥128,预收现金流)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月增收合计：约¥27,780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⏰ 回本周期：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SaaS年费按¥12,000估算(⚠️以合同为准)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增收¥27,780 vs 月费¥1,000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约0.5个月即可回本！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🔥 第3个月起(稳定期)：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月流水目标¥84,000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净利率按品类基准10%→月净利¥8,400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▸ SaaS的ROI = 增收¥27,780 ÷ 月费¥1,000 ≈ 27.8倍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100000">
              <a:srgbClr val="0D47A1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4800000"/>
            <a:ext cx="9144000" cy="3435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0"/>
            <a:ext cx="8229600" cy="6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焱家拌堂 × 美团收银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0000" y="1800000"/>
            <a:ext cx="1550000" cy="700000"/>
          </a:xfrm>
          <a:prstGeom prst="round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1900000"/>
            <a:ext cx="1450000" cy="5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 热拌差异化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0000" y="1800000"/>
            <a:ext cx="1550000" cy="700000"/>
          </a:xfrm>
          <a:prstGeom prst="round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0000" y="1900000"/>
            <a:ext cx="1450000" cy="5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数字化提效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50000" y="1800000"/>
            <a:ext cx="1550000" cy="700000"/>
          </a:xfrm>
          <a:prstGeom prst="round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0000" y="1900000"/>
            <a:ext cx="1450000" cy="5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👑 会员锁客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50000" y="1800000"/>
            <a:ext cx="1550000" cy="700000"/>
          </a:xfrm>
          <a:prstGeom prst="round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0000" y="1900000"/>
            <a:ext cx="1450000" cy="5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🛵 外卖增量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000" y="1800000"/>
            <a:ext cx="1550000" cy="700000"/>
          </a:xfrm>
          <a:prstGeom prst="round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0" y="1900000"/>
            <a:ext cx="1450000" cy="5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数据驱动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00000"/>
            <a:ext cx="8229600" cy="5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6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让焱家拌堂在奥体CBD，用"焱"的热度，拌出好生意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00000"/>
            <a:ext cx="8229600" cy="40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2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30000"/>
            <a:ext cx="8229600" cy="28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2026年7月 · 杭州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