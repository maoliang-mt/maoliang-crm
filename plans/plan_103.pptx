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428A"/>
            </a:gs>
            <a:gs pos="100000">
              <a:srgbClr val="4285F4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微软雅黑"/>
              </a:rPr>
              <a:t>浙闽姐姐食坊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BBDEFF"/>
                </a:solidFill>
                <a:latin typeface="微软雅黑"/>
              </a:rPr>
              <a:t>开业营销全案  ·  数字化经营解决方案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794760"/>
            <a:ext cx="5760720" cy="254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BDEFF"/>
                </a:solidFill>
                <a:latin typeface="微软雅黑"/>
              </a:rPr>
              <a:t>📍 杭州上城区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114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BDEFF"/>
                </a:solidFill>
                <a:latin typeface="微软雅黑"/>
              </a:rPr>
              <a:t>🏪 56㎡小店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114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BDEFF"/>
                </a:solidFill>
                <a:latin typeface="微软雅黑"/>
              </a:rPr>
              <a:t>🆕 尚未开业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4114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BDEFF"/>
                </a:solidFill>
                <a:latin typeface="微软雅黑"/>
              </a:rPr>
              <a:t>🍡 浙闽点心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CE8"/>
                </a:solidFill>
                <a:latin typeface="微软雅黑"/>
              </a:rPr>
              <a:t>2026年5月   美团餐饮SaaS运营策划团队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品牌理解：浙闽地方风味的机遇与挑战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DEFF"/>
                </a:solidFill>
                <a:latin typeface="微软雅黑"/>
              </a:rPr>
              <a:t>浙闽姐姐食坊 · 新店开业前诊断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3935"/>
                </a:solidFill>
                <a:latin typeface="微软雅黑"/>
              </a:rPr>
              <a:t>⚠️ 新店必面对的5大挑战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5029200" cy="694944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739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935"/>
                </a:solidFill>
                <a:latin typeface="微软雅黑"/>
              </a:rPr>
              <a:t>P0 · 线上0曝光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482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尚未开业=大众点评0评价0评分
"新店"标签让流量天然不如成熟店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42032"/>
            <a:ext cx="5029200" cy="694944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935"/>
                </a:solidFill>
                <a:latin typeface="微软雅黑"/>
              </a:rPr>
              <a:t>P1 · 商圈认知空白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529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全福桥路以快餐为主，浙闽点心
品类本地认知度有待建立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46704"/>
            <a:ext cx="5029200" cy="694944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935"/>
                </a:solidFill>
                <a:latin typeface="微软雅黑"/>
              </a:rPr>
              <a:t>P2 · 客流冷启动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开业初期依赖自然路过，日均
客流可能不足20人次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151376"/>
            <a:ext cx="5029200" cy="694944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87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935"/>
                </a:solidFill>
                <a:latin typeface="微软雅黑"/>
              </a:rPr>
              <a:t>P3 · 复购难建立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小吃品类客单低，如无会员体系
顾客来过就走，留不住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956048"/>
            <a:ext cx="5029200" cy="694944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9926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935"/>
                </a:solidFill>
                <a:latin typeface="微软雅黑"/>
              </a:rPr>
              <a:t>P4 · 差评高风险期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669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开业磨合期出品不稳定，
前30天差评对星级伤害最大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143000"/>
            <a:ext cx="59436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微软雅黑"/>
              </a:rPr>
              <a:t>🔥 浙闽地方风味4大赛道机遇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737360"/>
            <a:ext cx="5669280" cy="877824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7739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/>
              </a:rPr>
              <a:t>✅ 地方特色风味崛起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08483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2025年浙江省内特色地方小吃搜索量
同比增长35%+，"本地烟火气"成消费热词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743200"/>
            <a:ext cx="5669280" cy="877824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7797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/>
              </a:rPr>
              <a:t>✅ 竞品空位明显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09067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全福桥路目前无同类浙闽点心店，
面馆/快餐为主，差异化空间大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3749040"/>
            <a:ext cx="5669280" cy="877824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7856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/>
              </a:rPr>
              <a:t>✅ 地铁19号线红利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0965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驿城路站1公里内客流激增，高铁站
通勤人群需求快速早餐/特色小吃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4754880"/>
            <a:ext cx="5669280" cy="877824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47914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/>
              </a:rPr>
              <a:t>✅ 小店高利润模型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10235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56㎡小店运营成本低，客单20-35元
×日均50人次=月流水约4万，净利可达18%+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商圈诊断：全福桥路你的位置与机会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笕桥街道·火车东站/高铁站商圈 · 地铁19号线驿城路站覆盖区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6576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👥 核心客群画像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3383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微软雅黑"/>
              </a:rPr>
              <a:t>🚂 铁路/高铁通勤族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20-40岁，早餐/快速小吃
需求，时间敏感，高频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834640"/>
            <a:ext cx="3383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微软雅黑"/>
              </a:rPr>
              <a:t>🏘️ 周边居民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家庭主妇+工薪族，下午茶
/早餐，性价比敏感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86200"/>
            <a:ext cx="3383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31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微软雅黑"/>
              </a:rPr>
              <a:t>🏢 写字楼白领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东方尚城南区+天阳文晖
区域，午市外卖+堂食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937760"/>
            <a:ext cx="3383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83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微软雅黑"/>
              </a:rPr>
              <a:t>🎒 年轻尝鲜族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18-28岁，探店打卡，
喜欢特色地方小吃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188720"/>
            <a:ext cx="42976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2801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🏪 周边竞品图谱（3km内）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755648"/>
            <a:ext cx="402336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1773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竞品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773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人均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773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弱点/切入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103120"/>
            <a:ext cx="402336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148840"/>
            <a:ext cx="1234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微软雅黑"/>
              </a:rPr>
              <a:t>面总管
全福桥店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2860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微软雅黑"/>
              </a:rPr>
              <a:t>¥25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48840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微软雅黑"/>
              </a:rPr>
              <a:t>评分3.8偏低，品类单一
→ 我方：多品类浙闽风味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2852928"/>
            <a:ext cx="4023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2898648"/>
            <a:ext cx="1234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微软雅黑"/>
              </a:rPr>
              <a:t>嵊州特色
小吃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03580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微软雅黑"/>
              </a:rPr>
              <a:t>¥20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898648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微软雅黑"/>
              </a:rPr>
              <a:t>品类相近但已关/老化
→ 我方：品质升级+数字化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02736"/>
            <a:ext cx="402336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648456"/>
            <a:ext cx="1234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微软雅黑"/>
              </a:rPr>
              <a:t>印月·衢州菜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378561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微软雅黑"/>
              </a:rPr>
              <a:t>¥80+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648456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微软雅黑"/>
              </a:rPr>
              <a:t>正餐偏贵，快速消费
场景空缺→我方补位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4352544"/>
            <a:ext cx="4023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4398264"/>
            <a:ext cx="1234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微软雅黑"/>
              </a:rPr>
              <a:t>久旦·烧鸟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53542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微软雅黑"/>
              </a:rPr>
              <a:t>¥101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398264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微软雅黑"/>
              </a:rPr>
              <a:t>夜宵高客单，日间
早/午餐市场无竞争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5102352"/>
            <a:ext cx="402336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5148072"/>
            <a:ext cx="1234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微软雅黑"/>
              </a:rPr>
              <a:t>便利蜂/全家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28523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微软雅黑"/>
              </a:rPr>
              <a:t>¥15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148072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微软雅黑"/>
              </a:rPr>
              <a:t>便利食品，无堂食
体验→差异化明显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1188720"/>
            <a:ext cx="3291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0" y="1280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🎯 核心竞争优势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15400" y="1783080"/>
            <a:ext cx="3017520" cy="77724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18196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✦ 品类差异化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21305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全福桥路唯一
浙闽风味点心店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15400" y="2660904"/>
            <a:ext cx="3017520" cy="77724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2697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✦ 地铁站红利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00837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19号线驿城路
步行10分钟覆盖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3538728"/>
            <a:ext cx="3017520" cy="77724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35753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✦ 小而精模型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56㎡低租金
高翻台，净利18%+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5400" y="4416552"/>
            <a:ext cx="3017520" cy="77724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6840" y="44531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✦ 地方IP潜力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47640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"姐姐"人情味标签
+闽浙双省特色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15400" y="5294376"/>
            <a:ext cx="3017520" cy="77724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53309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✦ 开业流量窗口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6840" y="56418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前60天平台新店
流量扶持红利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整体营销策略：开业即爆，口碑即营销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核心路径：线上建口碑 → 线下引到店 → 会员锁复购 → 数据驱增长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8686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💡 核心策略：用「浙闽姐姐的味道」作为品牌记忆锚点，60天内在全福桥路打造「最有温度的地方小吃」认知标签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8346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283464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2194560"/>
            <a:ext cx="28346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2194560"/>
            <a:ext cx="283464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28346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2834640" cy="7315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89720" y="2194560"/>
            <a:ext cx="28346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89720" y="2194560"/>
            <a:ext cx="283464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开业四阶段营销节奏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每周每天做什么——傻瓜级执行手册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2880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880360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853"/>
                </a:solidFill>
                <a:latin typeface="微软雅黑"/>
              </a:rPr>
              <a:t>🌱 蓄水期·预热造势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第一阶段
（开业前7天）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48840"/>
            <a:ext cx="2651760" cy="127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240280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D-7：美团/点评后台开通
团购套餐配置完成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44952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09067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D-5：邀请2-3位本地美食
达人/KP探店拍内容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49624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D-3：小红书发「开业倒计时」
内容，话题#杭州全福桥路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654296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700016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D-1：开业特惠活动上线
（前50名8折/赠品）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458968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50468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⚠️ 假设国庆确认：具体
达人合作形式待定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188720"/>
            <a:ext cx="2880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188720"/>
            <a:ext cx="2880360" cy="6400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  <a:latin typeface="微软雅黑"/>
              </a:rPr>
              <a:t>🚀 爆发期·冲击人气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第二阶段
（开业第1-2周）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148840"/>
            <a:ext cx="2651760" cy="127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2240280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228600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开业当天：「首单立减3元」
弹窗+收银台储值推荐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044952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09067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第1周：每天目标入会≥15人
（扫码点餐自动触发）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849624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3895344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第2周：引导顾客发点评
目标：10条150字+图评价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4654296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4700016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朋友圈集赞活动：集28赞
送招牌粉干1份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5458968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550468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外卖：上线1-2款特惠套餐
冲首月销量排名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188720"/>
            <a:ext cx="2880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1188720"/>
            <a:ext cx="2880360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1325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微软雅黑"/>
              </a:rPr>
              <a:t>📈 成长期·深度运营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第三阶段
（开业第3-4周）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2148840"/>
            <a:ext cx="2651760" cy="127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2240280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28600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会员推储值：结账时「今天
消费X元，充100到账115」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3044952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09067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点评评分目标：4.5分+
触发「新店榜」入榜条件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3849624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895344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小红书每周2篇：
「杭州哪里有正宗鱼丸？」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4654296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700016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沉睡唤醒：首次到店&gt;14天
未回店，系统自动推优惠券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5458968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550468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菜单微调：下架销量后5%菜品
上新1-2道时令点心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1188720"/>
            <a:ext cx="2880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81160" y="1188720"/>
            <a:ext cx="288036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600" y="1325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5CE7"/>
                </a:solidFill>
                <a:latin typeface="微软雅黑"/>
              </a:rPr>
              <a:t>🏆 稳定期·口碑裂变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第四阶段
（第2个月+）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2148840"/>
            <a:ext cx="2651760" cy="127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372600" y="2240280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64040" y="228600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评价维护：每周回复全部
差评，3天内回复率100%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72600" y="3044952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64040" y="309067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老带新：介绍1人入会，
赠小食券（储值后自动发）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72600" y="3849624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3895344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节日营销：端午/中秋浙闽
特色节令点心限时上架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72600" y="4654296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64040" y="4700016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30天复盘：流水/客单/会员
数据分析，调整策略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72600" y="5458968"/>
            <a:ext cx="2697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64040" y="550468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目标：月流水¥4.5万+
大众点评评分稳定4.6分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数字化系统方案：美团收银+扫码点餐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专为56㎡浙闽点心小店设计，省1名人力·效率提升40%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微软雅黑"/>
              </a:rPr>
              <a:t>📱 扫码点餐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280160"/>
            <a:ext cx="1645920" cy="32918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3075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省人力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顾客扫码自助下单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厨房同步出单，零失误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高峰期无需专职收银员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5409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预计省1名兼职，月省¥2,500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5577840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2801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微软雅黑"/>
              </a:rPr>
              <a:t>🖥️ 智能收银一体机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280160"/>
            <a:ext cx="1645920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3075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快结账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S4mini-pro 小巧不占地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762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支持多种支付方式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151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一键查当日流水/菜品排行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5409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手机App随时看报表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840480"/>
            <a:ext cx="5577840" cy="6400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319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D00"/>
                </a:solidFill>
                <a:latin typeface="微软雅黑"/>
              </a:rPr>
              <a:t>🖨️ 后厨小票打印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931920"/>
            <a:ext cx="1645920" cy="32918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6200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提出餐速度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下单即时打印厨房小票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280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出餐提速30%，减少漏单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669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高峰期不慌，按单出品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058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80C-pro打印机一次配好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3840480"/>
            <a:ext cx="557784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9319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C5CE7"/>
                </a:solidFill>
                <a:latin typeface="微软雅黑"/>
              </a:rPr>
              <a:t>📊 经营数据看板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931920"/>
            <a:ext cx="1645920" cy="32918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懂自己生意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3891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每日菜品销量排行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8280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峰值时段精准识别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2669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外卖vs堂食占比对比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7058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• 坪效·人效·翻台率追踪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会员体系设计：让每个回头客成为"数字化常客"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浙闽点心低客单高频特性 → 频次驱动+储值锁客双轮并进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8404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🔑 入会方式（零门槛）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3566160" cy="1280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562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✅ 扫码点餐即入会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顾客点餐时自动注册
会员，0额外操作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200400"/>
            <a:ext cx="3566160" cy="1280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73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✅ 万能码扫码入会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收银台/桌面贴码
扫一扫→立得新客券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617720"/>
            <a:ext cx="3566160" cy="1280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90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✅ 外卖平台联动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美团外卖订单自动
同步会员积分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💳 储值档位设计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83080"/>
            <a:ext cx="347472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8379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C9AB0"/>
                </a:solidFill>
                <a:latin typeface="微软雅黑"/>
              </a:rPr>
              <a:t>体验档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83794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微软雅黑"/>
              </a:rPr>
              <a:t>充  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8379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/>
              </a:rPr>
              <a:t>到账 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18541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⚠️ 假设客单≈25元
约2次消费用完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2834640"/>
            <a:ext cx="3474720" cy="960120"/>
          </a:xfrm>
          <a:prstGeom prst="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2834640"/>
            <a:ext cx="73152" cy="9601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88950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微软雅黑"/>
              </a:rPr>
              <a:t>主推档 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88950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微软雅黑"/>
              </a:rPr>
              <a:t>充 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8950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/>
              </a:rPr>
              <a:t>到账 115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2369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约4次消费用完
低门槛高转化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3886200"/>
            <a:ext cx="347472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94106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常客档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94106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微软雅黑"/>
              </a:rPr>
              <a:t>充 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4106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/>
              </a:rPr>
              <a:t>到账 240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2885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约8次消费
锁定3个月消费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4937760"/>
            <a:ext cx="347472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99262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微软雅黑"/>
              </a:rPr>
              <a:t>粉丝档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99262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微软雅黑"/>
              </a:rPr>
              <a:t>充 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99262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/>
              </a:rPr>
              <a:t>到账 620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34009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约20次消费
老板娘专属服务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1188720"/>
            <a:ext cx="35661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🎁 会员权益设计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9640" y="1783080"/>
            <a:ext cx="329184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18379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✦ 新客首单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214884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扫码入会立减¥3
转化率目标≥60%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2697480"/>
            <a:ext cx="329184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2752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✦ 积分体系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06324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每消费¥1=1积分
50积分换小食1份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3611880"/>
            <a:ext cx="329184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0" y="36667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✦ 生日特权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97764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生日当天推送
免费甜点兑换券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49640" y="4526280"/>
            <a:ext cx="329184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45811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✦ 沉睡唤醒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89204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14天未到店自动
推「想你了」优惠券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40" y="5440680"/>
            <a:ext cx="329184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54955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✦ 老带新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80644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推荐1人入会
双方各得小食券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公私域联动：新客从「看到」到「常来」的完整闭环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公域引流 → 到店体验 → 私域沉淀 → 系统唤醒 → 口碑裂变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194560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2618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1C1C"/>
                </a:solidFill>
                <a:latin typeface="微软雅黑"/>
              </a:rPr>
              <a:t>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公域曝光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大众点评团购套餐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小红书探店笔记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美团外卖上线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2377440"/>
            <a:ext cx="146304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18872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188720"/>
            <a:ext cx="2194560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2618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1C1C"/>
                </a:solidFill>
                <a:latin typeface="微软雅黑"/>
              </a:rPr>
              <a:t>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737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4A853"/>
                </a:solidFill>
                <a:latin typeface="微软雅黑"/>
              </a:rPr>
              <a:t>到店体验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1945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扫码点餐触发入会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6517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服务员储值话术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089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用餐拍照引导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0328" y="2377440"/>
            <a:ext cx="146304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118872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1188720"/>
            <a:ext cx="2194560" cy="6400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12618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1C1C"/>
                </a:solidFill>
                <a:latin typeface="微软雅黑"/>
              </a:rPr>
              <a:t>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1737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D00"/>
                </a:solidFill>
                <a:latin typeface="微软雅黑"/>
              </a:rPr>
              <a:t>私域沉淀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1945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自动注册会员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517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储值卡锁定未来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1089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积分开始累积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87768" y="2377440"/>
            <a:ext cx="146304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60" y="118872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1188720"/>
            <a:ext cx="219456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2618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1C1C"/>
                </a:solidFill>
                <a:latin typeface="微软雅黑"/>
              </a:rPr>
              <a:t>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1737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微软雅黑"/>
              </a:rPr>
              <a:t>系统唤醒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1945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14天沉睡推券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26517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生日自动触达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1089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节日营销推送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65208" y="2377440"/>
            <a:ext cx="146304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29800" y="1188720"/>
            <a:ext cx="21945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29800" y="1188720"/>
            <a:ext cx="2194560" cy="640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52760" y="12618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1C1C"/>
                </a:solidFill>
                <a:latin typeface="微软雅黑"/>
              </a:rPr>
              <a:t>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1737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53935"/>
                </a:solidFill>
                <a:latin typeface="微软雅黑"/>
              </a:rPr>
              <a:t>口碑裂变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1945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引导发点评/小红书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6517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老带新双向返券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31089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• 话题扩散拉新客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114800"/>
            <a:ext cx="11612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187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📋 各平台具体执行动作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572000"/>
            <a:ext cx="54864" cy="1645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572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大众点评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491947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① 开业第1天上线团购套餐（开业特惠：双人餐59元）
② 每周维护评价，差评3天内回复
③ 冲新店榜→热门榜（30天60条评价触发）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4572000"/>
            <a:ext cx="54864" cy="1645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4572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935"/>
                </a:solidFill>
                <a:latin typeface="微软雅黑"/>
              </a:rPr>
              <a:t>小红书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491947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① 每周2篇探店笔记（话题：#杭州全福桥路 #正宗浙闽味道）
② 达人探店换广告位（送1次双人套餐=成本约35元）
③ 主推内容：鱼丸汤+炒粉干的出品过程（真实烟火气）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4572000"/>
            <a:ext cx="54864" cy="16459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4572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微软雅黑"/>
              </a:rPr>
              <a:t>美团外卖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491947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① 开业立即上线，主打午市快餐场景
② 前30天开启「新店优惠」活动，冲评分≥4.7
③ 外卖套餐设计：鱼丸+粉干+饮料≤35元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大众点评运营专项：新店出星到上榜全路径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⚠️ 严禁促评/邀评——合规运营，让好评自然生长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0292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🌟 新店出星三步走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47548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64008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379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/>
              </a:rPr>
              <a:t>第一步 · 第1-10条评价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837944"/>
            <a:ext cx="1371600" cy="2926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562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【定调期】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目标：3-4.5分初始基准
重点：服务/出品/环境全力保障
确保前10条是真实顾客自发好评
（开业体验好 → 评价自然就好）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64408"/>
            <a:ext cx="47548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264408"/>
            <a:ext cx="64008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192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微软雅黑"/>
              </a:rPr>
              <a:t>第二步 · 第11-50条评价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319272"/>
            <a:ext cx="1371600" cy="29260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【冲分期】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75888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目标：大众点评评分≥4.5
方法：结账时创造「峰值体验」
（小赠品/感谢语/特色出餐仪式）
顾客主动想分享=口碑自发扩散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745736"/>
            <a:ext cx="47548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745736"/>
            <a:ext cx="64008" cy="13716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006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第三步 · 50条后持续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800600"/>
            <a:ext cx="13716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4818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【维护期】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157216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目标：稳定4.6分+冲热门榜
每月≥8条新评价保持活跃度
差评24小时内回复（专业+诚恳）
目标：3个月内上「本地精选」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1188720"/>
            <a:ext cx="63093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129844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📋 口碑运营四大合规动作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0" y="1783080"/>
            <a:ext cx="603504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183794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🍽️ 出品即口碑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16712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每一道菜做到最好本身就是最好的营销
确保鱼丸/粉干/芋泥等招牌菜出品稳定
「姐姐家的味道」=顾客自发分享的理由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2880360"/>
            <a:ext cx="603504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293522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✨ 峰值体验设计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26440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出餐时：服务员介绍「这是今天现做的XX
建议搭配XX吃」（增加记忆点，零成本）
结账时：「欢迎下次带朋友来！」（终值设计）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3977640"/>
            <a:ext cx="603504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403250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📱 引导发点评（合规版）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436168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结账后：收银机自动弹出「感谢光临」页面
页面内嵌点评入口（≠主动要求写好评）
⚠️ 严禁：「写5星送XX」「帮我写条好评」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0" y="5074920"/>
            <a:ext cx="603504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512978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/>
              </a:rPr>
              <a:t>💬 差评黄金处理法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545896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24小时内回复差评（不超过48小时）
格式：①感谢反馈 ②承认问题 ③改进承诺
③ 邀请再次到店体验（不做私下补偿承诺）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团购套餐设计：让每一档都让顾客觉得「值了」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价格梯度覆盖4种场景 · 锚定效应让主推档显得超划算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834640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A853"/>
                </a:solidFill>
                <a:latin typeface="微软雅黑"/>
              </a:rPr>
              <a:t>🎯 尝鲜款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298448"/>
            <a:ext cx="749808" cy="3108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131673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开业特惠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55648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34A853"/>
                </a:solidFill>
                <a:latin typeface="微软雅黑"/>
              </a:rPr>
              <a:t>¥19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原价¥28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420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招牌粉干 × 1份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89504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鱼丸汤 × 1份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3697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限20份/天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11880"/>
            <a:ext cx="2560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033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低于成本吸引首次到店
限量制造稀缺感→每天必抢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188720"/>
            <a:ext cx="2834640" cy="5029200"/>
          </a:xfrm>
          <a:prstGeom prst="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188720"/>
            <a:ext cx="2834640" cy="6400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298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D00"/>
                </a:solidFill>
                <a:latin typeface="微软雅黑"/>
              </a:rPr>
              <a:t>⭐ 双人主推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1298448"/>
            <a:ext cx="749808" cy="310896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131673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最受欢迎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1755648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6D00"/>
                </a:solidFill>
                <a:latin typeface="微软雅黑"/>
              </a:rPr>
              <a:t>¥49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原价¥68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5420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粉干/面 × 2份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889504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鱼丸汤 × 2份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23697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小食拼盘 × 1份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611880"/>
            <a:ext cx="2560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37033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人均仅24.5元
覆盖最大客群（朋友/同事）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18872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188720"/>
            <a:ext cx="2834640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298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👨‍👩‍👧 家庭款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298448"/>
            <a:ext cx="749808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131673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全家首选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1755648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A73E8"/>
                </a:solidFill>
                <a:latin typeface="微软雅黑"/>
              </a:rPr>
              <a:t>¥88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原价¥118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5420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主食 × 4份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889504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汤品 × 2份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23697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芋泥甜品 × 2份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611880"/>
            <a:ext cx="2560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7033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家庭场景节假日首选
人均22元=极致性价比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118872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9720" y="1188720"/>
            <a:ext cx="283464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1298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5CE7"/>
                </a:solidFill>
                <a:latin typeface="微软雅黑"/>
              </a:rPr>
              <a:t>🎁 代金券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01400" y="1298448"/>
            <a:ext cx="749808" cy="31089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19688" y="131673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灵活消费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1755648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6C5CE7"/>
                </a:solidFill>
                <a:latin typeface="微软雅黑"/>
              </a:rPr>
              <a:t>¥58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可抵¥68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25420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全场通用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889504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不限消费时间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323697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✓ 外卖/堂食均可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3611880"/>
            <a:ext cx="2560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37033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适合不确定点什么的
顾客，降低决策门槛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291072"/>
            <a:ext cx="11612880" cy="4389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318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D00"/>
                </a:solidFill>
                <a:latin typeface="微软雅黑"/>
              </a:rPr>
              <a:t>⚠️ 假设：以上套餐价格基于品类参考值（浙闽小吃人均20-35元），具体金额请国庆结合老板确认的菜品定价后调整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OKR量化目标：每阶段清晰可量化的成功标准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⚠️ 假设：客单¥25，56㎡翻台目标25桌/天，工作日为主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🎯 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微软雅黑"/>
              </a:rPr>
              <a:t>月营收目标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73E8"/>
                </a:solidFill>
                <a:latin typeface="微软雅黑"/>
              </a:rPr>
              <a:t>¥45,000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截止：第2个月起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C1C"/>
                </a:solidFill>
                <a:latin typeface="微软雅黑"/>
              </a:rPr>
              <a:t>日均50桌×¥25客单×30天
→ 月流水¥37,500（保底）
目标冲刺¥45,000（翻台1.8次）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749039" cy="6400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984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⭐ 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00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D00"/>
                </a:solidFill>
                <a:latin typeface="微软雅黑"/>
              </a:rPr>
              <a:t>评分目标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65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6D00"/>
                </a:solidFill>
                <a:latin typeface="微软雅黑"/>
              </a:rPr>
              <a:t>4.6分+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截止：开业第30天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C1C"/>
                </a:solidFill>
                <a:latin typeface="微软雅黑"/>
              </a:rPr>
              <a:t>大众点评4.6分=进入
「笕桥地区热门榜」
顶部搜索展示，日新增客+10人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188720"/>
            <a:ext cx="3749039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2984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9AB0"/>
                </a:solidFill>
                <a:latin typeface="微软雅黑"/>
              </a:rPr>
              <a:t>👥 O3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600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微软雅黑"/>
              </a:rPr>
              <a:t>会员数目标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965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34A853"/>
                </a:solidFill>
                <a:latin typeface="微软雅黑"/>
              </a:rPr>
              <a:t>200人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9AB0"/>
                </a:solidFill>
                <a:latin typeface="微软雅黑"/>
              </a:rPr>
              <a:t>截止：开业第30天内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C1C"/>
                </a:solidFill>
                <a:latin typeface="微软雅黑"/>
              </a:rPr>
              <a:t>日均50人次×30天×转化率15%
=225人（超额完成目标）
储值入账¥6,000（200人×充100主推档×30%）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94760"/>
            <a:ext cx="116128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86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📊 分阶段KPI追踪表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97680"/>
            <a:ext cx="11430000" cy="32918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3251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KPI指标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325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第1周目标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325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第2周目标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第30天目标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第60天目标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325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追踪工具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63440"/>
            <a:ext cx="11430000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7000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微软雅黑"/>
              </a:rPr>
              <a:t>日均到店人次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47000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15人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47000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30人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47000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50人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7000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65人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7000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美团收银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010912"/>
            <a:ext cx="11430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0474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微软雅黑"/>
              </a:rPr>
              <a:t>大众点评评分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50474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080" y="50474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4.0分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5047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4.5分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5047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4.6分+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5047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点评后台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358384"/>
            <a:ext cx="11430000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394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微软雅黑"/>
              </a:rPr>
              <a:t>会员注册数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23160" y="5394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20人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9080" y="5394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60人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5394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200人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5394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400人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5394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会员系统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705856"/>
            <a:ext cx="11430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7424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微软雅黑"/>
              </a:rPr>
              <a:t>日均外卖单量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23160" y="5742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5单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5742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15单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5000" y="57424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30单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43800" y="57424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45单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600" y="5742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外卖后台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6053328"/>
            <a:ext cx="11430000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0899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微软雅黑"/>
              </a:rPr>
              <a:t>储值入账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23160" y="60899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69080" y="60899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¥500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0" y="6089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D00"/>
                </a:solidFill>
                <a:latin typeface="微软雅黑"/>
              </a:rPr>
              <a:t>¥6,000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43800" y="6089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D00"/>
                </a:solidFill>
                <a:latin typeface="微软雅黑"/>
              </a:rPr>
              <a:t>¥12,000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72600" y="60899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收银系统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投资回报分析：花多少·赚多少·多久回本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⚠️ 假设客单¥25，日均50人次（第2个月起），月流水¥37,500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7548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💰 总投入明细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软件年费（SaaS）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  美团收银Pro版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8424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¥3,800/年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8541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  基础版会员系统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8541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¥1,800/年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8658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  扫码点餐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8658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¥800/年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8775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  小程序+外卖联动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8775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¥600/年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88920"/>
            <a:ext cx="4297680" cy="20116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889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软件合计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889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6D00"/>
                </a:solidFill>
                <a:latin typeface="微软雅黑"/>
              </a:rPr>
              <a:t>¥7,000/年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9008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硬件（一次性）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9125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  S4mini-pro收银机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19125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¥1,698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39242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  SC3扫码盒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39242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9359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  80C-pro打印机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5935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¥270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794760"/>
            <a:ext cx="4297680" cy="20116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947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硬件合计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7947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6D00"/>
                </a:solidFill>
                <a:latin typeface="微软雅黑"/>
              </a:rPr>
              <a:t>¥2,068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995928"/>
            <a:ext cx="4297680" cy="20116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99592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开业营销预算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99592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C1C1C"/>
                </a:solidFill>
                <a:latin typeface="微软雅黑"/>
              </a:rPr>
              <a:t>¥3,200（建议）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9709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  达人探店 2次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197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39826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  开业物料（立牌/桌贴）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39826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994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  首月体验套餐让利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5994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¥2,500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001768"/>
            <a:ext cx="4297680" cy="20116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0017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微软雅黑"/>
              </a:rPr>
              <a:t>首年总投入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0017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6D00"/>
                </a:solidFill>
                <a:latin typeface="微软雅黑"/>
              </a:rPr>
              <a:t>¥12,268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20293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微软雅黑"/>
              </a:rPr>
              <a:t>第二年起（仅软件）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20293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C1C1C"/>
                </a:solidFill>
                <a:latin typeface="微软雅黑"/>
              </a:rPr>
              <a:t>¥7,000/年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0" y="1188720"/>
            <a:ext cx="65836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1298448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A853"/>
                </a:solidFill>
                <a:latin typeface="微软雅黑"/>
              </a:rPr>
              <a:t>📈 月增收益测算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068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✦ 省人力（无需专职收银）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4A853"/>
                </a:solidFill>
                <a:latin typeface="微软雅黑"/>
              </a:rPr>
              <a:t>¥2,500/月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2057400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AB0"/>
                </a:solidFill>
                <a:latin typeface="微软雅黑"/>
              </a:rPr>
              <a:t>扫码点餐替代收银员工时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22219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✦ 储值预付入账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2221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4A853"/>
                </a:solidFill>
                <a:latin typeface="微软雅黑"/>
              </a:rPr>
              <a:t>¥6,000/月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249631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AB0"/>
                </a:solidFill>
                <a:latin typeface="微软雅黑"/>
              </a:rPr>
              <a:t>200人×30%储值率×¥100/人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26609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✦ 会员复购提升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26609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4A853"/>
                </a:solidFill>
                <a:latin typeface="微软雅黑"/>
              </a:rPr>
              <a:t>¥3,500/月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2935224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AB0"/>
                </a:solidFill>
                <a:latin typeface="微软雅黑"/>
              </a:rPr>
              <a:t>原月流水¥37,500×+10%复购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30998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✦ 外卖新增收入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309981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4A853"/>
                </a:solidFill>
                <a:latin typeface="微软雅黑"/>
              </a:rPr>
              <a:t>¥2,500/月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0680" y="3374136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AB0"/>
                </a:solidFill>
                <a:latin typeface="微软雅黑"/>
              </a:rPr>
              <a:t>日均30单×¥30客单×30天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40680" y="3538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微软雅黑"/>
              </a:rPr>
              <a:t>✦ 点评排名提升新客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35387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4A853"/>
                </a:solidFill>
                <a:latin typeface="微软雅黑"/>
              </a:rPr>
              <a:t>¥1,500/月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40680" y="3813048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AB0"/>
                </a:solidFill>
                <a:latin typeface="微软雅黑"/>
              </a:rPr>
              <a:t>热门榜带来10人/天×¥25×6天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0680" y="3977639"/>
            <a:ext cx="6309360" cy="1905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4068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微软雅黑"/>
              </a:rPr>
              <a:t>月增收益合计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40233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34A853"/>
                </a:solidFill>
                <a:latin typeface="微软雅黑"/>
              </a:rPr>
              <a:t>¥16,000/月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03520" y="4572000"/>
            <a:ext cx="6583680" cy="1828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💡 回本测算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0" y="50749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EFF"/>
                </a:solidFill>
                <a:latin typeface="微软雅黑"/>
              </a:rPr>
              <a:t>首年总投入 ¥12,268 ÷ 月增收益 ¥16,000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0" y="5440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C107"/>
                </a:solidFill>
                <a:latin typeface="微软雅黑"/>
              </a:rPr>
              <a:t>≈ 不到1个月回本！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0" y="596188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F"/>
                </a:solidFill>
                <a:latin typeface="微软雅黑"/>
              </a:rPr>
              <a:t>第二年起每年仅需¥7,000软件费，持续产生¥16,000+月收益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428A"/>
            </a:gs>
            <a:gs pos="100000">
              <a:srgbClr val="4285F4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微软雅黑"/>
              </a:rPr>
              <a:t>浙闽姐姐食坊 × 美团餐饮SaaS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DEFF"/>
                </a:solidFill>
                <a:latin typeface="微软雅黑"/>
              </a:rPr>
              <a:t>让全福桥路记住这家有温度的浙闽味道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20116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C1C1C"/>
                </a:solidFill>
                <a:latin typeface="微软雅黑"/>
              </a:rPr>
              <a:t>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口碑冷启动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834640"/>
            <a:ext cx="20116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880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C1C1C"/>
                </a:solidFill>
                <a:latin typeface="微软雅黑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数字化运营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834640"/>
            <a:ext cx="20116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880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C1C1C"/>
                </a:solidFill>
                <a:latin typeface="微软雅黑"/>
              </a:rP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会员锁复购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834640"/>
            <a:ext cx="20116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2880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C1C1C"/>
                </a:solidFill>
                <a:latin typeface="微软雅黑"/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公私域联动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834640"/>
            <a:ext cx="20116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880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C1C1C"/>
                </a:solidFill>
                <a:latin typeface="微软雅黑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快速回本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E8FF"/>
                </a:solidFill>
                <a:latin typeface="微软雅黑"/>
              </a:rPr>
              <a:t>从「尚未开业」到「全福桥路口碑第一」，我们一起做到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CE8"/>
                </a:solidFill>
                <a:latin typeface="微软雅黑"/>
              </a:rPr>
              <a:t>美团餐饮SaaS运营策划团队  ·  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