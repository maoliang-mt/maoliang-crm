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2d781f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801118"/>
            <a:ext cx="47625" cy="666750"/>
          </a:xfrm>
          <a:prstGeom prst="roundRect">
            <a:avLst>
              <a:gd name="adj" fmla="val 6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71525" y="1581299"/>
            <a:ext cx="1333500" cy="369391"/>
          </a:xfrm>
          <a:prstGeom prst="roundRect">
            <a:avLst>
              <a:gd name="adj" fmla="val 41257"/>
            </a:avLst>
          </a:prstGeom>
          <a:solidFill>
            <a:srgbClr val="E8761A">
              <a:alpha val="25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895350" y="1619399"/>
            <a:ext cx="110756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数字化经营解决方案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771525" y="2026890"/>
            <a:ext cx="2881101" cy="39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35"/>
              </a:lnSpc>
              <a:buNone/>
            </a:pPr>
            <a:r>
              <a:rPr lang="en-US" sz="2850" b="1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测试c · 点心小吃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771525" y="2501205"/>
            <a:ext cx="288110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从堂食到私域——让每一口点心都是回头客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71500" y="2859286"/>
            <a:ext cx="1900238" cy="702915"/>
          </a:xfrm>
          <a:prstGeom prst="roundRect">
            <a:avLst>
              <a:gd name="adj" fmla="val 108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37092" y="2983111"/>
            <a:ext cx="15690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+35%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737092" y="3305026"/>
            <a:ext cx="1569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目标月营收提升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2605088" y="2859286"/>
            <a:ext cx="1900238" cy="702915"/>
          </a:xfrm>
          <a:prstGeom prst="roundRect">
            <a:avLst>
              <a:gd name="adj" fmla="val 108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2770680" y="2983111"/>
            <a:ext cx="15690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2770680" y="3305026"/>
            <a:ext cx="1569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首月会员目标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4638675" y="2859286"/>
            <a:ext cx="1900238" cy="702915"/>
          </a:xfrm>
          <a:prstGeom prst="roundRect">
            <a:avLst>
              <a:gd name="adj" fmla="val 108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4804267" y="2983111"/>
            <a:ext cx="15690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4.8★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804267" y="3305026"/>
            <a:ext cx="1569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点评评分目标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672263" y="2859286"/>
            <a:ext cx="1900238" cy="702915"/>
          </a:xfrm>
          <a:prstGeom prst="roundRect">
            <a:avLst>
              <a:gd name="adj" fmla="val 1084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837855" y="2983111"/>
            <a:ext cx="156905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12天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6837855" y="3305026"/>
            <a:ext cx="156905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预计回本周期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571500" y="4781550"/>
            <a:ext cx="17601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美团餐饮SaaS运营策划团队 · 2026年5月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320611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品牌理解：点心小吃的机遇与挑战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552450"/>
            <a:ext cx="862736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300"/>
              </a:spcBef>
              <a:buNone/>
            </a:pPr>
            <a:r>
              <a:rPr lang="en-US" sz="97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假设门店位于杭州主城区商圈/社区周边，人均约25-35元，月流水约6-8万元 | 建议国庆实地确认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190500" y="1290935"/>
            <a:ext cx="4046934" cy="350490"/>
          </a:xfrm>
          <a:prstGeom prst="rect">
            <a:avLst/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204788" y="1290935"/>
            <a:ext cx="0" cy="350490"/>
          </a:xfrm>
          <a:prstGeom prst="line">
            <a:avLst/>
          </a:prstGeom>
          <a:noFill/>
          <a:ln w="28575">
            <a:solidFill>
              <a:srgbClr val="E85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2425" y="1386185"/>
            <a:ext cx="38266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门店痛点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90500" y="1717625"/>
            <a:ext cx="4046934" cy="700832"/>
          </a:xfrm>
          <a:prstGeom prst="roundRect">
            <a:avLst>
              <a:gd name="adj" fmla="val 8155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33375" y="1822400"/>
            <a:ext cx="38364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2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复购率偏低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3375" y="2020491"/>
            <a:ext cx="383640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⚠️假设：无会员体系，老顾客靠口碑自然回流，估计复购率仅30%以下，每月约60%流水靠新客维系，风险极高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0500" y="2494657"/>
            <a:ext cx="4046934" cy="700832"/>
          </a:xfrm>
          <a:prstGeom prst="roundRect">
            <a:avLst>
              <a:gd name="adj" fmla="val 8155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3375" y="2599432"/>
            <a:ext cx="38364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2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差评无人管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375" y="2797522"/>
            <a:ext cx="383640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⚠️假设：点评评分不稳定，无系统工具引导好评，靠人工处理效率低，错失每月30+条评价影响新客决策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190500" y="3271689"/>
            <a:ext cx="4046934" cy="700832"/>
          </a:xfrm>
          <a:prstGeom prst="roundRect">
            <a:avLst>
              <a:gd name="adj" fmla="val 8155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3375" y="3376464"/>
            <a:ext cx="38364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2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高峰期人手紧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3375" y="3574554"/>
            <a:ext cx="383640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⚠️假设：早餐/午餐/下午茶三个高峰叠加，无扫码点餐，人工收银排队造成流失，损失约10-15桌/天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90500" y="4048720"/>
            <a:ext cx="4046934" cy="700832"/>
          </a:xfrm>
          <a:prstGeom prst="roundRect">
            <a:avLst>
              <a:gd name="adj" fmla="val 8155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33375" y="4153495"/>
            <a:ext cx="38364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4A2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现金流不稳定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3375" y="4351586"/>
            <a:ext cx="3836408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⚠️假设：无储值工具，旺季收入无法锁定，淡季（梅雨/寒冬）流水波动±40%，缺乏提前锁定客户消费的手段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389834" y="1290935"/>
            <a:ext cx="4563666" cy="350490"/>
          </a:xfrm>
          <a:prstGeom prst="rect">
            <a:avLst/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404122" y="1290935"/>
            <a:ext cx="0" cy="350490"/>
          </a:xfrm>
          <a:prstGeom prst="line">
            <a:avLst/>
          </a:prstGeom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1759" y="1386185"/>
            <a:ext cx="435375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赛道机遇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389834" y="1717625"/>
            <a:ext cx="4563666" cy="700832"/>
          </a:xfrm>
          <a:prstGeom prst="roundRect">
            <a:avLst>
              <a:gd name="adj" fmla="val 8155"/>
            </a:avLst>
          </a:prstGeom>
          <a:solidFill>
            <a:srgbClr val="F5FAF5"/>
          </a:solidFill>
          <a:ln w="9525">
            <a:solidFill>
              <a:srgbClr val="C0E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32709" y="1822400"/>
            <a:ext cx="43634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快餐小吃市场超万亿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32709" y="2020491"/>
            <a:ext cx="43634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2025年全国快餐小吃市场规模预测1.08万亿，同比+7.5%，连锁化率仅~30%，本地化单店仍有大量空白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389834" y="2494657"/>
            <a:ext cx="4563666" cy="700832"/>
          </a:xfrm>
          <a:prstGeom prst="roundRect">
            <a:avLst>
              <a:gd name="adj" fmla="val 8155"/>
            </a:avLst>
          </a:prstGeom>
          <a:solidFill>
            <a:srgbClr val="F5FAF5"/>
          </a:solidFill>
          <a:ln w="9525">
            <a:solidFill>
              <a:srgbClr val="C0E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532709" y="2599432"/>
            <a:ext cx="43634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 杭州下午茶场景崛起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32709" y="2797522"/>
            <a:ext cx="43634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杭州互联网白领密集，下午茶消费频率高，15-40元客单点心与下午茶场景高度匹配，非工作日客流潜力大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4389834" y="3271689"/>
            <a:ext cx="4563666" cy="700832"/>
          </a:xfrm>
          <a:prstGeom prst="roundRect">
            <a:avLst>
              <a:gd name="adj" fmla="val 8155"/>
            </a:avLst>
          </a:prstGeom>
          <a:solidFill>
            <a:srgbClr val="F5FAF5"/>
          </a:solidFill>
          <a:ln w="9525">
            <a:solidFill>
              <a:srgbClr val="C0E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532709" y="3376464"/>
            <a:ext cx="43634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高频消费=会员金矿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32709" y="3574554"/>
            <a:ext cx="43634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点心小吃5-15次/月的超高频消费，会员储值体系ROI极高——每留住1个高频客每月价值约150-400元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4389834" y="4048720"/>
            <a:ext cx="4563666" cy="700832"/>
          </a:xfrm>
          <a:prstGeom prst="roundRect">
            <a:avLst>
              <a:gd name="adj" fmla="val 8155"/>
            </a:avLst>
          </a:prstGeom>
          <a:solidFill>
            <a:srgbClr val="F5FAF5"/>
          </a:solidFill>
          <a:ln w="9525">
            <a:solidFill>
              <a:srgbClr val="C0E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32709" y="4153495"/>
            <a:ext cx="43634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外卖+到店双引擎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32709" y="4351586"/>
            <a:ext cx="436347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外卖渗透率持续提升，社区点心店外卖占比可做到40-60%；叠加堂食会员体系，双引擎共振拉高总流水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23511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商圈洞察：周边竞对格局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8600" y="55245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假设门店周边3公里竞品格局（杭州典型商圈场景）| 国庆需根据实际地址核实具体竞品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0500" y="1530995"/>
            <a:ext cx="8763000" cy="312390"/>
          </a:xfrm>
          <a:prstGeom prst="roundRect">
            <a:avLst>
              <a:gd name="adj" fmla="val 18294"/>
            </a:avLst>
          </a:prstGeom>
          <a:solidFill>
            <a:srgbClr val="3D1F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90731" y="1607195"/>
            <a:ext cx="143501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竞品名称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046272" y="1607195"/>
            <a:ext cx="8466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80278" y="1607195"/>
            <a:ext cx="9290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点评评分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4582" y="1607195"/>
            <a:ext cx="208412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核心弱点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31834" y="1607195"/>
            <a:ext cx="216670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我们的切入机会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0500" y="1919585"/>
            <a:ext cx="8763000" cy="578941"/>
          </a:xfrm>
          <a:prstGeom prst="roundRect">
            <a:avLst>
              <a:gd name="adj" fmla="val 9871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4325" y="2052786"/>
            <a:ext cx="1435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周边连锁奶茶店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4325" y="2231827"/>
            <a:ext cx="1435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（蜜雪冰城/古茗等）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978630" y="2122438"/>
            <a:ext cx="9908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8-18元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3101623" y="2122438"/>
            <a:ext cx="10732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4392960" y="2062460"/>
            <a:ext cx="20854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品类单一，只有饮品；无固体点心，肚子饿了无法解决；顾客复购靠平台而非品牌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6742361" y="2005310"/>
            <a:ext cx="2125414" cy="407491"/>
          </a:xfrm>
          <a:prstGeom prst="roundRect">
            <a:avLst>
              <a:gd name="adj" fmla="val 9350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18561" y="2062460"/>
            <a:ext cx="20124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推「饮品+点心」组合套餐，拦截奶茶旁边的下午茶场景，客单从8元→25元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90500" y="2574727"/>
            <a:ext cx="8763000" cy="578941"/>
          </a:xfrm>
          <a:prstGeom prst="roundRect">
            <a:avLst>
              <a:gd name="adj" fmla="val 9871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4325" y="2707928"/>
            <a:ext cx="1435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传统早餐铺/包子店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14325" y="2886968"/>
            <a:ext cx="1435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（巷子里夫妻店）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78630" y="2777579"/>
            <a:ext cx="9908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10-20元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3101623" y="2777579"/>
            <a:ext cx="10732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392960" y="2717602"/>
            <a:ext cx="20854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无菜单/无扫码，现金为主；全靠老板记忆，无会员体系；品类老化，年轻客群流失中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742361" y="2660452"/>
            <a:ext cx="2125414" cy="407491"/>
          </a:xfrm>
          <a:prstGeom prst="roundRect">
            <a:avLst>
              <a:gd name="adj" fmla="val 9350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18561" y="2717602"/>
            <a:ext cx="20124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数字化体验碾压：扫码即会员、自动集章、手机下单；抢占年轻客群心智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90500" y="3229868"/>
            <a:ext cx="8763000" cy="578941"/>
          </a:xfrm>
          <a:prstGeom prst="roundRect">
            <a:avLst>
              <a:gd name="adj" fmla="val 9871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14325" y="3363069"/>
            <a:ext cx="1435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连锁快餐午餐店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14325" y="3542109"/>
            <a:ext cx="1435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9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（正新鸡排/华莱士等）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1978630" y="3432721"/>
            <a:ext cx="9908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18-30元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3101623" y="3432721"/>
            <a:ext cx="10732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E87B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4392960" y="3372743"/>
            <a:ext cx="20854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标准化强但无本地特色；高峰期排队严重；品类同质，缺乏社区粘性，客户无情感连接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742361" y="3315593"/>
            <a:ext cx="2125414" cy="407491"/>
          </a:xfrm>
          <a:prstGeom prst="roundRect">
            <a:avLst>
              <a:gd name="adj" fmla="val 9350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18561" y="3372743"/>
            <a:ext cx="20124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A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靠本地手作特色+会员私域形成情感绑定，从「吃饭」变「去那家常去的店」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190500" y="3885009"/>
            <a:ext cx="8763000" cy="578941"/>
          </a:xfrm>
          <a:prstGeom prst="roundRect">
            <a:avLst>
              <a:gd name="adj" fmla="val 9871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14325" y="4018211"/>
            <a:ext cx="14354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测试c 我们自己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4325" y="4197251"/>
            <a:ext cx="14354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⚠️假设客单25-35元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978630" y="4087862"/>
            <a:ext cx="99082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25-35元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3101623" y="4087862"/>
            <a:ext cx="107325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待提升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4392960" y="4027884"/>
            <a:ext cx="2085493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现阶段：无会员体系、无储值工具、无评价管理——数字化能力几乎为0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6742361" y="3970734"/>
            <a:ext cx="2125414" cy="407491"/>
          </a:xfrm>
          <a:prstGeom prst="roundRect">
            <a:avLst>
              <a:gd name="adj" fmla="val 9350"/>
            </a:avLst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18561" y="4027884"/>
            <a:ext cx="201247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补齐数字化短板 = 全面超越周边同价位竞品的最快路径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299237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核心策略：三步打赢本地口碑战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8600" y="55245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方案视角：门店如何从「有人路过」变成「熟客口碑店」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0500" y="2048024"/>
            <a:ext cx="2819400" cy="1917799"/>
          </a:xfrm>
          <a:prstGeom prst="roundRect">
            <a:avLst>
              <a:gd name="adj" fmla="val 49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52425" y="222899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101" y="228049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90575" y="2300436"/>
            <a:ext cx="1214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4A2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扫码锁客·即刻建档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352425" y="2686199"/>
            <a:ext cx="2545461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⚠️假设当前无会员体系，预计80%过路客无沉淀。扫码点餐上线后，每桌消费自动建立会员档案，首周目标建档50人。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425" y="3310682"/>
            <a:ext cx="2495550" cy="474166"/>
          </a:xfrm>
          <a:prstGeom prst="roundRect">
            <a:avLst>
              <a:gd name="adj" fmla="val 12053"/>
            </a:avLst>
          </a:prstGeom>
          <a:solidFill>
            <a:srgbClr val="E8761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725" y="338688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工具：扫码点餐 + 基础会员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466725" y="356205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效果：过路客→私域会员，复购率+20%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162300" y="2048024"/>
            <a:ext cx="2819400" cy="1917799"/>
          </a:xfrm>
          <a:prstGeom prst="roundRect">
            <a:avLst>
              <a:gd name="adj" fmla="val 49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24225" y="222899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447901" y="228049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62375" y="2300436"/>
            <a:ext cx="13603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4A2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储值锁钱·现金流先行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324225" y="2686199"/>
            <a:ext cx="2545461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⚠️假设月流水6-8万，客单30元，日均70-90人次。储值主推档100元（约3-4次消费），目标首月入账储值1.5万，直接提前锁定2月现金流。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24225" y="3310682"/>
            <a:ext cx="2495550" cy="474166"/>
          </a:xfrm>
          <a:prstGeom prst="roundRect">
            <a:avLst>
              <a:gd name="adj" fmla="val 12053"/>
            </a:avLst>
          </a:prstGeom>
          <a:solidFill>
            <a:srgbClr val="E8761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38525" y="338688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工具：旗舰版会员储值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3438525" y="356205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效果：月现金流+1.5万，淡季抗风险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6134100" y="2048024"/>
            <a:ext cx="2819400" cy="1917799"/>
          </a:xfrm>
          <a:prstGeom prst="roundRect">
            <a:avLst>
              <a:gd name="adj" fmla="val 49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96025" y="2228999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19701" y="228049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34175" y="2300436"/>
            <a:ext cx="1214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F4A25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评价拉分·公域引流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6296025" y="2686199"/>
            <a:ext cx="2545461" cy="54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0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⚠️假设当前点评评分未知，先定调再冲量：首月攒30条真实好评，冲热门榜，打通大众点评+本地小红书探店的公域新客入口。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96025" y="3310682"/>
            <a:ext cx="2495550" cy="474166"/>
          </a:xfrm>
          <a:prstGeom prst="roundRect">
            <a:avLst>
              <a:gd name="adj" fmla="val 12053"/>
            </a:avLst>
          </a:prstGeom>
          <a:solidFill>
            <a:srgbClr val="E8761A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10325" y="338688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工具：评价专家（如签约）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410325" y="3562052"/>
            <a:ext cx="231228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效果：评分4.8+，每月新增20-30人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1851660" y="4749254"/>
            <a:ext cx="54406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A4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闭环：公域引流→扫码入会→储值锁客→好评再引流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38473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会员体系设计：点心小吃的高频锁客策略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8600" y="55245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高频低客单品类会员逻辑：扫码即会员 + 集章促频次 + 储值锁消费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0500" y="1340346"/>
            <a:ext cx="3243114" cy="255240"/>
          </a:xfrm>
          <a:prstGeom prst="roundRect">
            <a:avLst>
              <a:gd name="adj" fmla="val 14927"/>
            </a:avLst>
          </a:prstGeom>
          <a:solidFill>
            <a:srgbClr val="FFD5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1387971"/>
            <a:ext cx="31136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🏅 会员等级设计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0500" y="1652736"/>
            <a:ext cx="3243114" cy="1096566"/>
          </a:xfrm>
          <a:prstGeom prst="roundRect">
            <a:avLst>
              <a:gd name="adj" fmla="val 5212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4325" y="1738461"/>
            <a:ext cx="30553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🥉 普通会员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14325" y="1927027"/>
            <a:ext cx="30553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消费1次自动注册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14325" y="2098477"/>
            <a:ext cx="2995464" cy="5651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3"/>
              </a:lnSpc>
              <a:buSzPct val="100000"/>
              <a:buChar char="•"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积分累计（消费1元=1积分）</a:t>
            </a:r>
            <a:endParaRPr lang="en-US" sz="825" dirty="0"/>
          </a:p>
          <a:p>
            <a:pPr algn="l" marL="76200" indent="-76200">
              <a:lnSpc>
                <a:spcPts val="1283"/>
              </a:lnSpc>
              <a:buSzPct val="100000"/>
              <a:buChar char="•"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会员价专属9.5折</a:t>
            </a:r>
            <a:endParaRPr lang="en-US" sz="825" dirty="0"/>
          </a:p>
          <a:p>
            <a:pPr algn="l" marL="76200" indent="-76200">
              <a:lnSpc>
                <a:spcPts val="1283"/>
              </a:lnSpc>
              <a:buSzPct val="100000"/>
              <a:buChar char="•"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生日当天8.5折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0500" y="2806452"/>
            <a:ext cx="3243114" cy="895499"/>
          </a:xfrm>
          <a:prstGeom prst="roundRect">
            <a:avLst>
              <a:gd name="adj" fmla="val 6382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4325" y="2892177"/>
            <a:ext cx="30553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🥈 银卡会员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4325" y="3080742"/>
            <a:ext cx="30553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累计消费≥500元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14325" y="3252192"/>
            <a:ext cx="2995464" cy="36403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3"/>
              </a:lnSpc>
              <a:buSzPct val="100000"/>
              <a:buChar char="•"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9折优惠 + 积分1.2倍</a:t>
            </a:r>
            <a:endParaRPr lang="en-US" sz="825" dirty="0"/>
          </a:p>
          <a:p>
            <a:pPr algn="l" marL="76200" indent="-76200">
              <a:lnSpc>
                <a:spcPts val="1283"/>
              </a:lnSpc>
              <a:buSzPct val="100000"/>
              <a:buChar char="•"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专属套餐提前解锁</a:t>
            </a:r>
            <a:endParaRPr lang="en-US" sz="825" dirty="0"/>
          </a:p>
        </p:txBody>
      </p:sp>
      <p:pic>
        <p:nvPicPr>
          <p:cNvPr id="15" name="Image 0" descr="/tmp/rasterized-gradient-03e276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00" y="3759101"/>
            <a:ext cx="3243114" cy="89549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14325" y="3844826"/>
            <a:ext cx="305537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225"/>
              </a:spcAft>
              <a:buNone/>
            </a:pPr>
            <a:r>
              <a:rPr lang="en-US" sz="900" b="1" dirty="0">
                <a:solidFill>
                  <a:srgbClr val="8B4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🥇 金卡会员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14325" y="4033391"/>
            <a:ext cx="30553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累计消费≥2000元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14325" y="4204841"/>
            <a:ext cx="2995464" cy="364034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283"/>
              </a:lnSpc>
              <a:buSzPct val="100000"/>
              <a:buChar char="•"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8.8折 + 积分1.5倍</a:t>
            </a:r>
            <a:endParaRPr lang="en-US" sz="825" dirty="0"/>
          </a:p>
          <a:p>
            <a:pPr algn="l" marL="76200" indent="-76200">
              <a:lnSpc>
                <a:spcPts val="1283"/>
              </a:lnSpc>
              <a:buSzPct val="100000"/>
              <a:buChar char="•"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优先出餐+专属新品尝鲜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3547914" y="1907977"/>
            <a:ext cx="2560290" cy="255240"/>
          </a:xfrm>
          <a:prstGeom prst="roundRect">
            <a:avLst>
              <a:gd name="adj" fmla="val 14927"/>
            </a:avLst>
          </a:prstGeom>
          <a:solidFill>
            <a:srgbClr val="FFD5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643164" y="1955602"/>
            <a:ext cx="24171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集章卡（高频核武器）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547914" y="2220367"/>
            <a:ext cx="2560290" cy="1866602"/>
          </a:xfrm>
          <a:prstGeom prst="roundRect">
            <a:avLst>
              <a:gd name="adj" fmla="val 3062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671739" y="2325142"/>
            <a:ext cx="235889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每消费1次盖1章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71739" y="2580382"/>
            <a:ext cx="432048" cy="190500"/>
          </a:xfrm>
          <a:prstGeom prst="roundRect">
            <a:avLst>
              <a:gd name="adj" fmla="val 20000"/>
            </a:avLst>
          </a:prstGeom>
          <a:solidFill>
            <a:srgbClr val="F4A2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141887" y="2580382"/>
            <a:ext cx="432048" cy="190500"/>
          </a:xfrm>
          <a:prstGeom prst="roundRect">
            <a:avLst>
              <a:gd name="adj" fmla="val 20000"/>
            </a:avLst>
          </a:prstGeom>
          <a:solidFill>
            <a:srgbClr val="F4A2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612035" y="2580382"/>
            <a:ext cx="432048" cy="190500"/>
          </a:xfrm>
          <a:prstGeom prst="roundRect">
            <a:avLst>
              <a:gd name="adj" fmla="val 20000"/>
            </a:avLst>
          </a:prstGeom>
          <a:solidFill>
            <a:srgbClr val="F4A2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5082183" y="2580382"/>
            <a:ext cx="432048" cy="190500"/>
          </a:xfrm>
          <a:prstGeom prst="roundRect">
            <a:avLst>
              <a:gd name="adj" fmla="val 20000"/>
            </a:avLst>
          </a:prstGeom>
          <a:solidFill>
            <a:srgbClr val="F0D0A0"/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552331" y="2580382"/>
            <a:ext cx="432048" cy="190500"/>
          </a:xfrm>
          <a:prstGeom prst="roundRect">
            <a:avLst>
              <a:gd name="adj" fmla="val 20000"/>
            </a:avLst>
          </a:prstGeom>
          <a:solidFill>
            <a:srgbClr val="F0D0A0"/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3671739" y="2866132"/>
            <a:ext cx="23588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集满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5章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送招牌点心1份</a:t>
            </a:r>
            <a:endParaRPr lang="en-US" sz="825" dirty="0"/>
          </a:p>
        </p:txBody>
      </p:sp>
      <p:sp>
        <p:nvSpPr>
          <p:cNvPr id="29" name="Text 26"/>
          <p:cNvSpPr/>
          <p:nvPr/>
        </p:nvSpPr>
        <p:spPr>
          <a:xfrm>
            <a:off x="3671739" y="3098453"/>
            <a:ext cx="235889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集满</a:t>
            </a:r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10章</a:t>
            </a:r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送下午茶双人套餐</a:t>
            </a:r>
            <a:endParaRPr lang="en-US" sz="825" dirty="0"/>
          </a:p>
        </p:txBody>
      </p:sp>
      <p:sp>
        <p:nvSpPr>
          <p:cNvPr id="30" name="Text 27"/>
          <p:cNvSpPr/>
          <p:nvPr/>
        </p:nvSpPr>
        <p:spPr>
          <a:xfrm>
            <a:off x="3671739" y="3359348"/>
            <a:ext cx="235889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450"/>
              </a:spcBef>
              <a:spcAft>
                <a:spcPts val="150"/>
              </a:spcAft>
              <a:buNone/>
            </a:pPr>
            <a:r>
              <a:rPr lang="en-US" sz="750" i="1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用扫码点餐自动记录，无需实体卡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3671739" y="3568898"/>
            <a:ext cx="2312640" cy="413296"/>
          </a:xfrm>
          <a:prstGeom prst="roundRect">
            <a:avLst>
              <a:gd name="adj" fmla="val 9219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3747939" y="3626048"/>
            <a:ext cx="220344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预估效果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3747939" y="3791694"/>
            <a:ext cx="22034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5章=5次≈150元，月均20次兑换，老客复购+15%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6222504" y="1455688"/>
            <a:ext cx="2730996" cy="255240"/>
          </a:xfrm>
          <a:prstGeom prst="roundRect">
            <a:avLst>
              <a:gd name="adj" fmla="val 14927"/>
            </a:avLst>
          </a:prstGeom>
          <a:solidFill>
            <a:srgbClr val="FFD5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2"/>
          <p:cNvSpPr/>
          <p:nvPr/>
        </p:nvSpPr>
        <p:spPr>
          <a:xfrm>
            <a:off x="6317754" y="1503313"/>
            <a:ext cx="259130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储值方案设计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222504" y="1768078"/>
            <a:ext cx="2730996" cy="464641"/>
          </a:xfrm>
          <a:prstGeom prst="roundRect">
            <a:avLst>
              <a:gd name="adj" fmla="val 12300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6346329" y="1844278"/>
            <a:ext cx="2533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体验档：充50元</a:t>
            </a:r>
            <a:endParaRPr lang="en-US" sz="825" dirty="0"/>
          </a:p>
        </p:txBody>
      </p:sp>
      <p:sp>
        <p:nvSpPr>
          <p:cNvPr id="38" name="Text 35"/>
          <p:cNvSpPr/>
          <p:nvPr/>
        </p:nvSpPr>
        <p:spPr>
          <a:xfrm>
            <a:off x="6346329" y="2009924"/>
            <a:ext cx="2533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到账55元（约1次消费）</a:t>
            </a:r>
            <a:endParaRPr lang="en-US" sz="825" dirty="0"/>
          </a:p>
        </p:txBody>
      </p:sp>
      <p:sp>
        <p:nvSpPr>
          <p:cNvPr id="39" name="Text 36"/>
          <p:cNvSpPr/>
          <p:nvPr/>
        </p:nvSpPr>
        <p:spPr>
          <a:xfrm>
            <a:off x="6222504" y="2289870"/>
            <a:ext cx="2730996" cy="708422"/>
          </a:xfrm>
          <a:prstGeom prst="roundRect">
            <a:avLst>
              <a:gd name="adj" fmla="val 8067"/>
            </a:avLst>
          </a:prstGeom>
          <a:solidFill>
            <a:srgbClr val="FFE8C0"/>
          </a:solidFill>
          <a:ln w="19050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7"/>
          <p:cNvSpPr/>
          <p:nvPr/>
        </p:nvSpPr>
        <p:spPr>
          <a:xfrm>
            <a:off x="6355854" y="2375595"/>
            <a:ext cx="46346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充100元</a:t>
            </a:r>
            <a:endParaRPr lang="en-US" sz="975" dirty="0"/>
          </a:p>
        </p:txBody>
      </p:sp>
      <p:sp>
        <p:nvSpPr>
          <p:cNvPr id="41" name="Text 38"/>
          <p:cNvSpPr/>
          <p:nvPr/>
        </p:nvSpPr>
        <p:spPr>
          <a:xfrm>
            <a:off x="8331845" y="2376488"/>
            <a:ext cx="488305" cy="171450"/>
          </a:xfrm>
          <a:prstGeom prst="roundRect">
            <a:avLst>
              <a:gd name="adj" fmla="val 55556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8408045" y="2395538"/>
            <a:ext cx="342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主推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6355854" y="2577405"/>
            <a:ext cx="2513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</a:t>
            </a:r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115元</a:t>
            </a:r>
            <a:pPr algn="l" indent="0" marL="0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（赠15元）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355854" y="2765971"/>
            <a:ext cx="25135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折扣率≈8.7折，心理门槛低</a:t>
            </a:r>
            <a:endParaRPr lang="en-US" sz="825" dirty="0"/>
          </a:p>
        </p:txBody>
      </p:sp>
      <p:sp>
        <p:nvSpPr>
          <p:cNvPr id="45" name="Text 42"/>
          <p:cNvSpPr/>
          <p:nvPr/>
        </p:nvSpPr>
        <p:spPr>
          <a:xfrm>
            <a:off x="6222504" y="3055441"/>
            <a:ext cx="2730996" cy="478036"/>
          </a:xfrm>
          <a:prstGeom prst="roundRect">
            <a:avLst>
              <a:gd name="adj" fmla="val 11955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346329" y="3131641"/>
            <a:ext cx="25330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充200元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346329" y="3310682"/>
            <a:ext cx="2533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到账240元（赠40元）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6222504" y="3590627"/>
            <a:ext cx="2730996" cy="478036"/>
          </a:xfrm>
          <a:prstGeom prst="roundRect">
            <a:avLst>
              <a:gd name="adj" fmla="val 11955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6346329" y="3666827"/>
            <a:ext cx="253301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充500元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346329" y="3845868"/>
            <a:ext cx="253301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到账620元（赠120元）+ 升金卡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6222504" y="4125813"/>
            <a:ext cx="2730996" cy="413296"/>
          </a:xfrm>
          <a:prstGeom prst="roundRect">
            <a:avLst>
              <a:gd name="adj" fmla="val 9219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6317754" y="4182963"/>
            <a:ext cx="259130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目标：首月储值入账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¥15,000</a:t>
            </a:r>
            <a:endParaRPr lang="en-US" sz="825" dirty="0"/>
          </a:p>
        </p:txBody>
      </p:sp>
      <p:sp>
        <p:nvSpPr>
          <p:cNvPr id="53" name="Text 50"/>
          <p:cNvSpPr/>
          <p:nvPr/>
        </p:nvSpPr>
        <p:spPr>
          <a:xfrm>
            <a:off x="6317754" y="4348609"/>
            <a:ext cx="25913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日均80人×5%储值率×100元×12天可达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38473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公私域联动：从陌生人到熟客的完整闭环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90500" y="1023342"/>
            <a:ext cx="8763000" cy="2851249"/>
          </a:xfrm>
          <a:prstGeom prst="roundRect">
            <a:avLst>
              <a:gd name="adj" fmla="val 2673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" name="Image 0" descr="/tmp/rasterized-gradient-92aa26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" y="1032867"/>
            <a:ext cx="2448223" cy="28321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52425" y="1166217"/>
            <a:ext cx="218629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公域引流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52425" y="1421457"/>
            <a:ext cx="2143423" cy="800398"/>
          </a:xfrm>
          <a:prstGeom prst="roundRect">
            <a:avLst>
              <a:gd name="adj" fmla="val 476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428625" y="1478607"/>
            <a:ext cx="2030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大众点评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428625" y="1644253"/>
            <a:ext cx="1991023" cy="520452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冲热门榜/好评榜（需30+评价）</a:t>
            </a:r>
            <a:endParaRPr lang="en-US" sz="750" dirty="0"/>
          </a:p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上线"下午茶套餐"团购</a:t>
            </a:r>
            <a:endParaRPr lang="en-US" sz="750" dirty="0"/>
          </a:p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每周回复差评，展示服务态度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352425" y="2269480"/>
            <a:ext cx="2143423" cy="800398"/>
          </a:xfrm>
          <a:prstGeom prst="roundRect">
            <a:avLst>
              <a:gd name="adj" fmla="val 4760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28625" y="2326630"/>
            <a:ext cx="2030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428625" y="2492276"/>
            <a:ext cx="1991023" cy="520452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每月2篇探店笔记</a:t>
            </a:r>
            <a:endParaRPr lang="en-US" sz="750" dirty="0"/>
          </a:p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主题：招牌点心+出片摆盘</a:t>
            </a:r>
            <a:endParaRPr lang="en-US" sz="750" dirty="0"/>
          </a:p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带#杭州下午茶等本地话题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52425" y="3117503"/>
            <a:ext cx="2143423" cy="614214"/>
          </a:xfrm>
          <a:prstGeom prst="roundRect">
            <a:avLst>
              <a:gd name="adj" fmla="val 6203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28625" y="3174653"/>
            <a:ext cx="203084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美团外卖</a:t>
            </a:r>
            <a:endParaRPr lang="en-US" sz="825" dirty="0"/>
          </a:p>
        </p:txBody>
      </p:sp>
      <p:sp>
        <p:nvSpPr>
          <p:cNvPr id="15" name="Text 12"/>
          <p:cNvSpPr/>
          <p:nvPr/>
        </p:nvSpPr>
        <p:spPr>
          <a:xfrm>
            <a:off x="428625" y="3340298"/>
            <a:ext cx="1991023" cy="334268"/>
          </a:xfrm>
          <a:prstGeom prst="rect">
            <a:avLst/>
          </a:prstGeom>
          <a:noFill/>
          <a:ln/>
        </p:spPr>
        <p:txBody>
          <a:bodyPr wrap="square" lIns="66675" tIns="0" rIns="0" bIns="0" rtlCol="0" anchor="t"/>
          <a:lstStyle/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外卖评分目标4.8+</a:t>
            </a:r>
            <a:endParaRPr lang="en-US" sz="750" dirty="0"/>
          </a:p>
          <a:p>
            <a:pPr algn="l" marL="66675" indent="-66675">
              <a:lnSpc>
                <a:spcPts val="1167"/>
              </a:lnSpc>
              <a:buSzPct val="100000"/>
              <a:buChar char="•"/>
            </a:pPr>
            <a:r>
              <a:rPr lang="en-US" sz="750" dirty="0">
                <a:solidFill>
                  <a:srgbClr val="D4A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打包出餐彩袋提升出片率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648248" y="1032867"/>
            <a:ext cx="699492" cy="2832199"/>
          </a:xfrm>
          <a:prstGeom prst="rect">
            <a:avLst/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2883694" y="2060377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2900839" y="257085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引来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347740" y="1032867"/>
            <a:ext cx="1748730" cy="2832199"/>
          </a:xfrm>
          <a:prstGeom prst="rect">
            <a:avLst/>
          </a:prstGeom>
          <a:solidFill>
            <a:srgbClr val="FF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446839" y="1536502"/>
            <a:ext cx="155053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🚪 到店触点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3462040" y="1772692"/>
            <a:ext cx="1520130" cy="756196"/>
          </a:xfrm>
          <a:prstGeom prst="roundRect">
            <a:avLst>
              <a:gd name="adj" fmla="val 7558"/>
            </a:avLst>
          </a:prstGeom>
          <a:solidFill>
            <a:srgbClr val="FFE8C0"/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553709" y="1858417"/>
            <a:ext cx="13367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扫码点餐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3553709" y="2043113"/>
            <a:ext cx="1336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自动建会员档案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弹窗推"新客专享"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首单减3元促转化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462040" y="2605088"/>
            <a:ext cx="1520130" cy="756196"/>
          </a:xfrm>
          <a:prstGeom prst="roundRect">
            <a:avLst>
              <a:gd name="adj" fmla="val 7558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3553709" y="2690813"/>
            <a:ext cx="13367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结账推储值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3553709" y="2875508"/>
            <a:ext cx="1336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POS弹窗提示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店员一句话：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"充100送15，下次直刷"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096470" y="1032867"/>
            <a:ext cx="699492" cy="2832199"/>
          </a:xfrm>
          <a:prstGeom prst="rect">
            <a:avLst/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331916" y="2060377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5349061" y="257085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入会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5795963" y="1032867"/>
            <a:ext cx="2098477" cy="2832199"/>
          </a:xfrm>
          <a:prstGeom prst="rect">
            <a:avLst/>
          </a:prstGeom>
          <a:solidFill>
            <a:srgbClr val="FF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5891564" y="1565077"/>
            <a:ext cx="19072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私域留客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910263" y="1782217"/>
            <a:ext cx="1869877" cy="746671"/>
          </a:xfrm>
          <a:prstGeom prst="roundRect">
            <a:avLst>
              <a:gd name="adj" fmla="val 7654"/>
            </a:avLst>
          </a:prstGeom>
          <a:solidFill>
            <a:srgbClr val="E8F5E8"/>
          </a:solidFill>
          <a:ln w="9525">
            <a:solidFill>
              <a:srgbClr val="C0E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015038" y="1867942"/>
            <a:ext cx="16935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自动唤醒沉睡客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6015038" y="2043113"/>
            <a:ext cx="16935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会员系统自动识别：</a:t>
            </a:r>
            <a:endParaRPr lang="en-US" sz="750" dirty="0"/>
          </a:p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7天未消费→推"想你了"优惠</a:t>
            </a:r>
            <a:endParaRPr lang="en-US" sz="750" dirty="0"/>
          </a:p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3A6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14天未消费→推储值赠送活动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5910263" y="2586038"/>
            <a:ext cx="1869877" cy="746671"/>
          </a:xfrm>
          <a:prstGeom prst="roundRect">
            <a:avLst>
              <a:gd name="adj" fmla="val 7654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015038" y="2671763"/>
            <a:ext cx="1693533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季节性精准营销</a:t>
            </a:r>
            <a:endParaRPr lang="en-US" sz="825" dirty="0"/>
          </a:p>
        </p:txBody>
      </p:sp>
      <p:sp>
        <p:nvSpPr>
          <p:cNvPr id="37" name="Text 34"/>
          <p:cNvSpPr/>
          <p:nvPr/>
        </p:nvSpPr>
        <p:spPr>
          <a:xfrm>
            <a:off x="6015038" y="2846933"/>
            <a:ext cx="169353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节日前定向push老客</a:t>
            </a:r>
            <a:endParaRPr lang="en-US" sz="750" dirty="0"/>
          </a:p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端午/中秋特供点心预告</a:t>
            </a:r>
            <a:endParaRPr lang="en-US" sz="750" dirty="0"/>
          </a:p>
          <a:p>
            <a:pPr algn="l" indent="0" marL="0">
              <a:lnSpc>
                <a:spcPts val="1050"/>
              </a:lnSpc>
              <a:spcBef>
                <a:spcPts val="225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生日专属券自动发放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894439" y="1032867"/>
            <a:ext cx="699492" cy="2832199"/>
          </a:xfrm>
          <a:prstGeom prst="rect">
            <a:avLst/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8129885" y="2060377"/>
            <a:ext cx="23317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8147030" y="2570857"/>
            <a:ext cx="1943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</a:t>
            </a:r>
            <a:endParaRPr lang="en-US" sz="750" dirty="0"/>
          </a:p>
          <a:p>
            <a:pPr algn="ctr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口碑</a:t>
            </a:r>
            <a:endParaRPr lang="en-US" sz="750" dirty="0"/>
          </a:p>
        </p:txBody>
      </p:sp>
      <p:pic>
        <p:nvPicPr>
          <p:cNvPr id="41" name="Image 1" descr="/tmp/rasterized-gradient-c552fab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3931" y="1032867"/>
            <a:ext cx="349746" cy="2832199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90500" y="3969841"/>
            <a:ext cx="2105025" cy="798016"/>
          </a:xfrm>
          <a:prstGeom prst="roundRect">
            <a:avLst>
              <a:gd name="adj" fmla="val 7162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315182" y="4074616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+20-30人/月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315182" y="4369891"/>
            <a:ext cx="185566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大众点评+小红书带来的新客增量（⚠️假设）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2409825" y="4043065"/>
            <a:ext cx="2105025" cy="651421"/>
          </a:xfrm>
          <a:prstGeom prst="roundRect">
            <a:avLst>
              <a:gd name="adj" fmla="val 8773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2534507" y="4147840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500" dirty="0"/>
          </a:p>
        </p:txBody>
      </p:sp>
      <p:sp>
        <p:nvSpPr>
          <p:cNvPr id="47" name="Text 43"/>
          <p:cNvSpPr/>
          <p:nvPr/>
        </p:nvSpPr>
        <p:spPr>
          <a:xfrm>
            <a:off x="2534507" y="4443115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私域会员老客复购率提升（⚠️假设）</a:t>
            </a:r>
            <a:endParaRPr lang="en-US" sz="825" dirty="0"/>
          </a:p>
        </p:txBody>
      </p:sp>
      <p:sp>
        <p:nvSpPr>
          <p:cNvPr id="48" name="Text 44"/>
          <p:cNvSpPr/>
          <p:nvPr/>
        </p:nvSpPr>
        <p:spPr>
          <a:xfrm>
            <a:off x="4629150" y="4043065"/>
            <a:ext cx="2105025" cy="651421"/>
          </a:xfrm>
          <a:prstGeom prst="roundRect">
            <a:avLst>
              <a:gd name="adj" fmla="val 8773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5"/>
          <p:cNvSpPr/>
          <p:nvPr/>
        </p:nvSpPr>
        <p:spPr>
          <a:xfrm>
            <a:off x="4753832" y="4147840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300人</a:t>
            </a:r>
            <a:endParaRPr lang="en-US" sz="1500" dirty="0"/>
          </a:p>
        </p:txBody>
      </p:sp>
      <p:sp>
        <p:nvSpPr>
          <p:cNvPr id="50" name="Text 46"/>
          <p:cNvSpPr/>
          <p:nvPr/>
        </p:nvSpPr>
        <p:spPr>
          <a:xfrm>
            <a:off x="4753832" y="4443115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首月会员沉淀目标</a:t>
            </a:r>
            <a:endParaRPr lang="en-US" sz="825" dirty="0"/>
          </a:p>
        </p:txBody>
      </p:sp>
      <p:sp>
        <p:nvSpPr>
          <p:cNvPr id="51" name="Text 47"/>
          <p:cNvSpPr/>
          <p:nvPr/>
        </p:nvSpPr>
        <p:spPr>
          <a:xfrm>
            <a:off x="6848475" y="4043065"/>
            <a:ext cx="2105025" cy="651421"/>
          </a:xfrm>
          <a:prstGeom prst="roundRect">
            <a:avLst>
              <a:gd name="adj" fmla="val 8773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6973157" y="4147840"/>
            <a:ext cx="185566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4.8★</a:t>
            </a:r>
            <a:endParaRPr lang="en-US" sz="1500" dirty="0"/>
          </a:p>
        </p:txBody>
      </p:sp>
      <p:sp>
        <p:nvSpPr>
          <p:cNvPr id="53" name="Text 49"/>
          <p:cNvSpPr/>
          <p:nvPr/>
        </p:nvSpPr>
        <p:spPr>
          <a:xfrm>
            <a:off x="6973157" y="4443115"/>
            <a:ext cx="185566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90天内点评评分目标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363359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点评提升路径：新店→热门榜→好评榜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8600" y="55245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E85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重要合规提醒：严禁任何促评/邀评行为，以下所有路径均基于真实消费体验驱动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0500" y="1500634"/>
            <a:ext cx="2090738" cy="523726"/>
          </a:xfrm>
          <a:prstGeom prst="roundRect">
            <a:avLst>
              <a:gd name="adj" fmla="val 10912"/>
            </a:avLst>
          </a:prstGeom>
          <a:solidFill>
            <a:srgbClr val="3D1F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6179" y="1576834"/>
            <a:ext cx="18993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第1阶段（0-30天）</a:t>
            </a:r>
            <a:endParaRPr lang="en-US" sz="825" dirty="0"/>
          </a:p>
        </p:txBody>
      </p:sp>
      <p:sp>
        <p:nvSpPr>
          <p:cNvPr id="7" name="Text 5"/>
          <p:cNvSpPr/>
          <p:nvPr/>
        </p:nvSpPr>
        <p:spPr>
          <a:xfrm>
            <a:off x="286179" y="1761530"/>
            <a:ext cx="189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🌱 出星期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90500" y="2081510"/>
            <a:ext cx="2090738" cy="2412653"/>
          </a:xfrm>
          <a:prstGeom prst="rect">
            <a:avLst/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14325" y="2186285"/>
            <a:ext cx="1843088" cy="573137"/>
          </a:xfrm>
          <a:prstGeom prst="roundRect">
            <a:avLst>
              <a:gd name="adj" fmla="val 6648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0525" y="2243435"/>
            <a:ext cx="1724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90525" y="2409081"/>
            <a:ext cx="17245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积累30条真实评价，争取出星（至少4.0星）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14325" y="2816572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关键动作：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14325" y="3020318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扫码结账后自动弹点评引导页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14325" y="3224064"/>
            <a:ext cx="18799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外卖包装加一张"好吃就夸夸我吧"小卡片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314325" y="3574405"/>
            <a:ext cx="18799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🍜 确保招牌菜品质稳定（爆品锚点打造）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14325" y="3924746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100%回复前10条评价（定调）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14325" y="4128492"/>
            <a:ext cx="1843088" cy="260896"/>
          </a:xfrm>
          <a:prstGeom prst="roundRect">
            <a:avLst>
              <a:gd name="adj" fmla="val 14604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0525" y="4185642"/>
            <a:ext cx="1724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里程碑：出星即开启推广通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414588" y="1354038"/>
            <a:ext cx="2090738" cy="523726"/>
          </a:xfrm>
          <a:prstGeom prst="roundRect">
            <a:avLst>
              <a:gd name="adj" fmla="val 10912"/>
            </a:avLst>
          </a:prstGeom>
          <a:solidFill>
            <a:srgbClr val="C440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510266" y="1430238"/>
            <a:ext cx="18993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E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第2阶段（31-60天）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2510266" y="1614934"/>
            <a:ext cx="189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冲热门榜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414588" y="1934914"/>
            <a:ext cx="2090738" cy="2705844"/>
          </a:xfrm>
          <a:prstGeom prst="rect">
            <a:avLst/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38413" y="2039689"/>
            <a:ext cx="1843088" cy="573137"/>
          </a:xfrm>
          <a:prstGeom prst="roundRect">
            <a:avLst>
              <a:gd name="adj" fmla="val 6648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14613" y="2096839"/>
            <a:ext cx="1724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614613" y="2262485"/>
            <a:ext cx="17245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评价量80+，评分4.5+，进入本地热门榜前20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2538413" y="2669977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关键动作：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538413" y="2873722"/>
            <a:ext cx="18799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🏷️ 上线"招牌下午茶套餐"团购（大众点评）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538413" y="3224064"/>
            <a:ext cx="18799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小红书发2篇探店笔记（出片菜品+人均）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2538413" y="3574405"/>
            <a:ext cx="18799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会员系统发券召回沉睡客（7天未来的）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2538413" y="3924746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开通推广通基础版提升曝光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538413" y="4128492"/>
            <a:ext cx="1843088" cy="407491"/>
          </a:xfrm>
          <a:prstGeom prst="roundRect">
            <a:avLst>
              <a:gd name="adj" fmla="val 9350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614613" y="4185642"/>
            <a:ext cx="17245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里程碑：进入热门榜，周新客+30%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4638675" y="1427411"/>
            <a:ext cx="2090738" cy="523726"/>
          </a:xfrm>
          <a:prstGeom prst="roundRect">
            <a:avLst>
              <a:gd name="adj" fmla="val 10912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34354" y="1503611"/>
            <a:ext cx="18993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FF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第3阶段（61-90天）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4734354" y="1688306"/>
            <a:ext cx="189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冲好评榜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38675" y="2008287"/>
            <a:ext cx="2090738" cy="2559248"/>
          </a:xfrm>
          <a:prstGeom prst="rect">
            <a:avLst/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762500" y="2113062"/>
            <a:ext cx="1843088" cy="573137"/>
          </a:xfrm>
          <a:prstGeom prst="roundRect">
            <a:avLst>
              <a:gd name="adj" fmla="val 6648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838700" y="2170212"/>
            <a:ext cx="1724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25" dirty="0"/>
          </a:p>
        </p:txBody>
      </p:sp>
      <p:sp>
        <p:nvSpPr>
          <p:cNvPr id="39" name="Text 37"/>
          <p:cNvSpPr/>
          <p:nvPr/>
        </p:nvSpPr>
        <p:spPr>
          <a:xfrm>
            <a:off x="4838700" y="2335857"/>
            <a:ext cx="17245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评分4.8+，评价150+，进入好评榜前10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762500" y="2743349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关键动作：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762500" y="2947095"/>
            <a:ext cx="18799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分析差评关键词，针对性改进产品/服务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762500" y="3297436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🎁 推出"好评返积分"引导真实体验分享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762500" y="3501182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🍡 季节限定新品上线，刺激老客晒图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4762500" y="3704927"/>
            <a:ext cx="187994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📣 申请大众点评"必吃"标签（长期目标）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4762500" y="4055269"/>
            <a:ext cx="1843088" cy="407491"/>
          </a:xfrm>
          <a:prstGeom prst="roundRect">
            <a:avLst>
              <a:gd name="adj" fmla="val 9350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38700" y="4112419"/>
            <a:ext cx="17245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里程碑：好评榜上榜，月新客+50%</a:t>
            </a:r>
            <a:endParaRPr lang="en-US" sz="825" dirty="0"/>
          </a:p>
        </p:txBody>
      </p:sp>
      <p:sp>
        <p:nvSpPr>
          <p:cNvPr id="47" name="Text 45"/>
          <p:cNvSpPr/>
          <p:nvPr/>
        </p:nvSpPr>
        <p:spPr>
          <a:xfrm>
            <a:off x="6862763" y="1647230"/>
            <a:ext cx="2090738" cy="523726"/>
          </a:xfrm>
          <a:prstGeom prst="roundRect">
            <a:avLst>
              <a:gd name="adj" fmla="val 1091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958441" y="1723430"/>
            <a:ext cx="18993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D0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第4阶段（90天+）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958441" y="1908125"/>
            <a:ext cx="1899380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维护期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862763" y="2228106"/>
            <a:ext cx="2090738" cy="2119461"/>
          </a:xfrm>
          <a:prstGeom prst="rect">
            <a:avLst/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986588" y="2332881"/>
            <a:ext cx="1843088" cy="426541"/>
          </a:xfrm>
          <a:prstGeom prst="roundRect">
            <a:avLst>
              <a:gd name="adj" fmla="val 8932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062788" y="2390031"/>
            <a:ext cx="1724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7062788" y="2555677"/>
            <a:ext cx="172450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稳定评分4.8+，保持榜单，口碑飞轮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6986588" y="2816572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常态化动作：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6986588" y="3020318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每月季节新品上线制造话题</a:t>
            </a:r>
            <a:endParaRPr lang="en-US" sz="825" dirty="0"/>
          </a:p>
        </p:txBody>
      </p:sp>
      <p:sp>
        <p:nvSpPr>
          <p:cNvPr id="56" name="Text 54"/>
          <p:cNvSpPr/>
          <p:nvPr/>
        </p:nvSpPr>
        <p:spPr>
          <a:xfrm>
            <a:off x="6986588" y="3224064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🔁 会员体系持续运营（生日/节假日）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6986588" y="3427809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每月查看点评数据报告复盘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6986588" y="3631555"/>
            <a:ext cx="187994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优质评价截图发小红书/抖音</a:t>
            </a:r>
            <a:endParaRPr lang="en-US" sz="825" dirty="0"/>
          </a:p>
        </p:txBody>
      </p:sp>
      <p:sp>
        <p:nvSpPr>
          <p:cNvPr id="59" name="Text 57"/>
          <p:cNvSpPr/>
          <p:nvPr/>
        </p:nvSpPr>
        <p:spPr>
          <a:xfrm>
            <a:off x="6986588" y="3835301"/>
            <a:ext cx="1843088" cy="407491"/>
          </a:xfrm>
          <a:prstGeom prst="roundRect">
            <a:avLst>
              <a:gd name="adj" fmla="val 9350"/>
            </a:avLst>
          </a:prstGeom>
          <a:solidFill>
            <a:srgbClr val="E8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062788" y="3892451"/>
            <a:ext cx="172450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1B5C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里程碑：口碑飞轮，新客50%靠口碑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25648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营销节奏：90天执行路线图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8600" y="55245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精确到每周的执行动作，不是笼统的"做营销"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0500" y="1239292"/>
            <a:ext cx="8763000" cy="1108621"/>
          </a:xfrm>
          <a:prstGeom prst="roundRect">
            <a:avLst>
              <a:gd name="adj" fmla="val 6873"/>
            </a:avLst>
          </a:prstGeom>
          <a:noFill/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00025" y="1248817"/>
            <a:ext cx="1524000" cy="1089571"/>
          </a:xfrm>
          <a:prstGeom prst="rect">
            <a:avLst/>
          </a:prstGeom>
          <a:solidFill>
            <a:srgbClr val="3D1F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3375" y="1363117"/>
            <a:ext cx="1282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第1-2周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3375" y="1713607"/>
            <a:ext cx="1282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启动期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375" y="2090738"/>
            <a:ext cx="1282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系统上线+首批会员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724025" y="1248817"/>
            <a:ext cx="7219950" cy="1089571"/>
          </a:xfrm>
          <a:prstGeom prst="rect">
            <a:avLst/>
          </a:prstGeom>
          <a:solidFill>
            <a:srgbClr val="FF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57375" y="1344067"/>
            <a:ext cx="28077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：扫码点餐正式上线，员工培训话术（"扫码有新客礼"）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1857375" y="1675358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：储值活动启动，收银台放立牌"充100送15"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762500" y="1344067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D7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：首批会员建档目标50人，检查转化率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4762500" y="1528763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第2周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：新客首单弹窗+3元优惠，刺激首次消费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7667625" y="1344067"/>
            <a:ext cx="1143000" cy="605582"/>
          </a:xfrm>
          <a:prstGeom prst="roundRect">
            <a:avLst>
              <a:gd name="adj" fmla="val 9437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33919" y="1401217"/>
            <a:ext cx="1010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733919" y="1566863"/>
            <a:ext cx="10104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会员50人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7733919" y="1759148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储值入账3,000元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90500" y="2443163"/>
            <a:ext cx="8763000" cy="1108621"/>
          </a:xfrm>
          <a:prstGeom prst="roundRect">
            <a:avLst>
              <a:gd name="adj" fmla="val 6873"/>
            </a:avLst>
          </a:prstGeom>
          <a:noFill/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0025" y="2452688"/>
            <a:ext cx="1524000" cy="1089571"/>
          </a:xfrm>
          <a:prstGeom prst="rect">
            <a:avLst/>
          </a:prstGeom>
          <a:solidFill>
            <a:srgbClr val="C440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33375" y="2566988"/>
            <a:ext cx="1282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E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第3-4周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375" y="2917478"/>
            <a:ext cx="1282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爆发期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3375" y="3294608"/>
            <a:ext cx="1282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B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评价冲刺+公域布局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724025" y="2452688"/>
            <a:ext cx="7219950" cy="1089571"/>
          </a:xfrm>
          <a:prstGeom prst="rect">
            <a:avLst/>
          </a:prstGeom>
          <a:solidFill>
            <a:srgbClr val="FF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857375" y="2547938"/>
            <a:ext cx="28077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第3周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：小红书发第1篇探店笔记（招牌点心+下午茶场景）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1857375" y="2879229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第3周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：集章卡上线，"5章送招牌点心"活动开始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762500" y="2547938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第4周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：大众点评上线"下午茶套餐"团购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762500" y="2732633"/>
            <a:ext cx="28077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第4周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：6月端午节点心限定（粽子/绿豆糕）上线，刺激老客晒图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667625" y="2547938"/>
            <a:ext cx="1143000" cy="605582"/>
          </a:xfrm>
          <a:prstGeom prst="roundRect">
            <a:avLst>
              <a:gd name="adj" fmla="val 9437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733919" y="2605088"/>
            <a:ext cx="1010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733919" y="2770733"/>
            <a:ext cx="10104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会员200人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7733919" y="2963019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评价量30条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90500" y="3647033"/>
            <a:ext cx="8763000" cy="1108621"/>
          </a:xfrm>
          <a:prstGeom prst="roundRect">
            <a:avLst>
              <a:gd name="adj" fmla="val 6873"/>
            </a:avLst>
          </a:prstGeom>
          <a:noFill/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0025" y="3656558"/>
            <a:ext cx="1524000" cy="1089571"/>
          </a:xfrm>
          <a:prstGeom prst="rect">
            <a:avLst/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3375" y="3770858"/>
            <a:ext cx="1282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第5-8周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33375" y="4121348"/>
            <a:ext cx="128244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稳增期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3375" y="4498479"/>
            <a:ext cx="128244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FF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沉睡唤醒+复购提升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724025" y="3656558"/>
            <a:ext cx="7219950" cy="1089571"/>
          </a:xfrm>
          <a:prstGeom prst="rect">
            <a:avLst/>
          </a:prstGeom>
          <a:solidFill>
            <a:srgbClr val="FFF8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857375" y="3751808"/>
            <a:ext cx="2807779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第5周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：系统自动唤醒7天未消费会员，推"想你了-专属折扣"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857375" y="4083100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第6周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：七夕（8月初）双人甜品套餐+小红书探店第2篇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4762500" y="3751808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第7周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：储值余额不足100元会员推"限时充赠"活动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4762500" y="3936504"/>
            <a:ext cx="28077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第8周</a:t>
            </a:r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：30天复盘：查会员数/储值额/评分，调整策略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7667625" y="3751808"/>
            <a:ext cx="1143000" cy="605582"/>
          </a:xfrm>
          <a:prstGeom prst="roundRect">
            <a:avLst>
              <a:gd name="adj" fmla="val 9437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733919" y="3808958"/>
            <a:ext cx="101041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7733919" y="3974604"/>
            <a:ext cx="101041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Bef>
                <a:spcPts val="150"/>
              </a:spcBef>
              <a:buNone/>
            </a:pPr>
            <a:r>
              <a:rPr lang="en-US" sz="975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会员300人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7733919" y="4166890"/>
            <a:ext cx="10104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月营收+35%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301651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推荐方案：美团餐饮SaaS旗舰版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8600" y="55245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旗舰版独有能力：团购会员卡（公域→私域）+ 潜客营销 + 6大特有活动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0500" y="1723281"/>
            <a:ext cx="2037606" cy="700832"/>
          </a:xfrm>
          <a:prstGeom prst="roundRect">
            <a:avLst>
              <a:gd name="adj" fmla="val 8155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325" y="1828056"/>
            <a:ext cx="1825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扫码点餐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14325" y="2026146"/>
            <a:ext cx="182575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高峰期无需加收银，每桌自助点单3分钟，预计省1名人力=月省约¥3,000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2304306" y="1650057"/>
            <a:ext cx="2037606" cy="847427"/>
          </a:xfrm>
          <a:prstGeom prst="roundRect">
            <a:avLst>
              <a:gd name="adj" fmla="val 6744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28131" y="1754832"/>
            <a:ext cx="1825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会员旗舰版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8131" y="1952923"/>
            <a:ext cx="1825755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储值/积分/等级/集章一体化，旗舰版独有：团购会员卡（大众点评新客直接转私域）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90500" y="2573685"/>
            <a:ext cx="2037606" cy="847427"/>
          </a:xfrm>
          <a:prstGeom prst="roundRect">
            <a:avLst>
              <a:gd name="adj" fmla="val 6744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4325" y="2678460"/>
            <a:ext cx="1825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智能储值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4325" y="2876550"/>
            <a:ext cx="1825755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POS自动弹储值推荐，系统跟踪储值余额，自动发"快用光了"提醒，防止余额沉睡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304306" y="2573685"/>
            <a:ext cx="2037606" cy="847427"/>
          </a:xfrm>
          <a:prstGeom prst="roundRect">
            <a:avLst>
              <a:gd name="adj" fmla="val 6744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428131" y="2678460"/>
            <a:ext cx="1825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评价专家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8131" y="2876550"/>
            <a:ext cx="1825755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结账后自动弹好评引导，差评实时预警，30天内冲30条真实评价，评分目标4.8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90500" y="3570536"/>
            <a:ext cx="2037606" cy="700832"/>
          </a:xfrm>
          <a:prstGeom prst="roundRect">
            <a:avLst>
              <a:gd name="adj" fmla="val 8155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14325" y="3675311"/>
            <a:ext cx="1825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经营数据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4325" y="3873401"/>
            <a:ext cx="1825755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手机实时查销售报表、菜品排名、会员活跃度，哪款点心卖得好一眼看出来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2304306" y="3497312"/>
            <a:ext cx="2037606" cy="847427"/>
          </a:xfrm>
          <a:prstGeom prst="roundRect">
            <a:avLst>
              <a:gd name="adj" fmla="val 6744"/>
            </a:avLst>
          </a:prstGeom>
          <a:solidFill>
            <a:srgbClr val="FFF0E0"/>
          </a:solidFill>
          <a:ln w="9525">
            <a:solidFill>
              <a:srgbClr val="E8C4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428131" y="3602087"/>
            <a:ext cx="182575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潜客营销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8131" y="3800177"/>
            <a:ext cx="1825755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旗舰版独有：向有兴趣但未到店的潜在客户精准发券，大众点评公域转私域的核心武器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456212" y="1224111"/>
            <a:ext cx="4497288" cy="1809304"/>
          </a:xfrm>
          <a:prstGeom prst="roundRect">
            <a:avLst>
              <a:gd name="adj" fmla="val 4212"/>
            </a:avLst>
          </a:prstGeom>
          <a:solidFill>
            <a:srgbClr val="3D1F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08612" y="1357461"/>
            <a:ext cx="4276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方案报价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608612" y="1644997"/>
            <a:ext cx="203615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软件年费（含旗舰版会员+扫码点餐+智能储值+评价专家）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4608612" y="1976289"/>
            <a:ext cx="20361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¥4,888/年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608612" y="2273350"/>
            <a:ext cx="20361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¥407/月，不到一个收银员1天工资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804868" y="1644997"/>
            <a:ext cx="2036156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硬件（S4mini-pro收银机 + 扫码盒 + 厨打）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6804868" y="1976289"/>
            <a:ext cx="2036156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¥2,068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804868" y="2273350"/>
            <a:ext cx="203615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一次性投入，第二年起无硬件成本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08612" y="2525762"/>
            <a:ext cx="4192488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08612" y="2673400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首年总投入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60097" y="2606725"/>
            <a:ext cx="653823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¥6,956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4456212" y="3128665"/>
            <a:ext cx="4497288" cy="1642021"/>
          </a:xfrm>
          <a:prstGeom prst="roundRect">
            <a:avLst>
              <a:gd name="adj" fmla="val 4641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99087" y="3252490"/>
            <a:ext cx="42957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月增收预测（⚠️假设月流水7万基准）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99087" y="3574405"/>
            <a:ext cx="995660" cy="491430"/>
          </a:xfrm>
          <a:prstGeom prst="roundRect">
            <a:avLst>
              <a:gd name="adj" fmla="val 7753"/>
            </a:avLst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666854" y="3650605"/>
            <a:ext cx="8601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¥3,000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6854" y="3856286"/>
            <a:ext cx="860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省人力成本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670947" y="3574405"/>
            <a:ext cx="995809" cy="491430"/>
          </a:xfrm>
          <a:prstGeom prst="roundRect">
            <a:avLst>
              <a:gd name="adj" fmla="val 7753"/>
            </a:avLst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738713" y="3650605"/>
            <a:ext cx="8602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¥8,000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738713" y="3856286"/>
            <a:ext cx="86027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会员复购增收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742956" y="3507730"/>
            <a:ext cx="995660" cy="624780"/>
          </a:xfrm>
          <a:prstGeom prst="roundRect">
            <a:avLst>
              <a:gd name="adj" fmla="val 6098"/>
            </a:avLst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810723" y="3583930"/>
            <a:ext cx="8601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¥3,500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810723" y="3789611"/>
            <a:ext cx="860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新客增量（评分提升）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7814816" y="3507730"/>
            <a:ext cx="995809" cy="624780"/>
          </a:xfrm>
          <a:prstGeom prst="roundRect">
            <a:avLst>
              <a:gd name="adj" fmla="val 6098"/>
            </a:avLst>
          </a:prstGeom>
          <a:solidFill>
            <a:srgbClr val="FFF0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882582" y="3583930"/>
            <a:ext cx="86027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¥2,500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882582" y="3789611"/>
            <a:ext cx="8602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客单提升（套餐/储值）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599087" y="4227761"/>
            <a:ext cx="4211538" cy="419100"/>
          </a:xfrm>
          <a:prstGeom prst="roundRect">
            <a:avLst>
              <a:gd name="adj" fmla="val 13636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13387" y="4357241"/>
            <a:ext cx="58293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月增收合计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6290965" y="4303961"/>
            <a:ext cx="70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¥17,000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985671" y="4357241"/>
            <a:ext cx="72486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0.4个月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47650"/>
            <a:ext cx="38100" cy="266700"/>
          </a:xfrm>
          <a:prstGeom prst="roundRect">
            <a:avLst>
              <a:gd name="adj" fmla="val 50000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76225"/>
            <a:ext cx="290933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1A0A0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OKR量化目标 &amp; 投资回报分析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228600" y="552450"/>
            <a:ext cx="886053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基于假设月流水7万、客单30元、日均80人次 | 数字供参考，实际请国庆根据真实数据调整</a:t>
            </a:r>
            <a:endParaRPr lang="en-US" sz="825" dirty="0"/>
          </a:p>
        </p:txBody>
      </p:sp>
      <p:sp>
        <p:nvSpPr>
          <p:cNvPr id="5" name="Text 3"/>
          <p:cNvSpPr/>
          <p:nvPr/>
        </p:nvSpPr>
        <p:spPr>
          <a:xfrm>
            <a:off x="190500" y="1516707"/>
            <a:ext cx="3969544" cy="274290"/>
          </a:xfrm>
          <a:prstGeom prst="roundRect">
            <a:avLst>
              <a:gd name="adj" fmla="val 13890"/>
            </a:avLst>
          </a:prstGeom>
          <a:solidFill>
            <a:srgbClr val="FFD5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85750" y="1573857"/>
            <a:ext cx="38546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季度OKR（90天目标）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0500" y="1867198"/>
            <a:ext cx="3969544" cy="853232"/>
          </a:xfrm>
          <a:prstGeom prst="roundRect">
            <a:avLst>
              <a:gd name="adj" fmla="val 6698"/>
            </a:avLst>
          </a:prstGeom>
          <a:solidFill>
            <a:srgbClr val="FFFFFF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14325" y="1971973"/>
            <a:ext cx="104305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O1: 月营收提升35%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23332" y="1978670"/>
            <a:ext cx="72714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⚠️假设基准7万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14325" y="2189113"/>
            <a:ext cx="3721894" cy="57150"/>
          </a:xfrm>
          <a:prstGeom prst="roundRect">
            <a:avLst>
              <a:gd name="adj" fmla="val 50000"/>
            </a:avLst>
          </a:prstGeom>
          <a:solidFill>
            <a:srgbClr val="F0D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14325" y="2303413"/>
            <a:ext cx="3796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月流水从</a:t>
            </a:r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¥70,000 → ¥94,500</a:t>
            </a:r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（+¥24,500）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314325" y="2469059"/>
            <a:ext cx="3796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拆解：会员复购+¥8K / 储值释放+¥6K / 新客增量+¥5.5K / 客单提升+¥5K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90500" y="2796629"/>
            <a:ext cx="3969544" cy="719882"/>
          </a:xfrm>
          <a:prstGeom prst="roundRect">
            <a:avLst>
              <a:gd name="adj" fmla="val 7939"/>
            </a:avLst>
          </a:prstGeom>
          <a:solidFill>
            <a:srgbClr val="FFFFFF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14325" y="2901404"/>
            <a:ext cx="115234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O2: 大众点评评分≥4.8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76749" y="2908102"/>
            <a:ext cx="77465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⚠️假设当前未知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314325" y="3099495"/>
            <a:ext cx="3796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90天内真实评价量≥150条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314325" y="3265140"/>
            <a:ext cx="3796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进入本地热门榜前10，冲好评榜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190500" y="3592711"/>
            <a:ext cx="3969544" cy="885527"/>
          </a:xfrm>
          <a:prstGeom prst="roundRect">
            <a:avLst>
              <a:gd name="adj" fmla="val 6454"/>
            </a:avLst>
          </a:prstGeom>
          <a:solidFill>
            <a:srgbClr val="FFFFFF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14325" y="3697486"/>
            <a:ext cx="9263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O3: 会员体系建立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4325" y="3895576"/>
            <a:ext cx="3796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KR1: 首月建档会员≥300人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314325" y="4061222"/>
            <a:ext cx="3796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KR2: 储值入账≥¥15,000 / 储值会员转化率≥5%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314325" y="4226868"/>
            <a:ext cx="379633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KR3: 集章活动兑换率≥15%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4293394" y="1433661"/>
            <a:ext cx="4660106" cy="274290"/>
          </a:xfrm>
          <a:prstGeom prst="roundRect">
            <a:avLst>
              <a:gd name="adj" fmla="val 13890"/>
            </a:avLst>
          </a:prstGeom>
          <a:solidFill>
            <a:srgbClr val="FFD59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388644" y="1490811"/>
            <a:ext cx="455899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投资回报分析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3394" y="1784152"/>
            <a:ext cx="1502569" cy="820936"/>
          </a:xfrm>
          <a:prstGeom prst="roundRect">
            <a:avLst>
              <a:gd name="adj" fmla="val 6962"/>
            </a:avLst>
          </a:prstGeom>
          <a:solidFill>
            <a:srgbClr val="3D1F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394954" y="1879402"/>
            <a:ext cx="12994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D5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首年总投入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4394954" y="2064097"/>
            <a:ext cx="12994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¥6,956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4394954" y="2376488"/>
            <a:ext cx="1299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软件¥4,888 + 硬件¥2,068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872163" y="1784152"/>
            <a:ext cx="1502569" cy="820936"/>
          </a:xfrm>
          <a:prstGeom prst="roundRect">
            <a:avLst>
              <a:gd name="adj" fmla="val 6962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973723" y="1879402"/>
            <a:ext cx="12994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月增收合计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973723" y="2064097"/>
            <a:ext cx="12994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¥17,000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5973723" y="2376488"/>
            <a:ext cx="1299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FFF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（⚠️假设值）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450931" y="1784152"/>
            <a:ext cx="1502569" cy="820936"/>
          </a:xfrm>
          <a:prstGeom prst="roundRect">
            <a:avLst>
              <a:gd name="adj" fmla="val 6962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552492" y="1879402"/>
            <a:ext cx="129944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D0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回本周期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7552492" y="2064097"/>
            <a:ext cx="1299448" cy="293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10"/>
              </a:lnSpc>
              <a:spcBef>
                <a:spcPts val="300"/>
              </a:spcBef>
              <a:buNone/>
            </a:pPr>
            <a:r>
              <a:rPr lang="en-US" sz="1650" b="1" dirty="0">
                <a:solidFill>
                  <a:srgbClr val="FFFA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0.4月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7552492" y="2376488"/>
            <a:ext cx="129944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D0F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约12天回本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93394" y="2681288"/>
            <a:ext cx="4660106" cy="1670447"/>
          </a:xfrm>
          <a:prstGeom prst="roundRect">
            <a:avLst>
              <a:gd name="adj" fmla="val 3421"/>
            </a:avLst>
          </a:prstGeom>
          <a:solidFill>
            <a:srgbClr val="FFF8F2"/>
          </a:solidFill>
          <a:ln w="9525">
            <a:solidFill>
              <a:srgbClr val="F0D5B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36269" y="2805113"/>
            <a:ext cx="446184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月增收来源拆解（自洽验证）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436269" y="3048000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省人力成本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845969" y="3054548"/>
            <a:ext cx="2364581" cy="133350"/>
          </a:xfrm>
          <a:prstGeom prst="roundRect">
            <a:avLst>
              <a:gd name="adj" fmla="val 21429"/>
            </a:avLst>
          </a:prstGeom>
          <a:solidFill>
            <a:srgbClr val="F0D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845969" y="3054548"/>
            <a:ext cx="425500" cy="133350"/>
          </a:xfrm>
          <a:prstGeom prst="roundRect">
            <a:avLst>
              <a:gd name="adj" fmla="val 21429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8276273" y="3041303"/>
            <a:ext cx="5343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¥3,000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36269" y="3255615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会员复购增收</a:t>
            </a:r>
            <a:endParaRPr lang="en-US" sz="825" dirty="0"/>
          </a:p>
        </p:txBody>
      </p:sp>
      <p:sp>
        <p:nvSpPr>
          <p:cNvPr id="44" name="Text 42"/>
          <p:cNvSpPr/>
          <p:nvPr/>
        </p:nvSpPr>
        <p:spPr>
          <a:xfrm>
            <a:off x="5845969" y="3262164"/>
            <a:ext cx="2364581" cy="133350"/>
          </a:xfrm>
          <a:prstGeom prst="roundRect">
            <a:avLst>
              <a:gd name="adj" fmla="val 21429"/>
            </a:avLst>
          </a:prstGeom>
          <a:solidFill>
            <a:srgbClr val="F0D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845969" y="3262164"/>
            <a:ext cx="1111300" cy="133350"/>
          </a:xfrm>
          <a:prstGeom prst="roundRect">
            <a:avLst>
              <a:gd name="adj" fmla="val 21429"/>
            </a:avLst>
          </a:prstGeom>
          <a:solidFill>
            <a:srgbClr val="C4401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8276273" y="3248918"/>
            <a:ext cx="5343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¥8,000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436269" y="3463230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新客增量（评分提升）</a:t>
            </a:r>
            <a:endParaRPr lang="en-US" sz="825" dirty="0"/>
          </a:p>
        </p:txBody>
      </p:sp>
      <p:sp>
        <p:nvSpPr>
          <p:cNvPr id="48" name="Text 46"/>
          <p:cNvSpPr/>
          <p:nvPr/>
        </p:nvSpPr>
        <p:spPr>
          <a:xfrm>
            <a:off x="5845969" y="3469779"/>
            <a:ext cx="2364581" cy="133350"/>
          </a:xfrm>
          <a:prstGeom prst="roundRect">
            <a:avLst>
              <a:gd name="adj" fmla="val 21429"/>
            </a:avLst>
          </a:prstGeom>
          <a:solidFill>
            <a:srgbClr val="F0D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45969" y="3469779"/>
            <a:ext cx="496491" cy="133350"/>
          </a:xfrm>
          <a:prstGeom prst="roundRect">
            <a:avLst>
              <a:gd name="adj" fmla="val 21429"/>
            </a:avLst>
          </a:prstGeom>
          <a:solidFill>
            <a:srgbClr val="E87B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276273" y="3456533"/>
            <a:ext cx="5343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¥3,500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436269" y="3670846"/>
            <a:ext cx="136017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客单提升（套餐/储值）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5845969" y="3677394"/>
            <a:ext cx="2364581" cy="133350"/>
          </a:xfrm>
          <a:prstGeom prst="roundRect">
            <a:avLst>
              <a:gd name="adj" fmla="val 21429"/>
            </a:avLst>
          </a:prstGeom>
          <a:solidFill>
            <a:srgbClr val="F0D5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845969" y="3677394"/>
            <a:ext cx="354657" cy="133350"/>
          </a:xfrm>
          <a:prstGeom prst="roundRect">
            <a:avLst>
              <a:gd name="adj" fmla="val 21429"/>
            </a:avLst>
          </a:prstGeom>
          <a:solidFill>
            <a:srgbClr val="F4A2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8276273" y="3664148"/>
            <a:ext cx="53435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87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¥2,500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436269" y="3900339"/>
            <a:ext cx="4374356" cy="327571"/>
          </a:xfrm>
          <a:prstGeom prst="roundRect">
            <a:avLst>
              <a:gd name="adj" fmla="val 11631"/>
            </a:avLst>
          </a:prstGeom>
          <a:solidFill>
            <a:srgbClr val="FFE8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531519" y="3984129"/>
            <a:ext cx="259419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3D1F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合计月增收 ¥17,000 ÷ 首年总投入 ¥6,956 = 年ROI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227243" y="3957489"/>
            <a:ext cx="39757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C440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293%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293394" y="4427934"/>
            <a:ext cx="44691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i="1" dirty="0">
                <a:solidFill>
                  <a:srgbClr val="9A7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第二年仅年费¥4,888，ROI超400%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16ddd6d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1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73796" y="1550789"/>
            <a:ext cx="571500" cy="28575"/>
          </a:xfrm>
          <a:prstGeom prst="roundRect">
            <a:avLst>
              <a:gd name="adj" fmla="val 66667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2966212" y="1374577"/>
            <a:ext cx="321142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FFFA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测试c × 美团收银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298555" y="1550789"/>
            <a:ext cx="571500" cy="28575"/>
          </a:xfrm>
          <a:prstGeom prst="roundRect">
            <a:avLst>
              <a:gd name="adj" fmla="val 66667"/>
            </a:avLst>
          </a:prstGeom>
          <a:solidFill>
            <a:srgbClr val="E876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511799" y="1946077"/>
            <a:ext cx="212010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点心小吃 · 数字化运营全案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2423368" y="2426047"/>
            <a:ext cx="742950" cy="851446"/>
          </a:xfrm>
          <a:prstGeom prst="roundRect">
            <a:avLst>
              <a:gd name="adj" fmla="val 102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581102" y="2549872"/>
            <a:ext cx="4274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581102" y="2854672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快速启动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2581102" y="3020318"/>
            <a:ext cx="427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3天上线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280618" y="2426047"/>
            <a:ext cx="742950" cy="851446"/>
          </a:xfrm>
          <a:prstGeom prst="roundRect">
            <a:avLst>
              <a:gd name="adj" fmla="val 102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3438352" y="2549872"/>
            <a:ext cx="4274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438352" y="2854672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锁客留客</a:t>
            </a:r>
            <a:endParaRPr lang="en-US" sz="825" dirty="0"/>
          </a:p>
        </p:txBody>
      </p:sp>
      <p:sp>
        <p:nvSpPr>
          <p:cNvPr id="14" name="Text 11"/>
          <p:cNvSpPr/>
          <p:nvPr/>
        </p:nvSpPr>
        <p:spPr>
          <a:xfrm>
            <a:off x="3438352" y="3020318"/>
            <a:ext cx="427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会员储值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4137868" y="2426047"/>
            <a:ext cx="742950" cy="851446"/>
          </a:xfrm>
          <a:prstGeom prst="roundRect">
            <a:avLst>
              <a:gd name="adj" fmla="val 1025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4295602" y="2549872"/>
            <a:ext cx="4274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95602" y="2854672"/>
            <a:ext cx="42748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评分提升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4295602" y="3020318"/>
            <a:ext cx="42748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目标4.8★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4995118" y="2426047"/>
            <a:ext cx="800100" cy="851446"/>
          </a:xfrm>
          <a:prstGeom prst="roundRect">
            <a:avLst>
              <a:gd name="adj" fmla="val 952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152281" y="2549872"/>
            <a:ext cx="485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152281" y="2854672"/>
            <a:ext cx="48577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数据驱动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5152281" y="3020318"/>
            <a:ext cx="4857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手机看报表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909518" y="2426047"/>
            <a:ext cx="810816" cy="851446"/>
          </a:xfrm>
          <a:prstGeom prst="roundRect">
            <a:avLst>
              <a:gd name="adj" fmla="val 9398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E8761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066574" y="2549872"/>
            <a:ext cx="4967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D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6066574" y="2854672"/>
            <a:ext cx="496705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b="1" dirty="0">
                <a:solidFill>
                  <a:srgbClr val="F4A2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快速回本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6066574" y="3020318"/>
            <a:ext cx="49670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Bef>
                <a:spcPts val="150"/>
              </a:spcBef>
              <a:buNone/>
            </a:pPr>
            <a:r>
              <a:rPr lang="en-US" sz="750" dirty="0">
                <a:solidFill>
                  <a:srgbClr val="B08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约12天回本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347698" y="3582293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spcBef>
                <a:spcPts val="900"/>
              </a:spcBef>
              <a:buNone/>
            </a:pPr>
            <a:r>
              <a:rPr lang="en-US" sz="1050" i="1" dirty="0">
                <a:solidFill>
                  <a:srgbClr val="7A5C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让每一口点心，都成为一个回头客的起点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823210" y="4762500"/>
            <a:ext cx="34975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5A3C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美团餐饮SaaS运营策划团队 · 2026年5月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测试c 点心小吃 数字化运营方案</dc:title>
  <dc:subject>PptxGenJS Presentation</dc:subject>
  <dc:creator>美团餐饮SaaS运营策划团队</dc:creator>
  <cp:lastModifiedBy>美团餐饮SaaS运营策划团队</cp:lastModifiedBy>
  <cp:revision>1</cp:revision>
  <dcterms:created xsi:type="dcterms:W3CDTF">2026-05-30T09:21:15Z</dcterms:created>
  <dcterms:modified xsi:type="dcterms:W3CDTF">2026-05-30T09:21:15Z</dcterms:modified>
</cp:coreProperties>
</file>